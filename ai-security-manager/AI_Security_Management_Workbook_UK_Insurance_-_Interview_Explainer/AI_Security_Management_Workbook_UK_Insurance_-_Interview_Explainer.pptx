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rot="2700000">
            <a:off x="14097305" y="1904695"/>
            <a:ext cx="3429000" cy="3429000"/>
          </a:xfrm>
          <a:prstGeom prst="rect">
            <a:avLst/>
          </a:prstGeom>
          <a:noFill/>
          <a:ln w="12700">
            <a:solidFill>
              <a:srgbClr val="14A098"/>
            </a:solidFill>
            <a:prstDash val="solid"/>
          </a:ln>
        </p:spPr>
      </p:sp>
      <p:sp>
        <p:nvSpPr>
          <p:cNvPr id="3" name="Shape 1"/>
          <p:cNvSpPr/>
          <p:nvPr/>
        </p:nvSpPr>
        <p:spPr>
          <a:xfrm rot="2700000">
            <a:off x="14287500" y="2667305"/>
            <a:ext cx="2476195" cy="2476195"/>
          </a:xfrm>
          <a:prstGeom prst="rect">
            <a:avLst/>
          </a:prstGeom>
          <a:noFill/>
          <a:ln w="12700">
            <a:solidFill>
              <a:srgbClr val="14A098"/>
            </a:solidFill>
            <a:prstDash val="solid"/>
          </a:ln>
        </p:spPr>
      </p:sp>
      <p:pic>
        <p:nvPicPr>
          <p:cNvPr id="4" name="Image 0" descr="gen-dedup-e56ab09213332e1aef1695c628c67ea9.png">    </p:cNvPr>
          <p:cNvPicPr>
            <a:picLocks noChangeAspect="1"/>
          </p:cNvPicPr>
          <p:nvPr/>
        </p:nvPicPr>
        <p:blipFill>
          <a:blip r:embed="rId1"/>
          <a:srcRect l="0" r="0" t="-420" b="-420"/>
          <a:stretch/>
        </p:blipFill>
        <p:spPr>
          <a:xfrm>
            <a:off x="761695" y="1981505"/>
            <a:ext cx="761695" cy="38405"/>
          </a:xfrm>
          <a:prstGeom prst="rect">
            <a:avLst/>
          </a:prstGeom>
        </p:spPr>
      </p:pic>
      <p:sp>
        <p:nvSpPr>
          <p:cNvPr id="5" name="Text 2"/>
          <p:cNvSpPr txBox="1"/>
          <p:nvPr/>
        </p:nvSpPr>
        <p:spPr>
          <a:xfrm>
            <a:off x="761695" y="2095805"/>
            <a:ext cx="4459529" cy="181051"/>
          </a:xfrm>
          <a:prstGeom prst="rect">
            <a:avLst/>
          </a:prstGeom>
          <a:noFill/>
          <a:ln/>
        </p:spPr>
        <p:txBody>
          <a:bodyPr wrap="none" lIns="0" tIns="0" rIns="0" bIns="0" rtlCol="0" anchor="ctr"/>
          <a:lstStyle/>
          <a:p>
            <a:pPr algn="l" indent="0" marL="0">
              <a:buNone/>
            </a:pPr>
            <a:r>
              <a:rPr lang="en-US" sz="1050" b="1" spc="336" kern="0" dirty="0">
                <a:solidFill>
                  <a:srgbClr val="14A098"/>
                </a:solidFill>
                <a:latin typeface="Inter" pitchFamily="34" charset="0"/>
                <a:ea typeface="Inter" pitchFamily="34" charset="-122"/>
                <a:cs typeface="Inter" pitchFamily="34" charset="-120"/>
              </a:rPr>
              <a:t>Interview Explainer and Speaker Aid</a:t>
            </a:r>
            <a:endParaRPr lang="en-US" sz="1050" dirty="0"/>
          </a:p>
        </p:txBody>
      </p:sp>
      <p:sp>
        <p:nvSpPr>
          <p:cNvPr id="6" name="Text 3"/>
          <p:cNvSpPr txBox="1"/>
          <p:nvPr/>
        </p:nvSpPr>
        <p:spPr>
          <a:xfrm>
            <a:off x="761695" y="2476195"/>
            <a:ext cx="14287500" cy="1591056"/>
          </a:xfrm>
          <a:prstGeom prst="rect">
            <a:avLst/>
          </a:prstGeom>
          <a:noFill/>
          <a:ln/>
        </p:spPr>
        <p:txBody>
          <a:bodyPr wrap="square" lIns="0" tIns="0" rIns="0" bIns="0" rtlCol="0" anchor="t"/>
          <a:lstStyle/>
          <a:p>
            <a:pPr algn="l" indent="0" marL="0">
              <a:lnSpc>
                <a:spcPct val="104000"/>
              </a:lnSpc>
              <a:buNone/>
            </a:pPr>
            <a:r>
              <a:rPr lang="en-US" sz="6000" b="1" spc="-120" kern="0" dirty="0">
                <a:solidFill>
                  <a:srgbClr val="14A098"/>
                </a:solidFill>
                <a:latin typeface="Inter" pitchFamily="34" charset="0"/>
                <a:ea typeface="Inter" pitchFamily="34" charset="-122"/>
                <a:cs typeface="Inter" pitchFamily="34" charset="-120"/>
              </a:rPr>
              <a:t>AI Security Management</a:t>
            </a:r>
            <a:pPr algn="l" indent="0" marL="0">
              <a:lnSpc>
                <a:spcPct val="104000"/>
              </a:lnSpc>
              <a:buNone/>
            </a:pPr>
            <a:endParaRPr lang="en-US" sz="6000" dirty="0"/>
          </a:p>
          <a:p>
            <a:pPr algn="l" indent="0" marL="0">
              <a:lnSpc>
                <a:spcPct val="104000"/>
              </a:lnSpc>
              <a:buNone/>
            </a:pPr>
            <a:r>
              <a:rPr lang="en-US" sz="6000" b="1" spc="-120" kern="0" dirty="0">
                <a:solidFill>
                  <a:srgbClr val="FFFFFF"/>
                </a:solidFill>
                <a:latin typeface="Inter" pitchFamily="34" charset="0"/>
                <a:ea typeface="Inter" pitchFamily="34" charset="-122"/>
                <a:cs typeface="Inter" pitchFamily="34" charset="-120"/>
              </a:rPr>
              <a:t>Workbook - UK Insurer</a:t>
            </a:r>
            <a:endParaRPr lang="en-US" sz="6000" dirty="0"/>
          </a:p>
        </p:txBody>
      </p:sp>
      <p:sp>
        <p:nvSpPr>
          <p:cNvPr id="7" name="Text 4"/>
          <p:cNvSpPr txBox="1"/>
          <p:nvPr/>
        </p:nvSpPr>
        <p:spPr>
          <a:xfrm>
            <a:off x="761695" y="5333695"/>
            <a:ext cx="14287500" cy="667512"/>
          </a:xfrm>
          <a:prstGeom prst="rect">
            <a:avLst/>
          </a:prstGeom>
          <a:noFill/>
          <a:ln/>
        </p:spPr>
        <p:txBody>
          <a:bodyPr wrap="square" lIns="0" tIns="0" rIns="0" bIns="0" rtlCol="0" anchor="ctr"/>
          <a:lstStyle/>
          <a:p>
            <a:pPr algn="l" indent="0" marL="0">
              <a:lnSpc>
                <a:spcPts val="2610"/>
              </a:lnSpc>
              <a:buNone/>
            </a:pPr>
            <a:r>
              <a:rPr lang="en-US" sz="1800" dirty="0">
                <a:solidFill>
                  <a:srgbClr val="B8E0DE"/>
                </a:solidFill>
                <a:latin typeface="Inter" pitchFamily="34" charset="0"/>
                <a:ea typeface="Inter" pitchFamily="34" charset="-122"/>
                <a:cs typeface="Inter" pitchFamily="34" charset="-120"/>
              </a:rPr>
              <a:t>A 57-sheet portfolio explained one worksheet at a time. Built as the candidate's seat-side companion for a regulated UK insurer interview, with strategic thinking, governance maturity, delivery discipline, and commercial credibility on every slide.</a:t>
            </a:r>
            <a:endParaRPr lang="en-US" sz="1800" dirty="0"/>
          </a:p>
        </p:txBody>
      </p:sp>
      <p:sp>
        <p:nvSpPr>
          <p:cNvPr id="8" name="Text 5"/>
          <p:cNvSpPr txBox="1"/>
          <p:nvPr/>
        </p:nvSpPr>
        <p:spPr>
          <a:xfrm>
            <a:off x="1000354" y="8553298"/>
            <a:ext cx="11935663"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Role:</a:t>
            </a:r>
            <a:pPr algn="l" indent="0" marL="0">
              <a:buNone/>
            </a:pPr>
            <a:r>
              <a:rPr lang="en-US" sz="1050" dirty="0">
                <a:solidFill>
                  <a:srgbClr val="FFFFFF"/>
                </a:solidFill>
                <a:latin typeface="Inter" pitchFamily="34" charset="0"/>
                <a:ea typeface="Inter" pitchFamily="34" charset="-122"/>
                <a:cs typeface="Inter" pitchFamily="34" charset="-120"/>
              </a:rPr>
              <a:t> AI Security Manager - UK Insurer</a:t>
            </a:r>
            <a:endParaRPr lang="en-US" sz="1050" dirty="0"/>
          </a:p>
        </p:txBody>
      </p:sp>
      <p:sp>
        <p:nvSpPr>
          <p:cNvPr id="9" name="Text 6"/>
          <p:cNvSpPr txBox="1"/>
          <p:nvPr/>
        </p:nvSpPr>
        <p:spPr>
          <a:xfrm>
            <a:off x="1000354" y="8767267"/>
            <a:ext cx="11935663"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Audience:</a:t>
            </a:r>
            <a:pPr algn="l" indent="0" marL="0">
              <a:buNone/>
            </a:pPr>
            <a:r>
              <a:rPr lang="en-US" sz="1050" dirty="0">
                <a:solidFill>
                  <a:srgbClr val="FFFFFF"/>
                </a:solidFill>
                <a:latin typeface="Inter" pitchFamily="34" charset="0"/>
                <a:ea typeface="Inter" pitchFamily="34" charset="-122"/>
                <a:cs typeface="Inter" pitchFamily="34" charset="-120"/>
              </a:rPr>
              <a:t> Candidate and interview panel</a:t>
            </a:r>
            <a:endParaRPr lang="en-US" sz="1050" dirty="0"/>
          </a:p>
        </p:txBody>
      </p:sp>
      <p:sp>
        <p:nvSpPr>
          <p:cNvPr id="10" name="Text 7"/>
          <p:cNvSpPr txBox="1"/>
          <p:nvPr/>
        </p:nvSpPr>
        <p:spPr>
          <a:xfrm>
            <a:off x="1000354" y="8980322"/>
            <a:ext cx="11935663"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Sources of truth:</a:t>
            </a:r>
            <a:pPr algn="l" indent="0" marL="0">
              <a:buNone/>
            </a:pPr>
            <a:r>
              <a:rPr lang="en-US" sz="1050" dirty="0">
                <a:solidFill>
                  <a:srgbClr val="FFFFFF"/>
                </a:solidFill>
                <a:latin typeface="Inter" pitchFamily="34" charset="0"/>
                <a:ea typeface="Inter" pitchFamily="34" charset="-122"/>
                <a:cs typeface="Inter" pitchFamily="34" charset="-120"/>
              </a:rPr>
              <a:t> Populated portfolio workbook + Reduced reusable template workbook + Extracted workbook summary</a:t>
            </a:r>
            <a:endParaRPr lang="en-US" sz="1050" dirty="0"/>
          </a:p>
        </p:txBody>
      </p:sp>
      <p:sp>
        <p:nvSpPr>
          <p:cNvPr id="11" name="Text 8"/>
          <p:cNvSpPr txBox="1"/>
          <p:nvPr/>
        </p:nvSpPr>
        <p:spPr>
          <a:xfrm>
            <a:off x="1000354" y="9193378"/>
            <a:ext cx="11935663"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Scope:</a:t>
            </a:r>
            <a:pPr algn="l" indent="0" marL="0">
              <a:buNone/>
            </a:pPr>
            <a:r>
              <a:rPr lang="en-US" sz="1050" dirty="0">
                <a:solidFill>
                  <a:srgbClr val="FFFFFF"/>
                </a:solidFill>
                <a:latin typeface="Inter" pitchFamily="34" charset="0"/>
                <a:ea typeface="Inter" pitchFamily="34" charset="-122"/>
                <a:cs typeface="Inter" pitchFamily="34" charset="-120"/>
              </a:rPr>
              <a:t> 1 title, 1 architecture, 1 framing, 57 worksheet explainers in workbook order, 1 closing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009315" y="1047902"/>
            <a:ext cx="1752905"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02 / 61</a:t>
            </a:r>
            <a:pPr algn="l" indent="0" marL="0">
              <a:buNone/>
            </a:pPr>
            <a:r>
              <a:rPr lang="en-US" sz="825" b="1" spc="149" kern="0" dirty="0">
                <a:solidFill>
                  <a:srgbClr val="5B6B82"/>
                </a:solidFill>
                <a:latin typeface="Inter" pitchFamily="34" charset="0"/>
                <a:ea typeface="Inter" pitchFamily="34" charset="-122"/>
                <a:cs typeface="Inter" pitchFamily="34" charset="-120"/>
              </a:rPr>
              <a:t> Architecture</a:t>
            </a:r>
            <a:endParaRPr lang="en-US" sz="825" dirty="0"/>
          </a:p>
        </p:txBody>
      </p:sp>
      <p:sp>
        <p:nvSpPr>
          <p:cNvPr id="8" name="Shape 2"/>
          <p:cNvSpPr/>
          <p:nvPr/>
        </p:nvSpPr>
        <p:spPr>
          <a:xfrm>
            <a:off x="533095" y="1524305"/>
            <a:ext cx="5905195" cy="2667305"/>
          </a:xfrm>
          <a:prstGeom prst="rect">
            <a:avLst/>
          </a:prstGeom>
          <a:solidFill>
            <a:srgbClr val="FFFFFF"/>
          </a:solidFill>
          <a:ln w="12700">
            <a:solidFill>
              <a:srgbClr val="D5DDE6"/>
            </a:solidFill>
            <a:prstDash val="solid"/>
          </a:ln>
        </p:spPr>
      </p:sp>
      <p:sp>
        <p:nvSpPr>
          <p:cNvPr id="9" name="Text 3"/>
          <p:cNvSpPr txBox="1"/>
          <p:nvPr/>
        </p:nvSpPr>
        <p:spPr>
          <a:xfrm>
            <a:off x="543154" y="15334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Reduced Template Workbook - Reusable Skeleton</a:t>
            </a:r>
            <a:endParaRPr lang="en-US" sz="975" dirty="0"/>
          </a:p>
        </p:txBody>
      </p:sp>
      <p:sp>
        <p:nvSpPr>
          <p:cNvPr id="10" name="Text 4"/>
          <p:cNvSpPr txBox="1"/>
          <p:nvPr/>
        </p:nvSpPr>
        <p:spPr>
          <a:xfrm>
            <a:off x="733349" y="2076602"/>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17 form tabs</a:t>
            </a:r>
            <a:pPr algn="l" indent="0" marL="0">
              <a:buNone/>
            </a:pPr>
            <a:r>
              <a:rPr lang="en-US" sz="1050" dirty="0">
                <a:solidFill>
                  <a:srgbClr val="2A3A55"/>
                </a:solidFill>
                <a:latin typeface="Inter" pitchFamily="34" charset="0"/>
                <a:ea typeface="Inter" pitchFamily="34" charset="-122"/>
                <a:cs typeface="Inter" pitchFamily="34" charset="-120"/>
              </a:rPr>
              <a:t> - the minimum set needed to instantiate a new AI Security portfolio.</a:t>
            </a:r>
            <a:endParaRPr lang="en-US" sz="1050" dirty="0"/>
          </a:p>
        </p:txBody>
      </p:sp>
      <p:sp>
        <p:nvSpPr>
          <p:cNvPr id="11" name="Text 5"/>
          <p:cNvSpPr txBox="1"/>
          <p:nvPr/>
        </p:nvSpPr>
        <p:spPr>
          <a:xfrm>
            <a:off x="733349" y="2359152"/>
            <a:ext cx="5505602" cy="10387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FORM - Index, Reference Data, ID Glossary, FORM - AI Use Case Register, FORM - Governance Framework, FORM - RACI Matrix, FORM - Risk Quantification, FORM - Compliance Mapping, FORM - Third-Party Risk, FORM - Incident Analysis, FORM - KPI Tracking, FORM - KRI Tracking, FORM - Service Catalog, FORM - SLA-SLO Definitions, FORM - Implementation Roadmap, FORM - Business Continuity, FORM - Mgmt Review and Audit.</a:t>
            </a:r>
            <a:endParaRPr lang="en-US" sz="1050" dirty="0"/>
          </a:p>
        </p:txBody>
      </p:sp>
      <p:sp>
        <p:nvSpPr>
          <p:cNvPr id="12" name="Text 6"/>
          <p:cNvSpPr txBox="1"/>
          <p:nvPr/>
        </p:nvSpPr>
        <p:spPr>
          <a:xfrm>
            <a:off x="733349" y="3469234"/>
            <a:ext cx="6057900" cy="200254"/>
          </a:xfrm>
          <a:prstGeom prst="rect">
            <a:avLst/>
          </a:prstGeom>
          <a:noFill/>
          <a:ln/>
        </p:spPr>
        <p:txBody>
          <a:bodyPr wrap="none" lIns="0" tIns="0" rIns="0" bIns="0" rtlCol="0" anchor="ctr"/>
          <a:lstStyle/>
          <a:p>
            <a:pPr algn="l" indent="0" marL="0">
              <a:buNone/>
            </a:pPr>
            <a:r>
              <a:rPr lang="en-US" sz="975" dirty="0">
                <a:solidFill>
                  <a:srgbClr val="5B6B82"/>
                </a:solidFill>
                <a:latin typeface="Inter" pitchFamily="34" charset="0"/>
                <a:ea typeface="Inter" pitchFamily="34" charset="-122"/>
                <a:cs typeface="Inter" pitchFamily="34" charset="-120"/>
              </a:rPr>
              <a:t>No narrative, no rollups, no derived dashboards - form-first and audit-friendly.</a:t>
            </a:r>
            <a:endParaRPr lang="en-US" sz="975" dirty="0"/>
          </a:p>
        </p:txBody>
      </p:sp>
      <p:sp>
        <p:nvSpPr>
          <p:cNvPr id="13" name="Text 7"/>
          <p:cNvSpPr txBox="1"/>
          <p:nvPr/>
        </p:nvSpPr>
        <p:spPr>
          <a:xfrm>
            <a:off x="733349" y="3737153"/>
            <a:ext cx="6191402" cy="200254"/>
          </a:xfrm>
          <a:prstGeom prst="rect">
            <a:avLst/>
          </a:prstGeom>
          <a:noFill/>
          <a:ln/>
        </p:spPr>
        <p:txBody>
          <a:bodyPr wrap="none" lIns="0" tIns="0" rIns="0" bIns="0" rtlCol="0" anchor="ctr"/>
          <a:lstStyle/>
          <a:p>
            <a:pPr algn="l" indent="0" marL="0">
              <a:buNone/>
            </a:pPr>
            <a:r>
              <a:rPr lang="en-US" sz="975" dirty="0">
                <a:solidFill>
                  <a:srgbClr val="5B6B82"/>
                </a:solidFill>
                <a:latin typeface="Inter" pitchFamily="34" charset="0"/>
                <a:ea typeface="Inter" pitchFamily="34" charset="-122"/>
                <a:cs typeface="Inter" pitchFamily="34" charset="-120"/>
              </a:rPr>
              <a:t>Purpose: speed to a defensible baseline for a new firm, business unit, or regulated subsidiary.</a:t>
            </a:r>
            <a:endParaRPr lang="en-US" sz="975" dirty="0"/>
          </a:p>
        </p:txBody>
      </p:sp>
      <p:sp>
        <p:nvSpPr>
          <p:cNvPr id="14" name="Shape 8"/>
          <p:cNvSpPr/>
          <p:nvPr/>
        </p:nvSpPr>
        <p:spPr>
          <a:xfrm>
            <a:off x="533095" y="4381805"/>
            <a:ext cx="5905195" cy="2667305"/>
          </a:xfrm>
          <a:prstGeom prst="rect">
            <a:avLst/>
          </a:prstGeom>
          <a:solidFill>
            <a:srgbClr val="FFFFFF"/>
          </a:solidFill>
          <a:ln w="12700">
            <a:solidFill>
              <a:srgbClr val="D5DDE6"/>
            </a:solidFill>
            <a:prstDash val="solid"/>
          </a:ln>
        </p:spPr>
      </p:sp>
      <p:sp>
        <p:nvSpPr>
          <p:cNvPr id="15" name="Text 9"/>
          <p:cNvSpPr txBox="1"/>
          <p:nvPr/>
        </p:nvSpPr>
        <p:spPr>
          <a:xfrm>
            <a:off x="543154" y="4390949"/>
            <a:ext cx="5886907" cy="391363"/>
          </a:xfrm>
          <a:prstGeom prst="rect">
            <a:avLst/>
          </a:prstGeom>
          <a:solidFill>
            <a:srgbClr val="0E7C7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Populated Workbook - Portfolio Instance</a:t>
            </a:r>
            <a:endParaRPr lang="en-US" sz="975" dirty="0"/>
          </a:p>
        </p:txBody>
      </p:sp>
      <p:sp>
        <p:nvSpPr>
          <p:cNvPr id="16" name="Text 10"/>
          <p:cNvSpPr txBox="1"/>
          <p:nvPr/>
        </p:nvSpPr>
        <p:spPr>
          <a:xfrm>
            <a:off x="733349" y="4934102"/>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57 sheets in fixed workbook order</a:t>
            </a:r>
            <a:pPr algn="l" indent="0" marL="0">
              <a:buNone/>
            </a:pPr>
            <a:r>
              <a:rPr lang="en-US" sz="1050" dirty="0">
                <a:solidFill>
                  <a:srgbClr val="2A3A55"/>
                </a:solidFill>
                <a:latin typeface="Inter" pitchFamily="34" charset="0"/>
                <a:ea typeface="Inter" pitchFamily="34" charset="-122"/>
                <a:cs typeface="Inter" pitchFamily="34" charset="-120"/>
              </a:rPr>
              <a:t> - the live instance for a mid-sized UK insurer.</a:t>
            </a:r>
            <a:endParaRPr lang="en-US" sz="1050" dirty="0"/>
          </a:p>
        </p:txBody>
      </p:sp>
      <p:sp>
        <p:nvSpPr>
          <p:cNvPr id="17" name="Text 11"/>
          <p:cNvSpPr txBox="1"/>
          <p:nvPr/>
        </p:nvSpPr>
        <p:spPr>
          <a:xfrm>
            <a:off x="733349" y="5216652"/>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Sheets 1 to 32 are populated analytical sheets. Sheets 33 to 57 are the FORM templates preserved verbatim for traceability.</a:t>
            </a:r>
            <a:endParaRPr lang="en-US" sz="1050" dirty="0"/>
          </a:p>
        </p:txBody>
      </p:sp>
      <p:sp>
        <p:nvSpPr>
          <p:cNvPr id="18" name="Text 12"/>
          <p:cNvSpPr txBox="1"/>
          <p:nvPr/>
        </p:nvSpPr>
        <p:spPr>
          <a:xfrm>
            <a:off x="733349" y="5706770"/>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Includes derived board views, executive dashboards, navigation hubs, TOM narrative and metrics calculation guide that the reduced template does not carry.</a:t>
            </a:r>
            <a:endParaRPr lang="en-US" sz="1050" dirty="0"/>
          </a:p>
        </p:txBody>
      </p:sp>
      <p:sp>
        <p:nvSpPr>
          <p:cNvPr id="19" name="Text 13"/>
          <p:cNvSpPr txBox="1"/>
          <p:nvPr/>
        </p:nvSpPr>
        <p:spPr>
          <a:xfrm>
            <a:off x="733349" y="6195974"/>
            <a:ext cx="6191402" cy="200254"/>
          </a:xfrm>
          <a:prstGeom prst="rect">
            <a:avLst/>
          </a:prstGeom>
          <a:noFill/>
          <a:ln/>
        </p:spPr>
        <p:txBody>
          <a:bodyPr wrap="none" lIns="0" tIns="0" rIns="0" bIns="0" rtlCol="0" anchor="ctr"/>
          <a:lstStyle/>
          <a:p>
            <a:pPr algn="l" indent="0" marL="0">
              <a:buNone/>
            </a:pPr>
            <a:r>
              <a:rPr lang="en-US" sz="975" dirty="0">
                <a:solidFill>
                  <a:srgbClr val="5B6B82"/>
                </a:solidFill>
                <a:latin typeface="Inter" pitchFamily="34" charset="0"/>
                <a:ea typeface="Inter" pitchFamily="34" charset="-122"/>
                <a:cs typeface="Inter" pitchFamily="34" charset="-120"/>
              </a:rPr>
              <a:t>Purpose: defend decisions in front of board, audit, FCA supervision and procurement due diligence.</a:t>
            </a:r>
            <a:endParaRPr lang="en-US" sz="975" dirty="0"/>
          </a:p>
        </p:txBody>
      </p:sp>
      <p:sp>
        <p:nvSpPr>
          <p:cNvPr id="20" name="Shape 14"/>
          <p:cNvSpPr/>
          <p:nvPr/>
        </p:nvSpPr>
        <p:spPr>
          <a:xfrm>
            <a:off x="6819595" y="1524305"/>
            <a:ext cx="5905195" cy="5524805"/>
          </a:xfrm>
          <a:prstGeom prst="rect">
            <a:avLst/>
          </a:prstGeom>
          <a:solidFill>
            <a:srgbClr val="FFFFFF"/>
          </a:solidFill>
          <a:ln w="12700">
            <a:solidFill>
              <a:srgbClr val="D5DDE6"/>
            </a:solidFill>
            <a:prstDash val="solid"/>
          </a:ln>
        </p:spPr>
      </p:sp>
      <p:sp>
        <p:nvSpPr>
          <p:cNvPr id="21" name="Text 15"/>
          <p:cNvSpPr txBox="1"/>
          <p:nvPr/>
        </p:nvSpPr>
        <p:spPr>
          <a:xfrm>
            <a:off x="6829654" y="15334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Synchronisation Logic - How the two stay in step</a:t>
            </a:r>
            <a:endParaRPr lang="en-US" sz="975" dirty="0"/>
          </a:p>
        </p:txBody>
      </p:sp>
      <p:sp>
        <p:nvSpPr>
          <p:cNvPr id="22" name="Text 16"/>
          <p:cNvSpPr txBox="1"/>
          <p:nvPr/>
        </p:nvSpPr>
        <p:spPr>
          <a:xfrm>
            <a:off x="7019849" y="2076602"/>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1. ID prefixes are the join key.</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AUC use cases, RSK risks, CTL controls, SVC services, VEN vendors, KRI indicators, KPI drivers, INC incidents, RDM roadmap items and ACT activities all reference each other through stable IDs.</a:t>
            </a:r>
            <a:endParaRPr lang="en-US" sz="1050" dirty="0"/>
          </a:p>
        </p:txBody>
      </p:sp>
      <p:sp>
        <p:nvSpPr>
          <p:cNvPr id="23" name="Text 17"/>
          <p:cNvSpPr txBox="1"/>
          <p:nvPr/>
        </p:nvSpPr>
        <p:spPr>
          <a:xfrm>
            <a:off x="7019849" y="2772461"/>
            <a:ext cx="5505602" cy="829361"/>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2. Header schemas are identical on FORM-populated pairs.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Use case register, risk, KRI, KPI, incident, third-party, compliance, service catalog, SLA, request log, governance, RACI, maturity, roadmap, resource, financial, cloud, IAM, tech stack, automation, BCP, metrics guide, reference data.</a:t>
            </a:r>
            <a:endParaRPr lang="en-US" sz="1050" dirty="0"/>
          </a:p>
        </p:txBody>
      </p:sp>
      <p:sp>
        <p:nvSpPr>
          <p:cNvPr id="24" name="Text 18"/>
          <p:cNvSpPr txBox="1"/>
          <p:nvPr/>
        </p:nvSpPr>
        <p:spPr>
          <a:xfrm>
            <a:off x="7019849" y="367588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3. Reference Data governs dropdowns across both workbooks.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Status, RAG, Priority, Severity, Criticality Tier, Approval Status, Assurance Status, Hosting Model, Environment, Data Classification, Personal Data Flag, Risk Treatment, Maturity Level, Trend Direction.</a:t>
            </a:r>
            <a:endParaRPr lang="en-US" sz="1050" dirty="0"/>
          </a:p>
        </p:txBody>
      </p:sp>
      <p:sp>
        <p:nvSpPr>
          <p:cNvPr id="25" name="Text 19"/>
          <p:cNvSpPr txBox="1"/>
          <p:nvPr/>
        </p:nvSpPr>
        <p:spPr>
          <a:xfrm>
            <a:off x="7019849" y="4372661"/>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4. ID Glossary is the integrity layer.</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Live register of every ID prefix with hyperlinks, counts and owning sheet.</a:t>
            </a:r>
            <a:endParaRPr lang="en-US" sz="1050" dirty="0"/>
          </a:p>
        </p:txBody>
      </p:sp>
      <p:sp>
        <p:nvSpPr>
          <p:cNvPr id="26" name="Text 20"/>
          <p:cNvSpPr txBox="1"/>
          <p:nvPr/>
        </p:nvSpPr>
        <p:spPr>
          <a:xfrm>
            <a:off x="7019849" y="4861865"/>
            <a:ext cx="5505602" cy="1038758"/>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5. Derived sheets are authored, not mapped 1:1.</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Board Dashboard, Board Pack Notes, Board KPI-KRI Tracker, Management Review Tracker, Dashboard, Executive Report, TOM and Strategy, TOM Index, Service Request Log, Cloud Security Services, IAM Services, Maturity Assessment, Metrics Calculation Guide, Technology Stack, Automation Hub, Resource Planning, Financial Analysis, Business Continuity, Reference Data, ID Glossary.</a:t>
            </a:r>
            <a:endParaRPr lang="en-US" sz="1050" dirty="0"/>
          </a:p>
        </p:txBody>
      </p:sp>
      <p:sp>
        <p:nvSpPr>
          <p:cNvPr id="27" name="Text 21"/>
          <p:cNvSpPr txBox="1"/>
          <p:nvPr/>
        </p:nvSpPr>
        <p:spPr>
          <a:xfrm>
            <a:off x="7019849" y="5971946"/>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6. Refresh cadence is anchored to governance.</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Quarterly dashboard and board pack, monthly KPI-KRI, half-yearly maturity, annual TOM and roadmap, management review each cycle.</a:t>
            </a:r>
            <a:endParaRPr lang="en-US" sz="1050" dirty="0"/>
          </a:p>
        </p:txBody>
      </p:sp>
      <p:sp>
        <p:nvSpPr>
          <p:cNvPr id="28" name="Shape 22"/>
          <p:cNvSpPr/>
          <p:nvPr/>
        </p:nvSpPr>
        <p:spPr>
          <a:xfrm>
            <a:off x="533095" y="9334195"/>
            <a:ext cx="12763195" cy="857707"/>
          </a:xfrm>
          <a:prstGeom prst="rect">
            <a:avLst/>
          </a:prstGeom>
          <a:solidFill>
            <a:srgbClr val="F4F6FA"/>
          </a:solidFill>
          <a:ln/>
        </p:spPr>
      </p:sp>
      <p:sp>
        <p:nvSpPr>
          <p:cNvPr id="29" name="Shape 23"/>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30" name="Text 24"/>
          <p:cNvSpPr txBox="1"/>
          <p:nvPr/>
        </p:nvSpPr>
        <p:spPr>
          <a:xfrm>
            <a:off x="743407" y="9334195"/>
            <a:ext cx="125537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reduced template is the reusable skeleton; the populated workbook is the live instance for one UK insurer. They share the same ID prefixes, header schemas and reference data. The derived views - like Board Dashboard, Executive Report, TOM, Dashboard and Maturity - are authored narrative, not 1:1 form copies. That's deliberate: the form holds data, the derived sheets hold the story."</a:t>
            </a:r>
            <a:endParaRPr lang="en-US" sz="1013" dirty="0"/>
          </a:p>
        </p:txBody>
      </p:sp>
      <p:sp>
        <p:nvSpPr>
          <p:cNvPr id="31" name="Text 25"/>
          <p:cNvSpPr txBox="1"/>
          <p:nvPr/>
        </p:nvSpPr>
        <p:spPr>
          <a:xfrm>
            <a:off x="533095" y="171907"/>
            <a:ext cx="335401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How the two workbooks fit together</a:t>
            </a:r>
            <a:endParaRPr lang="en-US" sz="900" dirty="0"/>
          </a:p>
        </p:txBody>
      </p:sp>
      <p:sp>
        <p:nvSpPr>
          <p:cNvPr id="32" name="Text 26"/>
          <p:cNvSpPr txBox="1"/>
          <p:nvPr/>
        </p:nvSpPr>
        <p:spPr>
          <a:xfrm>
            <a:off x="533095" y="362102"/>
            <a:ext cx="5753405" cy="333756"/>
          </a:xfrm>
          <a:prstGeom prst="rect">
            <a:avLst/>
          </a:prstGeom>
          <a:noFill/>
          <a:ln/>
        </p:spPr>
        <p:txBody>
          <a:bodyPr wrap="none" lIns="0" tIns="0" rIns="0" bIns="0" rtlCol="0" anchor="ctr"/>
          <a:lstStyle/>
          <a:p>
            <a:pPr algn="l" indent="0" marL="0">
              <a:buNone/>
            </a:pPr>
            <a:r>
              <a:rPr lang="en-US" sz="1950" b="1" spc="-19" kern="0" dirty="0">
                <a:solidFill>
                  <a:srgbClr val="FFFFFF"/>
                </a:solidFill>
                <a:latin typeface="Inter" pitchFamily="34" charset="0"/>
                <a:ea typeface="Inter" pitchFamily="34" charset="-122"/>
                <a:cs typeface="Inter" pitchFamily="34" charset="-120"/>
              </a:rPr>
              <a:t>Workbook Architecture and Synchronisation</a:t>
            </a:r>
            <a:endParaRPr lang="en-US" sz="1950" dirty="0"/>
          </a:p>
        </p:txBody>
      </p:sp>
      <p:sp>
        <p:nvSpPr>
          <p:cNvPr id="33" name="Text 27"/>
          <p:cNvSpPr txBox="1"/>
          <p:nvPr/>
        </p:nvSpPr>
        <p:spPr>
          <a:xfrm>
            <a:off x="16426282" y="331013"/>
            <a:ext cx="1334110" cy="336499"/>
          </a:xfrm>
          <a:prstGeom prst="rect">
            <a:avLst/>
          </a:prstGeom>
          <a:noFill/>
          <a:ln/>
        </p:spPr>
        <p:txBody>
          <a:bodyPr wrap="square" lIns="0" tIns="0" rIns="0" bIns="0" rtlCol="0" anchor="t"/>
          <a:lstStyle/>
          <a:p>
            <a:pPr algn="r" indent="0" marL="0">
              <a:lnSpc>
                <a:spcPts val="1260"/>
              </a:lnSpc>
              <a:buNone/>
            </a:pPr>
            <a:r>
              <a:rPr lang="en-US" sz="900" b="1" dirty="0">
                <a:solidFill>
                  <a:srgbClr val="FFFFFF"/>
                </a:solidFill>
                <a:latin typeface="Inter" pitchFamily="34" charset="0"/>
                <a:ea typeface="Inter" pitchFamily="34" charset="-122"/>
                <a:cs typeface="Inter" pitchFamily="34" charset="-120"/>
              </a:rPr>
              <a:t>AI Security Management</a:t>
            </a:r>
            <a:pPr algn="r" indent="0" marL="0">
              <a:lnSpc>
                <a:spcPts val="1260"/>
              </a:lnSpc>
              <a:buNone/>
            </a:pPr>
            <a:endParaRPr lang="en-US" sz="900" dirty="0"/>
          </a:p>
          <a:p>
            <a:pPr algn="r" indent="0" marL="0">
              <a:lnSpc>
                <a:spcPts val="1260"/>
              </a:lnSpc>
              <a:buNone/>
            </a:pPr>
            <a:r>
              <a:rPr lang="en-US" sz="900" dirty="0">
                <a:solidFill>
                  <a:srgbClr val="B8E0DE"/>
                </a:solidFill>
                <a:latin typeface="Inter" pitchFamily="34" charset="0"/>
                <a:ea typeface="Inter" pitchFamily="34" charset="-122"/>
                <a:cs typeface="Inter" pitchFamily="34" charset="-120"/>
              </a:rPr>
              <a:t>UK Insurer Interview Deck</a:t>
            </a:r>
            <a:endParaRPr lang="en-US" sz="900" dirty="0"/>
          </a:p>
        </p:txBody>
      </p:sp>
      <p:sp>
        <p:nvSpPr>
          <p:cNvPr id="34" name="Text 28"/>
          <p:cNvSpPr txBox="1"/>
          <p:nvPr/>
        </p:nvSpPr>
        <p:spPr>
          <a:xfrm>
            <a:off x="533095" y="1047902"/>
            <a:ext cx="5020056"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Interview aid</a:t>
            </a:r>
            <a:pPr algn="l" indent="0" marL="0">
              <a:buNone/>
            </a:pPr>
            <a:r>
              <a:rPr lang="en-US" sz="900" dirty="0">
                <a:solidFill>
                  <a:srgbClr val="5B6B82"/>
                </a:solidFill>
                <a:latin typeface="Inter" pitchFamily="34" charset="0"/>
                <a:ea typeface="Inter" pitchFamily="34" charset="-122"/>
                <a:cs typeface="Inter" pitchFamily="34" charset="-120"/>
              </a:rPr>
              <a:t>Architecture and synchronisation logic between the two workbooks</a:t>
            </a:r>
            <a:endParaRPr lang="en-US" sz="900" dirty="0"/>
          </a:p>
        </p:txBody>
      </p:sp>
      <p:sp>
        <p:nvSpPr>
          <p:cNvPr id="35" name="Text 29"/>
          <p:cNvSpPr txBox="1"/>
          <p:nvPr/>
        </p:nvSpPr>
        <p:spPr>
          <a:xfrm>
            <a:off x="533095" y="9915754"/>
            <a:ext cx="1927555"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02 of 61 - Architecture</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70503" y="1047902"/>
            <a:ext cx="1390802"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03 / 61</a:t>
            </a:r>
            <a:pPr algn="l" indent="0" marL="0">
              <a:buNone/>
            </a:pPr>
            <a:r>
              <a:rPr lang="en-US" sz="825" b="1" spc="149" kern="0" dirty="0">
                <a:solidFill>
                  <a:srgbClr val="5B6B82"/>
                </a:solidFill>
                <a:latin typeface="Inter" pitchFamily="34" charset="0"/>
                <a:ea typeface="Inter" pitchFamily="34" charset="-122"/>
                <a:cs typeface="Inter" pitchFamily="34" charset="-120"/>
              </a:rPr>
              <a:t> Framing</a:t>
            </a:r>
            <a:endParaRPr lang="en-US" sz="825" dirty="0"/>
          </a:p>
        </p:txBody>
      </p:sp>
      <p:sp>
        <p:nvSpPr>
          <p:cNvPr id="8" name="Shape 2"/>
          <p:cNvSpPr/>
          <p:nvPr/>
        </p:nvSpPr>
        <p:spPr>
          <a:xfrm>
            <a:off x="533095" y="1524305"/>
            <a:ext cx="5905195" cy="2286000"/>
          </a:xfrm>
          <a:prstGeom prst="rect">
            <a:avLst/>
          </a:prstGeom>
          <a:solidFill>
            <a:srgbClr val="FFFFFF"/>
          </a:solidFill>
          <a:ln w="12700">
            <a:solidFill>
              <a:srgbClr val="D5DDE6"/>
            </a:solidFill>
            <a:prstDash val="solid"/>
          </a:ln>
        </p:spPr>
      </p:sp>
      <p:sp>
        <p:nvSpPr>
          <p:cNvPr id="9" name="Text 3"/>
          <p:cNvSpPr txBox="1"/>
          <p:nvPr/>
        </p:nvSpPr>
        <p:spPr>
          <a:xfrm>
            <a:off x="543154" y="15334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The Interview Narrative Arc</a:t>
            </a:r>
            <a:endParaRPr lang="en-US" sz="975" dirty="0"/>
          </a:p>
        </p:txBody>
      </p:sp>
      <p:sp>
        <p:nvSpPr>
          <p:cNvPr id="10" name="Text 4"/>
          <p:cNvSpPr txBox="1"/>
          <p:nvPr/>
        </p:nvSpPr>
        <p:spPr>
          <a:xfrm>
            <a:off x="733349" y="2076602"/>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1. Strategic posture</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 Board Dashboard, Board Pack Notes, Board KPI-KRI Tracker, Executive Report.</a:t>
            </a:r>
            <a:endParaRPr lang="en-US" sz="1050" dirty="0"/>
          </a:p>
        </p:txBody>
      </p:sp>
      <p:sp>
        <p:nvSpPr>
          <p:cNvPr id="11" name="Text 5"/>
          <p:cNvSpPr txBox="1"/>
          <p:nvPr/>
        </p:nvSpPr>
        <p:spPr>
          <a:xfrm>
            <a:off x="733349" y="2546604"/>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2. Operating model</a:t>
            </a:r>
            <a:pPr algn="l" indent="0" marL="0">
              <a:buNone/>
            </a:pPr>
            <a:r>
              <a:rPr lang="en-US" sz="1050" dirty="0">
                <a:solidFill>
                  <a:srgbClr val="2A3A55"/>
                </a:solidFill>
                <a:latin typeface="Inter" pitchFamily="34" charset="0"/>
                <a:ea typeface="Inter" pitchFamily="34" charset="-122"/>
                <a:cs typeface="Inter" pitchFamily="34" charset="-120"/>
              </a:rPr>
              <a:t> - TOM and Strategy, TOM Index, Governance Framework, RACI Matrix.</a:t>
            </a:r>
            <a:endParaRPr lang="en-US" sz="1050" dirty="0"/>
          </a:p>
        </p:txBody>
      </p:sp>
      <p:sp>
        <p:nvSpPr>
          <p:cNvPr id="12" name="Text 6"/>
          <p:cNvSpPr txBox="1"/>
          <p:nvPr/>
        </p:nvSpPr>
        <p:spPr>
          <a:xfrm>
            <a:off x="733349" y="2810866"/>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3. AI estate inventory</a:t>
            </a:r>
            <a:pPr algn="l" indent="0" marL="0">
              <a:buNone/>
            </a:pPr>
            <a:r>
              <a:rPr lang="en-US" sz="1050" dirty="0">
                <a:solidFill>
                  <a:srgbClr val="2A3A55"/>
                </a:solidFill>
                <a:latin typeface="Inter" pitchFamily="34" charset="0"/>
                <a:ea typeface="Inter" pitchFamily="34" charset="-122"/>
                <a:cs typeface="Inter" pitchFamily="34" charset="-120"/>
              </a:rPr>
              <a:t> - AI Use Case Register, Service Catalog, SLA-SLO, Service Request Log.</a:t>
            </a:r>
            <a:endParaRPr lang="en-US" sz="1050" dirty="0"/>
          </a:p>
        </p:txBody>
      </p:sp>
      <p:sp>
        <p:nvSpPr>
          <p:cNvPr id="13" name="Text 7"/>
          <p:cNvSpPr txBox="1"/>
          <p:nvPr/>
        </p:nvSpPr>
        <p:spPr>
          <a:xfrm>
            <a:off x="733349" y="3075127"/>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4. Risk, control and assurance</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 Risk Quantification, KRI, KPI, Compliance Mapping, Maturity.</a:t>
            </a:r>
            <a:endParaRPr lang="en-US" sz="1050" dirty="0"/>
          </a:p>
        </p:txBody>
      </p:sp>
      <p:sp>
        <p:nvSpPr>
          <p:cNvPr id="14" name="Text 8"/>
          <p:cNvSpPr txBox="1"/>
          <p:nvPr/>
        </p:nvSpPr>
        <p:spPr>
          <a:xfrm>
            <a:off x="733349" y="3545129"/>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5. Delivery and resilience</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 Third-Party, Incident Analysis, Cloud, IAM, Tech Stack, Automation.</a:t>
            </a:r>
            <a:endParaRPr lang="en-US" sz="1050" dirty="0"/>
          </a:p>
        </p:txBody>
      </p:sp>
      <p:sp>
        <p:nvSpPr>
          <p:cNvPr id="15" name="Text 9"/>
          <p:cNvSpPr txBox="1"/>
          <p:nvPr/>
        </p:nvSpPr>
        <p:spPr>
          <a:xfrm>
            <a:off x="733349" y="4016045"/>
            <a:ext cx="6035954"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6. Financials and change</a:t>
            </a:r>
            <a:pPr algn="l" indent="0" marL="0">
              <a:buNone/>
            </a:pPr>
            <a:r>
              <a:rPr lang="en-US" sz="1050" dirty="0">
                <a:solidFill>
                  <a:srgbClr val="2A3A55"/>
                </a:solidFill>
                <a:latin typeface="Inter" pitchFamily="34" charset="0"/>
                <a:ea typeface="Inter" pitchFamily="34" charset="-122"/>
                <a:cs typeface="Inter" pitchFamily="34" charset="-120"/>
              </a:rPr>
              <a:t> - Resource, Financial, Roadmap, BCP, Mgmt Review.</a:t>
            </a:r>
            <a:endParaRPr lang="en-US" sz="1050" dirty="0"/>
          </a:p>
        </p:txBody>
      </p:sp>
      <p:sp>
        <p:nvSpPr>
          <p:cNvPr id="16" name="Shape 10"/>
          <p:cNvSpPr/>
          <p:nvPr/>
        </p:nvSpPr>
        <p:spPr>
          <a:xfrm>
            <a:off x="533095" y="4000500"/>
            <a:ext cx="5905195" cy="3238805"/>
          </a:xfrm>
          <a:prstGeom prst="rect">
            <a:avLst/>
          </a:prstGeom>
          <a:solidFill>
            <a:srgbClr val="FFFFFF"/>
          </a:solidFill>
          <a:ln w="12700">
            <a:solidFill>
              <a:srgbClr val="D5DDE6"/>
            </a:solidFill>
            <a:prstDash val="solid"/>
          </a:ln>
        </p:spPr>
      </p:sp>
      <p:sp>
        <p:nvSpPr>
          <p:cNvPr id="17" name="Text 11"/>
          <p:cNvSpPr txBox="1"/>
          <p:nvPr/>
        </p:nvSpPr>
        <p:spPr>
          <a:xfrm>
            <a:off x="543154" y="4009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What Each Worksheet Slide Shows You</a:t>
            </a:r>
            <a:endParaRPr lang="en-US" sz="975" dirty="0"/>
          </a:p>
        </p:txBody>
      </p:sp>
      <p:sp>
        <p:nvSpPr>
          <p:cNvPr id="18" name="Text 12"/>
          <p:cNvSpPr txBox="1"/>
          <p:nvPr/>
        </p:nvSpPr>
        <p:spPr>
          <a:xfrm>
            <a:off x="733349" y="4552798"/>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Title block</a:t>
            </a:r>
            <a:pPr algn="l" indent="0" marL="0">
              <a:buNone/>
            </a:pPr>
            <a:r>
              <a:rPr lang="en-US" sz="1013" dirty="0">
                <a:solidFill>
                  <a:srgbClr val="2A3A55"/>
                </a:solidFill>
                <a:latin typeface="Inter" pitchFamily="34" charset="0"/>
                <a:ea typeface="Inter" pitchFamily="34" charset="-122"/>
                <a:cs typeface="Inter" pitchFamily="34" charset="-120"/>
              </a:rPr>
              <a:t> - what the sheet is called inside the workbook.</a:t>
            </a:r>
            <a:endParaRPr lang="en-US" sz="1013" dirty="0"/>
          </a:p>
        </p:txBody>
      </p:sp>
      <p:sp>
        <p:nvSpPr>
          <p:cNvPr id="19" name="Text 13"/>
          <p:cNvSpPr txBox="1"/>
          <p:nvPr/>
        </p:nvSpPr>
        <p:spPr>
          <a:xfrm>
            <a:off x="733349" y="4799686"/>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Purpose</a:t>
            </a:r>
            <a:pPr algn="l" indent="0" marL="0">
              <a:buNone/>
            </a:pPr>
            <a:r>
              <a:rPr lang="en-US" sz="1013" dirty="0">
                <a:solidFill>
                  <a:srgbClr val="2A3A55"/>
                </a:solidFill>
                <a:latin typeface="Inter" pitchFamily="34" charset="0"/>
                <a:ea typeface="Inter" pitchFamily="34" charset="-122"/>
                <a:cs typeface="Inter" pitchFamily="34" charset="-120"/>
              </a:rPr>
              <a:t> - one line copy-paste from the summary file.</a:t>
            </a:r>
            <a:endParaRPr lang="en-US" sz="1013" dirty="0"/>
          </a:p>
        </p:txBody>
      </p:sp>
      <p:sp>
        <p:nvSpPr>
          <p:cNvPr id="20" name="Text 14"/>
          <p:cNvSpPr txBox="1"/>
          <p:nvPr/>
        </p:nvSpPr>
        <p:spPr>
          <a:xfrm>
            <a:off x="733349" y="5046574"/>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Security relevance</a:t>
            </a:r>
            <a:pPr algn="l" indent="0" marL="0">
              <a:buNone/>
            </a:pPr>
            <a:r>
              <a:rPr lang="en-US" sz="1013" dirty="0">
                <a:solidFill>
                  <a:srgbClr val="2A3A55"/>
                </a:solidFill>
                <a:latin typeface="Inter" pitchFamily="34" charset="0"/>
                <a:ea typeface="Inter" pitchFamily="34" charset="-122"/>
                <a:cs typeface="Inter" pitchFamily="34" charset="-120"/>
              </a:rPr>
              <a:t> - why a UK insurer cares.</a:t>
            </a:r>
            <a:endParaRPr lang="en-US" sz="1013" dirty="0"/>
          </a:p>
        </p:txBody>
      </p:sp>
      <p:sp>
        <p:nvSpPr>
          <p:cNvPr id="21" name="Text 15"/>
          <p:cNvSpPr txBox="1"/>
          <p:nvPr/>
        </p:nvSpPr>
        <p:spPr>
          <a:xfrm>
            <a:off x="733349" y="5293462"/>
            <a:ext cx="61914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Template mapping</a:t>
            </a:r>
            <a:pPr algn="l" indent="0" marL="0">
              <a:buNone/>
            </a:pPr>
            <a:r>
              <a:rPr lang="en-US" sz="1013" dirty="0">
                <a:solidFill>
                  <a:srgbClr val="2A3A55"/>
                </a:solidFill>
                <a:latin typeface="Inter" pitchFamily="34" charset="0"/>
                <a:ea typeface="Inter" pitchFamily="34" charset="-122"/>
                <a:cs typeface="Inter" pitchFamily="34" charset="-120"/>
              </a:rPr>
              <a:t> - 1:1 form pair, derived authored sheet, or strategic narrative.</a:t>
            </a:r>
            <a:endParaRPr lang="en-US" sz="1013" dirty="0"/>
          </a:p>
        </p:txBody>
      </p:sp>
      <p:sp>
        <p:nvSpPr>
          <p:cNvPr id="22" name="Text 16"/>
          <p:cNvSpPr txBox="1"/>
          <p:nvPr/>
        </p:nvSpPr>
        <p:spPr>
          <a:xfrm>
            <a:off x="733349" y="5540350"/>
            <a:ext cx="61914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Sections and columns</a:t>
            </a:r>
            <a:pPr algn="l" indent="0" marL="0">
              <a:buNone/>
            </a:pPr>
            <a:r>
              <a:rPr lang="en-US" sz="1013" dirty="0">
                <a:solidFill>
                  <a:srgbClr val="2A3A55"/>
                </a:solidFill>
                <a:latin typeface="Inter" pitchFamily="34" charset="0"/>
                <a:ea typeface="Inter" pitchFamily="34" charset="-122"/>
                <a:cs typeface="Inter" pitchFamily="34" charset="-120"/>
              </a:rPr>
              <a:t> - what is on the sheet and why each column earns its place.</a:t>
            </a:r>
            <a:endParaRPr lang="en-US" sz="1013" dirty="0"/>
          </a:p>
        </p:txBody>
      </p:sp>
      <p:sp>
        <p:nvSpPr>
          <p:cNvPr id="23" name="Text 17"/>
          <p:cNvSpPr txBox="1"/>
          <p:nvPr/>
        </p:nvSpPr>
        <p:spPr>
          <a:xfrm>
            <a:off x="733349" y="5787238"/>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Most important callouts</a:t>
            </a:r>
            <a:pPr algn="l" indent="0" marL="0">
              <a:buNone/>
            </a:pPr>
            <a:r>
              <a:rPr lang="en-US" sz="1013" dirty="0">
                <a:solidFill>
                  <a:srgbClr val="2A3A55"/>
                </a:solidFill>
                <a:latin typeface="Inter" pitchFamily="34" charset="0"/>
                <a:ea typeface="Inter" pitchFamily="34" charset="-122"/>
                <a:cs typeface="Inter" pitchFamily="34" charset="-120"/>
              </a:rPr>
              <a:t> - rows, formulas, gaps or RAG status.</a:t>
            </a:r>
            <a:endParaRPr lang="en-US" sz="1013" dirty="0"/>
          </a:p>
        </p:txBody>
      </p:sp>
      <p:sp>
        <p:nvSpPr>
          <p:cNvPr id="24" name="Text 18"/>
          <p:cNvSpPr txBox="1"/>
          <p:nvPr/>
        </p:nvSpPr>
        <p:spPr>
          <a:xfrm>
            <a:off x="733349" y="6034126"/>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Interview risks</a:t>
            </a:r>
            <a:pPr algn="l" indent="0" marL="0">
              <a:buNone/>
            </a:pPr>
            <a:r>
              <a:rPr lang="en-US" sz="1013" dirty="0">
                <a:solidFill>
                  <a:srgbClr val="2A3A55"/>
                </a:solidFill>
                <a:latin typeface="Inter" pitchFamily="34" charset="0"/>
                <a:ea typeface="Inter" pitchFamily="34" charset="-122"/>
                <a:cs typeface="Inter" pitchFamily="34" charset="-120"/>
              </a:rPr>
              <a:t> - challenge questions and how to defend.</a:t>
            </a:r>
            <a:endParaRPr lang="en-US" sz="1013" dirty="0"/>
          </a:p>
        </p:txBody>
      </p:sp>
      <p:sp>
        <p:nvSpPr>
          <p:cNvPr id="25" name="Text 19"/>
          <p:cNvSpPr txBox="1"/>
          <p:nvPr/>
        </p:nvSpPr>
        <p:spPr>
          <a:xfrm>
            <a:off x="733349" y="6281014"/>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Talking points</a:t>
            </a:r>
            <a:pPr algn="l" indent="0" marL="0">
              <a:buNone/>
            </a:pPr>
            <a:r>
              <a:rPr lang="en-US" sz="1013" dirty="0">
                <a:solidFill>
                  <a:srgbClr val="2A3A55"/>
                </a:solidFill>
                <a:latin typeface="Inter" pitchFamily="34" charset="0"/>
                <a:ea typeface="Inter" pitchFamily="34" charset="-122"/>
                <a:cs typeface="Inter" pitchFamily="34" charset="-120"/>
              </a:rPr>
              <a:t> - the strongest two to three sentences.</a:t>
            </a:r>
            <a:endParaRPr lang="en-US" sz="1013" dirty="0"/>
          </a:p>
        </p:txBody>
      </p:sp>
      <p:sp>
        <p:nvSpPr>
          <p:cNvPr id="26" name="Text 20"/>
          <p:cNvSpPr txBox="1"/>
          <p:nvPr/>
        </p:nvSpPr>
        <p:spPr>
          <a:xfrm>
            <a:off x="733349" y="6527902"/>
            <a:ext cx="550560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Speaker aid</a:t>
            </a:r>
            <a:pPr algn="l" indent="0" marL="0">
              <a:buNone/>
            </a:pPr>
            <a:r>
              <a:rPr lang="en-US" sz="1013" dirty="0">
                <a:solidFill>
                  <a:srgbClr val="2A3A55"/>
                </a:solidFill>
                <a:latin typeface="Inter" pitchFamily="34" charset="0"/>
                <a:ea typeface="Inter" pitchFamily="34" charset="-122"/>
                <a:cs typeface="Inter" pitchFamily="34" charset="-120"/>
              </a:rPr>
              <a:t> - a closing framing line.</a:t>
            </a:r>
            <a:endParaRPr lang="en-US" sz="1013" dirty="0"/>
          </a:p>
        </p:txBody>
      </p:sp>
      <p:sp>
        <p:nvSpPr>
          <p:cNvPr id="27" name="Shape 21"/>
          <p:cNvSpPr/>
          <p:nvPr/>
        </p:nvSpPr>
        <p:spPr>
          <a:xfrm>
            <a:off x="6819595" y="1524305"/>
            <a:ext cx="5905195" cy="5715000"/>
          </a:xfrm>
          <a:prstGeom prst="rect">
            <a:avLst/>
          </a:prstGeom>
          <a:solidFill>
            <a:srgbClr val="FFFFFF"/>
          </a:solidFill>
          <a:ln w="12700">
            <a:solidFill>
              <a:srgbClr val="D5DDE6"/>
            </a:solidFill>
            <a:prstDash val="solid"/>
          </a:ln>
        </p:spPr>
      </p:sp>
      <p:sp>
        <p:nvSpPr>
          <p:cNvPr id="28" name="Text 22"/>
          <p:cNvSpPr txBox="1"/>
          <p:nvPr/>
        </p:nvSpPr>
        <p:spPr>
          <a:xfrm>
            <a:off x="6829654" y="15334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Defending the Hardest Pushbacks</a:t>
            </a:r>
            <a:endParaRPr lang="en-US" sz="975" dirty="0"/>
          </a:p>
        </p:txBody>
      </p:sp>
      <p:sp>
        <p:nvSpPr>
          <p:cNvPr id="29" name="Text 23"/>
          <p:cNvSpPr txBox="1"/>
          <p:nvPr/>
        </p:nvSpPr>
        <p:spPr>
          <a:xfrm>
            <a:off x="7019849" y="2076602"/>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"How do you know the metrics are right?"</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Pair the number with its source sheet, then threshold logic from the Metrics Calculation Guide.</a:t>
            </a:r>
            <a:endParaRPr lang="en-US" sz="975" dirty="0"/>
          </a:p>
        </p:txBody>
      </p:sp>
      <p:sp>
        <p:nvSpPr>
          <p:cNvPr id="30" name="Text 24"/>
          <p:cNvSpPr txBox="1"/>
          <p:nvPr/>
        </p:nvSpPr>
        <p:spPr>
          <a:xfrm>
            <a:off x="7019849" y="2527402"/>
            <a:ext cx="5505602" cy="581558"/>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"Where does the data come from?"</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Use the Owner column plus Source Logic. ServiceNow for service data, Databricks and Sentinel for technical metrics, fraud platform and sanctions vendor MI for assurance.</a:t>
            </a:r>
            <a:endParaRPr lang="en-US" sz="975" dirty="0"/>
          </a:p>
        </p:txBody>
      </p:sp>
      <p:sp>
        <p:nvSpPr>
          <p:cNvPr id="31" name="Text 25"/>
          <p:cNvSpPr txBox="1"/>
          <p:nvPr/>
        </p:nvSpPr>
        <p:spPr>
          <a:xfrm>
            <a:off x="7019849" y="3169310"/>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"How do you handle Consumer Duty?"</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CTL-003 fairness and Consumer Duty review with quarterly cadence; KRI-004 complaints rolling 90 days; MAT-06 domain.</a:t>
            </a:r>
            <a:endParaRPr lang="en-US" sz="975" dirty="0"/>
          </a:p>
        </p:txBody>
      </p:sp>
      <p:sp>
        <p:nvSpPr>
          <p:cNvPr id="32" name="Text 26"/>
          <p:cNvSpPr txBox="1"/>
          <p:nvPr/>
        </p:nvSpPr>
        <p:spPr>
          <a:xfrm>
            <a:off x="7019849" y="3620110"/>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"What about the FCA Senior Managers and Certification Regime?"</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RACI assigns Accountable owners per activity; SMCR mapping implied via Committee table COM-001 to COM-009.</a:t>
            </a:r>
            <a:endParaRPr lang="en-US" sz="975" dirty="0"/>
          </a:p>
        </p:txBody>
      </p:sp>
      <p:sp>
        <p:nvSpPr>
          <p:cNvPr id="33" name="Text 27"/>
          <p:cNvSpPr txBox="1"/>
          <p:nvPr/>
        </p:nvSpPr>
        <p:spPr>
          <a:xfrm>
            <a:off x="7019849" y="4070909"/>
            <a:ext cx="5505602" cy="581558"/>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"Where is your third-party oversight?"</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Third-Party Risk tracks hosting model, residual risk and exit dependency. Combined with Service Catalog this gives Procurement, TPRM and Risk one source of truth.</a:t>
            </a:r>
            <a:endParaRPr lang="en-US" sz="975" dirty="0"/>
          </a:p>
        </p:txBody>
      </p:sp>
      <p:sp>
        <p:nvSpPr>
          <p:cNvPr id="34" name="Text 28"/>
          <p:cNvSpPr txBox="1"/>
          <p:nvPr/>
        </p:nvSpPr>
        <p:spPr>
          <a:xfrm>
            <a:off x="7019849" y="4713732"/>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"How do you evidence operational resilience?"</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BCP sets RTO and RPO per critical service. INC analysis covers AI-specific incidents with PIR closure.</a:t>
            </a:r>
            <a:endParaRPr lang="en-US" sz="975" dirty="0"/>
          </a:p>
        </p:txBody>
      </p:sp>
      <p:sp>
        <p:nvSpPr>
          <p:cNvPr id="35" name="Text 29"/>
          <p:cNvSpPr txBox="1"/>
          <p:nvPr/>
        </p:nvSpPr>
        <p:spPr>
          <a:xfrm>
            <a:off x="7019849" y="5164531"/>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"What about model risk under PRA and FCA?"</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CTL-002 enforces independent challenge; KPI-002 tracks material models with current assurance; MAT-02 covers risk management domain.</a:t>
            </a:r>
            <a:endParaRPr lang="en-US" sz="975" dirty="0"/>
          </a:p>
        </p:txBody>
      </p:sp>
      <p:sp>
        <p:nvSpPr>
          <p:cNvPr id="36" name="Text 30"/>
          <p:cNvSpPr txBox="1"/>
          <p:nvPr/>
        </p:nvSpPr>
        <p:spPr>
          <a:xfrm>
            <a:off x="7019849" y="5615330"/>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"Are you ISO 42001 ready?"</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Maturity score, Compliance Mapping 38 clauses plus Annex A, Mgmt Review Tracker audits per Clause 9.2.</a:t>
            </a:r>
            <a:endParaRPr lang="en-US" sz="975" dirty="0"/>
          </a:p>
        </p:txBody>
      </p:sp>
      <p:sp>
        <p:nvSpPr>
          <p:cNvPr id="37" name="Text 31"/>
          <p:cNvSpPr txBox="1"/>
          <p:nvPr/>
        </p:nvSpPr>
        <p:spPr>
          <a:xfrm>
            <a:off x="7019849" y="6065215"/>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"How do you keep this alive?"</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Cadence on every sheet: quarterly board pack, monthly KPI-KRI, half-yearly maturity and reference data.</a:t>
            </a:r>
            <a:endParaRPr lang="en-US" sz="975" dirty="0"/>
          </a:p>
        </p:txBody>
      </p:sp>
      <p:sp>
        <p:nvSpPr>
          <p:cNvPr id="38" name="Text 32"/>
          <p:cNvSpPr txBox="1"/>
          <p:nvPr/>
        </p:nvSpPr>
        <p:spPr>
          <a:xfrm>
            <a:off x="7019849" y="6516014"/>
            <a:ext cx="5505602" cy="391363"/>
          </a:xfrm>
          <a:prstGeom prst="rect">
            <a:avLst/>
          </a:prstGeom>
          <a:noFill/>
          <a:ln/>
        </p:spPr>
        <p:txBody>
          <a:bodyPr wrap="square" lIns="0" tIns="0" rIns="0" bIns="0" rtlCol="0" anchor="ctr"/>
          <a:lstStyle/>
          <a:p>
            <a:pPr algn="l" indent="0" marL="0">
              <a:lnSpc>
                <a:spcPts val="1511"/>
              </a:lnSpc>
              <a:buNone/>
            </a:pPr>
            <a:r>
              <a:rPr lang="en-US" sz="975" b="1" dirty="0">
                <a:solidFill>
                  <a:srgbClr val="0E1A2B"/>
                </a:solidFill>
                <a:latin typeface="Inter" pitchFamily="34" charset="0"/>
                <a:ea typeface="Inter" pitchFamily="34" charset="-122"/>
                <a:cs typeface="Inter" pitchFamily="34" charset="-120"/>
              </a:rPr>
              <a:t>"What about the budget?"</a:t>
            </a:r>
            <a:pPr algn="l" indent="0" marL="0">
              <a:lnSpc>
                <a:spcPts val="1511"/>
              </a:lnSpc>
              <a:buNone/>
            </a:pPr>
            <a:r>
              <a:rPr lang="en-US" sz="975" dirty="0">
                <a:solidFill>
                  <a:srgbClr val="2A3A55"/>
                </a:solidFill>
                <a:latin typeface="Inter" pitchFamily="34" charset="0"/>
                <a:ea typeface="Inter" pitchFamily="34" charset="-122"/>
                <a:cs typeface="Inter" pitchFamily="34" charset="-120"/>
              </a:rPr>
              <a:t> Financial Analysis breaks Run, Change and contingency with Owner and Variance.</a:t>
            </a:r>
            <a:endParaRPr lang="en-US" sz="975" dirty="0"/>
          </a:p>
        </p:txBody>
      </p:sp>
      <p:sp>
        <p:nvSpPr>
          <p:cNvPr id="39" name="Shape 33"/>
          <p:cNvSpPr/>
          <p:nvPr/>
        </p:nvSpPr>
        <p:spPr>
          <a:xfrm>
            <a:off x="533095" y="9334195"/>
            <a:ext cx="127631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25537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"Each of the 57 worksheets is its own interview micro-question. I pace the conversation through the narrative arc - posture, model, estate, risk, delivery, change - and use the speaker-aid line on each slide to land the answer cleanly. The reduced template is the reusable skeleton; this deck is the way I explain the live instance."</a:t>
            </a:r>
            <a:endParaRPr lang="en-US" sz="1013" dirty="0"/>
          </a:p>
        </p:txBody>
      </p:sp>
      <p:sp>
        <p:nvSpPr>
          <p:cNvPr id="42" name="Text 36"/>
          <p:cNvSpPr txBox="1"/>
          <p:nvPr/>
        </p:nvSpPr>
        <p:spPr>
          <a:xfrm>
            <a:off x="533095" y="171907"/>
            <a:ext cx="117683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Speaker aid</a:t>
            </a:r>
            <a:endParaRPr lang="en-US" sz="900" dirty="0"/>
          </a:p>
        </p:txBody>
      </p:sp>
      <p:sp>
        <p:nvSpPr>
          <p:cNvPr id="43" name="Text 37"/>
          <p:cNvSpPr txBox="1"/>
          <p:nvPr/>
        </p:nvSpPr>
        <p:spPr>
          <a:xfrm>
            <a:off x="533095" y="362102"/>
            <a:ext cx="5591556"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Interview Framing - How to Use This Deck</a:t>
            </a:r>
            <a:endParaRPr lang="en-US" sz="1950" dirty="0"/>
          </a:p>
        </p:txBody>
      </p:sp>
      <p:sp>
        <p:nvSpPr>
          <p:cNvPr id="44" name="Text 38"/>
          <p:cNvSpPr txBox="1"/>
          <p:nvPr/>
        </p:nvSpPr>
        <p:spPr>
          <a:xfrm>
            <a:off x="16426282" y="342900"/>
            <a:ext cx="13341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AI Security Management</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UK Insurer Interview Deck</a:t>
            </a:r>
            <a:endParaRPr lang="en-US" sz="900" dirty="0"/>
          </a:p>
        </p:txBody>
      </p:sp>
      <p:sp>
        <p:nvSpPr>
          <p:cNvPr id="45" name="Text 39"/>
          <p:cNvSpPr txBox="1"/>
          <p:nvPr/>
        </p:nvSpPr>
        <p:spPr>
          <a:xfrm>
            <a:off x="533095" y="1047902"/>
            <a:ext cx="4419295"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Method</a:t>
            </a:r>
            <a:pPr algn="l" indent="0" marL="0">
              <a:buNone/>
            </a:pPr>
            <a:r>
              <a:rPr lang="en-US" sz="900" dirty="0">
                <a:solidFill>
                  <a:srgbClr val="5B6B82"/>
                </a:solidFill>
                <a:latin typeface="Inter" pitchFamily="34" charset="0"/>
                <a:ea typeface="Inter" pitchFamily="34" charset="-122"/>
                <a:cs typeface="Inter" pitchFamily="34" charset="-120"/>
              </a:rPr>
              <a:t>How the candidate uses each worksheet slide in conversation</a:t>
            </a:r>
            <a:endParaRPr lang="en-US" sz="900" dirty="0"/>
          </a:p>
        </p:txBody>
      </p:sp>
      <p:sp>
        <p:nvSpPr>
          <p:cNvPr id="46" name="Text 40"/>
          <p:cNvSpPr txBox="1"/>
          <p:nvPr/>
        </p:nvSpPr>
        <p:spPr>
          <a:xfrm>
            <a:off x="533095" y="9915754"/>
            <a:ext cx="2351837"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03 of 61 - Interview Framing</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002914" y="1047902"/>
            <a:ext cx="1752905"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04 / 61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01</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Board-level summary of AI governance, risk, compliance, service delivery and strategic posture. Owner: AI Security Manager. Reporting period: Q1 2026 (as at 02/05/2026). Navigation points to Board Pack Notes, Operational Dashboard, Executive Report, TOM Index, ID Glossary.</a:t>
            </a:r>
            <a:endParaRPr lang="en-US" sz="1200" dirty="0"/>
          </a:p>
        </p:txBody>
      </p:sp>
      <p:sp>
        <p:nvSpPr>
          <p:cNvPr id="12" name="Shape 6"/>
          <p:cNvSpPr/>
          <p:nvPr/>
        </p:nvSpPr>
        <p:spPr>
          <a:xfrm>
            <a:off x="533095" y="2857500"/>
            <a:ext cx="5905195" cy="2476195"/>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first read the Board takes on AI governance. Frames exposure in </a:t>
            </a:r>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GBP millions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shows treatment decisions and owners for the top risks. Underpins SMCR accountability and FCA Principal Risk narrative on AI.</a:t>
            </a:r>
            <a:endParaRPr lang="en-US" sz="1050" dirty="0"/>
          </a:p>
        </p:txBody>
      </p:sp>
      <p:sp>
        <p:nvSpPr>
          <p:cNvPr id="15" name="Text 9"/>
          <p:cNvSpPr txBox="1"/>
          <p:nvPr/>
        </p:nvSpPr>
        <p:spPr>
          <a:xfrm>
            <a:off x="733349" y="4096512"/>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Used in </a:t>
            </a:r>
            <a:pPr algn="l" indent="0" marL="0">
              <a:buNone/>
            </a:pPr>
            <a:r>
              <a:rPr lang="en-US" sz="1050" b="1" dirty="0">
                <a:solidFill>
                  <a:srgbClr val="0E1A2B"/>
                </a:solidFill>
                <a:latin typeface="Inter" pitchFamily="34" charset="0"/>
                <a:ea typeface="Inter" pitchFamily="34" charset="-122"/>
                <a:cs typeface="Inter" pitchFamily="34" charset="-120"/>
              </a:rPr>
              <a:t>quarterly Board</a:t>
            </a:r>
            <a:pPr algn="l" indent="0" marL="0">
              <a:buNone/>
            </a:pPr>
            <a:r>
              <a:rPr lang="en-US" sz="1050" dirty="0">
                <a:solidFill>
                  <a:srgbClr val="2A3A55"/>
                </a:solidFill>
                <a:latin typeface="Inter" pitchFamily="34" charset="0"/>
                <a:ea typeface="Inter" pitchFamily="34" charset="-122"/>
                <a:cs typeface="Inter" pitchFamily="34" charset="-120"/>
              </a:rPr>
              <a:t> and Risk Committee papers and referenced in supervision packs.</a:t>
            </a:r>
            <a:endParaRPr lang="en-US" sz="1050" dirty="0"/>
          </a:p>
        </p:txBody>
      </p:sp>
      <p:sp>
        <p:nvSpPr>
          <p:cNvPr id="16" name="Shape 10"/>
          <p:cNvSpPr/>
          <p:nvPr/>
        </p:nvSpPr>
        <p:spPr>
          <a:xfrm>
            <a:off x="6629400" y="2857500"/>
            <a:ext cx="6096305" cy="2476195"/>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Roll-up Sources</a:t>
            </a:r>
            <a:endParaRPr lang="en-US" sz="975" dirty="0"/>
          </a:p>
        </p:txBody>
      </p:sp>
      <p:sp>
        <p:nvSpPr>
          <p:cNvPr id="18" name="Text 12"/>
          <p:cNvSpPr txBox="1"/>
          <p:nvPr/>
        </p:nvSpPr>
        <p:spPr>
          <a:xfrm>
            <a:off x="6829654" y="3409798"/>
            <a:ext cx="569671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Template mapping:</a:t>
            </a:r>
            <a:pPr algn="l" indent="0" marL="0">
              <a:buNone/>
            </a:pPr>
            <a:r>
              <a:rPr lang="en-US" sz="1013" dirty="0">
                <a:solidFill>
                  <a:srgbClr val="2A3A55"/>
                </a:solidFill>
                <a:latin typeface="Inter" pitchFamily="34" charset="0"/>
                <a:ea typeface="Inter" pitchFamily="34" charset="-122"/>
                <a:cs typeface="Inter" pitchFamily="34" charset="-120"/>
              </a:rPr>
              <a:t> Derived board summary - no 1:1 form tab.</a:t>
            </a:r>
            <a:endParaRPr lang="en-US" sz="1013" dirty="0"/>
          </a:p>
        </p:txBody>
      </p:sp>
      <p:sp>
        <p:nvSpPr>
          <p:cNvPr id="19" name="Text 13"/>
          <p:cNvSpPr txBox="1"/>
          <p:nvPr/>
        </p:nvSpPr>
        <p:spPr>
          <a:xfrm>
            <a:off x="6829654" y="3666744"/>
            <a:ext cx="5696712" cy="400507"/>
          </a:xfrm>
          <a:prstGeom prst="rect">
            <a:avLst/>
          </a:prstGeom>
          <a:noFill/>
          <a:ln/>
        </p:spPr>
        <p:txBody>
          <a:bodyPr wrap="square" lIns="0" tIns="0" rIns="0" bIns="0" rtlCol="0" anchor="ctr"/>
          <a:lstStyle/>
          <a:p>
            <a:pPr algn="l" indent="0" marL="0">
              <a:lnSpc>
                <a:spcPts val="1569"/>
              </a:lnSpc>
              <a:buNone/>
            </a:pPr>
            <a:r>
              <a:rPr lang="en-US" sz="1013" b="1" dirty="0">
                <a:solidFill>
                  <a:srgbClr val="0E1A2B"/>
                </a:solidFill>
                <a:latin typeface="Inter" pitchFamily="34" charset="0"/>
                <a:ea typeface="Inter" pitchFamily="34" charset="-122"/>
                <a:cs typeface="Inter" pitchFamily="34" charset="-120"/>
              </a:rPr>
              <a:t>Primary sources:</a:t>
            </a:r>
            <a:pPr algn="l" indent="0" marL="0">
              <a:lnSpc>
                <a:spcPts val="1569"/>
              </a:lnSpc>
              <a:buNone/>
            </a:pPr>
            <a:r>
              <a:rPr lang="en-US" sz="1013" dirty="0">
                <a:solidFill>
                  <a:srgbClr val="2A3A55"/>
                </a:solidFill>
                <a:latin typeface="Inter" pitchFamily="34" charset="0"/>
                <a:ea typeface="Inter" pitchFamily="34" charset="-122"/>
                <a:cs typeface="Inter" pitchFamily="34" charset="-120"/>
              </a:rPr>
              <a:t> Roll-up of Dashboard, Compliance Mapping, Maturity Assessment, Risk Quantification, KRI Tracking, Incident Analysis, Implementation Roadmap, Third-Party Risk Services.</a:t>
            </a:r>
            <a:endParaRPr lang="en-US" sz="1013" dirty="0"/>
          </a:p>
        </p:txBody>
      </p:sp>
      <p:sp>
        <p:nvSpPr>
          <p:cNvPr id="20" name="Text 14"/>
          <p:cNvSpPr txBox="1"/>
          <p:nvPr/>
        </p:nvSpPr>
        <p:spPr>
          <a:xfrm>
            <a:off x="6829654" y="4122115"/>
            <a:ext cx="5696712" cy="200254"/>
          </a:xfrm>
          <a:prstGeom prst="rect">
            <a:avLst/>
          </a:prstGeom>
          <a:noFill/>
          <a:ln/>
        </p:spPr>
        <p:txBody>
          <a:bodyPr wrap="none" lIns="0" tIns="0" rIns="0" bIns="0" rtlCol="0" anchor="ctr"/>
          <a:lstStyle/>
          <a:p>
            <a:pPr algn="l" indent="0" marL="0">
              <a:buNone/>
            </a:pPr>
            <a:r>
              <a:rPr lang="en-US" sz="1013" b="1" dirty="0">
                <a:solidFill>
                  <a:srgbClr val="0E1A2B"/>
                </a:solidFill>
                <a:latin typeface="Inter" pitchFamily="34" charset="0"/>
                <a:ea typeface="Inter" pitchFamily="34" charset="-122"/>
                <a:cs typeface="Inter" pitchFamily="34" charset="-120"/>
              </a:rPr>
              <a:t>Header row:</a:t>
            </a:r>
            <a:pPr algn="l" indent="0" marL="0">
              <a:buNone/>
            </a:pPr>
            <a:r>
              <a:rPr lang="en-US" sz="1013" dirty="0">
                <a:solidFill>
                  <a:srgbClr val="2A3A55"/>
                </a:solidFill>
                <a:latin typeface="Inter" pitchFamily="34" charset="0"/>
                <a:ea typeface="Inter" pitchFamily="34" charset="-122"/>
                <a:cs typeface="Inter" pitchFamily="34" charset="-120"/>
              </a:rPr>
              <a:t> 15.</a:t>
            </a:r>
            <a:endParaRPr lang="en-US" sz="1013" dirty="0"/>
          </a:p>
        </p:txBody>
      </p:sp>
      <p:sp>
        <p:nvSpPr>
          <p:cNvPr id="21" name="Text 15"/>
          <p:cNvSpPr txBox="1"/>
          <p:nvPr/>
        </p:nvSpPr>
        <p:spPr>
          <a:xfrm>
            <a:off x="6829654" y="4378147"/>
            <a:ext cx="5696712" cy="400507"/>
          </a:xfrm>
          <a:prstGeom prst="rect">
            <a:avLst/>
          </a:prstGeom>
          <a:noFill/>
          <a:ln/>
        </p:spPr>
        <p:txBody>
          <a:bodyPr wrap="square" lIns="0" tIns="0" rIns="0" bIns="0" rtlCol="0" anchor="ctr"/>
          <a:lstStyle/>
          <a:p>
            <a:pPr algn="l" indent="0" marL="0">
              <a:lnSpc>
                <a:spcPts val="1569"/>
              </a:lnSpc>
              <a:buNone/>
            </a:pPr>
            <a:r>
              <a:rPr lang="en-US" sz="1013" b="1" dirty="0">
                <a:solidFill>
                  <a:srgbClr val="0E1A2B"/>
                </a:solidFill>
                <a:latin typeface="Inter" pitchFamily="34" charset="0"/>
                <a:ea typeface="Inter" pitchFamily="34" charset="-122"/>
                <a:cs typeface="Inter" pitchFamily="34" charset="-120"/>
              </a:rPr>
              <a:t>Visible columns:</a:t>
            </a:r>
            <a:pPr algn="l" indent="0" marL="0">
              <a:lnSpc>
                <a:spcPts val="1569"/>
              </a:lnSpc>
              <a:buNone/>
            </a:pPr>
            <a:r>
              <a:rPr lang="en-US" sz="1013" dirty="0">
                <a:solidFill>
                  <a:srgbClr val="2A3A55"/>
                </a:solidFill>
                <a:latin typeface="Inter" pitchFamily="34" charset="0"/>
                <a:ea typeface="Inter" pitchFamily="34" charset="-122"/>
                <a:cs typeface="Inter" pitchFamily="34" charset="-120"/>
              </a:rPr>
              <a:t> Risk ID, Risk Title, Residual Score, Exposure (GBP M), Treatment, Treatment Action, Owner.</a:t>
            </a:r>
            <a:endParaRPr lang="en-US" sz="1013" dirty="0"/>
          </a:p>
        </p:txBody>
      </p:sp>
      <p:sp>
        <p:nvSpPr>
          <p:cNvPr id="22" name="Shape 16"/>
          <p:cNvSpPr/>
          <p:nvPr/>
        </p:nvSpPr>
        <p:spPr>
          <a:xfrm>
            <a:off x="533095" y="5524805"/>
            <a:ext cx="5905195" cy="3047695"/>
          </a:xfrm>
          <a:prstGeom prst="rect">
            <a:avLst/>
          </a:prstGeom>
          <a:solidFill>
            <a:srgbClr val="FFFFFF"/>
          </a:solidFill>
          <a:ln w="12700">
            <a:solidFill>
              <a:srgbClr val="D5DDE6"/>
            </a:solidFill>
            <a:prstDash val="solid"/>
          </a:ln>
        </p:spPr>
      </p:sp>
      <p:sp>
        <p:nvSpPr>
          <p:cNvPr id="23" name="Text 17"/>
          <p:cNvSpPr txBox="1"/>
          <p:nvPr/>
        </p:nvSpPr>
        <p:spPr>
          <a:xfrm>
            <a:off x="543154" y="55339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4" name="Text 18"/>
          <p:cNvSpPr txBox="1"/>
          <p:nvPr/>
        </p:nvSpPr>
        <p:spPr>
          <a:xfrm>
            <a:off x="1933956" y="6077102"/>
            <a:ext cx="4304995"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Risk rows populate by formula from Risk Quantification (rows 5,8,14,15,17).</a:t>
            </a:r>
            <a:endParaRPr lang="en-US" sz="1050" dirty="0"/>
          </a:p>
        </p:txBody>
      </p:sp>
      <p:sp>
        <p:nvSpPr>
          <p:cNvPr id="25" name="Text 19"/>
          <p:cNvSpPr txBox="1"/>
          <p:nvPr/>
        </p:nvSpPr>
        <p:spPr>
          <a:xfrm>
            <a:off x="1647749" y="6617513"/>
            <a:ext cx="527700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Quantified Exposure in GBP M - the Board-readable unit for AI loss exposure.</a:t>
            </a:r>
            <a:endParaRPr lang="en-US" sz="1050" dirty="0"/>
          </a:p>
        </p:txBody>
      </p:sp>
      <p:sp>
        <p:nvSpPr>
          <p:cNvPr id="26" name="Text 20"/>
          <p:cNvSpPr txBox="1"/>
          <p:nvPr/>
        </p:nvSpPr>
        <p:spPr>
          <a:xfrm>
            <a:off x="1755648" y="6951269"/>
            <a:ext cx="5169103"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row named to a single owner - the SMCR accountability link.</a:t>
            </a:r>
            <a:endParaRPr lang="en-US" sz="1050" dirty="0"/>
          </a:p>
        </p:txBody>
      </p:sp>
      <p:sp>
        <p:nvSpPr>
          <p:cNvPr id="27" name="Shape 21"/>
          <p:cNvSpPr/>
          <p:nvPr/>
        </p:nvSpPr>
        <p:spPr>
          <a:xfrm>
            <a:off x="733349" y="6077102"/>
            <a:ext cx="1114654" cy="267005"/>
          </a:xfrm>
          <a:prstGeom prst="roundRect">
            <a:avLst>
              <a:gd name="adj" fmla="val 7192"/>
            </a:avLst>
          </a:prstGeom>
          <a:solidFill>
            <a:srgbClr val="B8E0DE"/>
          </a:solidFill>
          <a:ln w="12700">
            <a:solidFill>
              <a:srgbClr val="14A098"/>
            </a:solidFill>
            <a:prstDash val="solid"/>
          </a:ln>
        </p:spPr>
      </p:sp>
      <p:sp>
        <p:nvSpPr>
          <p:cNvPr id="28" name="Text 22"/>
          <p:cNvSpPr txBox="1"/>
          <p:nvPr/>
        </p:nvSpPr>
        <p:spPr>
          <a:xfrm>
            <a:off x="733349" y="6077102"/>
            <a:ext cx="1114654"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Formula link</a:t>
            </a:r>
            <a:endParaRPr lang="en-US" sz="825" dirty="0"/>
          </a:p>
        </p:txBody>
      </p:sp>
      <p:sp>
        <p:nvSpPr>
          <p:cNvPr id="29" name="Shape 23"/>
          <p:cNvSpPr/>
          <p:nvPr/>
        </p:nvSpPr>
        <p:spPr>
          <a:xfrm>
            <a:off x="733349" y="6617513"/>
            <a:ext cx="828446" cy="267005"/>
          </a:xfrm>
          <a:prstGeom prst="roundRect">
            <a:avLst>
              <a:gd name="adj" fmla="val 7192"/>
            </a:avLst>
          </a:prstGeom>
          <a:solidFill>
            <a:srgbClr val="FCF1DF"/>
          </a:solidFill>
          <a:ln w="12700">
            <a:solidFill>
              <a:srgbClr val="B8711E"/>
            </a:solidFill>
            <a:prstDash val="solid"/>
          </a:ln>
        </p:spPr>
      </p:sp>
      <p:sp>
        <p:nvSpPr>
          <p:cNvPr id="30" name="Text 24"/>
          <p:cNvSpPr txBox="1"/>
          <p:nvPr/>
        </p:nvSpPr>
        <p:spPr>
          <a:xfrm>
            <a:off x="733349" y="6617513"/>
            <a:ext cx="82936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Exposure</a:t>
            </a:r>
            <a:endParaRPr lang="en-US" sz="825" dirty="0"/>
          </a:p>
        </p:txBody>
      </p:sp>
      <p:sp>
        <p:nvSpPr>
          <p:cNvPr id="31" name="Shape 25"/>
          <p:cNvSpPr/>
          <p:nvPr/>
        </p:nvSpPr>
        <p:spPr>
          <a:xfrm>
            <a:off x="733349" y="6951269"/>
            <a:ext cx="933602" cy="267005"/>
          </a:xfrm>
          <a:prstGeom prst="roundRect">
            <a:avLst>
              <a:gd name="adj" fmla="val 7192"/>
            </a:avLst>
          </a:prstGeom>
          <a:solidFill>
            <a:srgbClr val="FBE3E3"/>
          </a:solidFill>
          <a:ln w="12700">
            <a:solidFill>
              <a:srgbClr val="9B2C2C"/>
            </a:solidFill>
            <a:prstDash val="solid"/>
          </a:ln>
        </p:spPr>
      </p:sp>
      <p:sp>
        <p:nvSpPr>
          <p:cNvPr id="32" name="Text 26"/>
          <p:cNvSpPr txBox="1"/>
          <p:nvPr/>
        </p:nvSpPr>
        <p:spPr>
          <a:xfrm>
            <a:off x="733349" y="6951269"/>
            <a:ext cx="9336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Ownership</a:t>
            </a:r>
            <a:endParaRPr lang="en-US" sz="825" dirty="0"/>
          </a:p>
        </p:txBody>
      </p:sp>
      <p:sp>
        <p:nvSpPr>
          <p:cNvPr id="33" name="Shape 27"/>
          <p:cNvSpPr/>
          <p:nvPr/>
        </p:nvSpPr>
        <p:spPr>
          <a:xfrm>
            <a:off x="6629400" y="5524805"/>
            <a:ext cx="6096305" cy="3047695"/>
          </a:xfrm>
          <a:prstGeom prst="rect">
            <a:avLst/>
          </a:prstGeom>
          <a:solidFill>
            <a:srgbClr val="FFFFFF"/>
          </a:solidFill>
          <a:ln w="12700">
            <a:solidFill>
              <a:srgbClr val="D5DDE6"/>
            </a:solidFill>
            <a:prstDash val="solid"/>
          </a:ln>
        </p:spPr>
      </p:sp>
      <p:sp>
        <p:nvSpPr>
          <p:cNvPr id="34" name="Text 28"/>
          <p:cNvSpPr txBox="1"/>
          <p:nvPr/>
        </p:nvSpPr>
        <p:spPr>
          <a:xfrm>
            <a:off x="6638544" y="5533949"/>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Risks and Talking Points</a:t>
            </a:r>
            <a:endParaRPr lang="en-US" sz="975" dirty="0"/>
          </a:p>
        </p:txBody>
      </p:sp>
      <p:sp>
        <p:nvSpPr>
          <p:cNvPr id="35" name="Text 29"/>
          <p:cNvSpPr txBox="1"/>
          <p:nvPr/>
        </p:nvSpPr>
        <p:spPr>
          <a:xfrm>
            <a:off x="6829654" y="6077102"/>
            <a:ext cx="638251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"These exposure figures - how are they produced and what assumptions drive them?"</a:t>
            </a:r>
            <a:endParaRPr lang="en-US" sz="1050" dirty="0"/>
          </a:p>
        </p:txBody>
      </p:sp>
      <p:sp>
        <p:nvSpPr>
          <p:cNvPr id="36" name="Text 30"/>
          <p:cNvSpPr txBox="1"/>
          <p:nvPr/>
        </p:nvSpPr>
        <p:spPr>
          <a:xfrm>
            <a:off x="6829654" y="6350508"/>
            <a:ext cx="569671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Talking point:</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The residual score multiplies Residual Likelihood and Residual Impact on a 1 to 5 scale set in the Risk Quantification tab. The exposure in GBP M comes from modelled loss ranges - I can walk through RSK-001 to RSK-017 at interview.</a:t>
            </a:r>
            <a:endParaRPr lang="en-US" sz="1050" dirty="0"/>
          </a:p>
        </p:txBody>
      </p:sp>
      <p:sp>
        <p:nvSpPr>
          <p:cNvPr id="37" name="Text 31"/>
          <p:cNvSpPr txBox="1"/>
          <p:nvPr/>
        </p:nvSpPr>
        <p:spPr>
          <a:xfrm>
            <a:off x="6829654" y="7037222"/>
            <a:ext cx="569671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"Are you confident nothing has dropped off the board view?"</a:t>
            </a:r>
            <a:endParaRPr lang="en-US" sz="1050" dirty="0"/>
          </a:p>
        </p:txBody>
      </p:sp>
      <p:sp>
        <p:nvSpPr>
          <p:cNvPr id="38" name="Text 32"/>
          <p:cNvSpPr txBox="1"/>
          <p:nvPr/>
        </p:nvSpPr>
        <p:spPr>
          <a:xfrm>
            <a:off x="6829654" y="7310628"/>
            <a:ext cx="569671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Talking point:</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The dashboard rolls up Risk Quantification rows 5 to 17 directly via formula; the ID Glossary holds the live register so additions are tracked. New risks surface in the next quarterly slice via the same pipeline.</a:t>
            </a:r>
            <a:endParaRPr lang="en-US" sz="1050" dirty="0"/>
          </a:p>
        </p:txBody>
      </p:sp>
      <p:sp>
        <p:nvSpPr>
          <p:cNvPr id="39" name="Text 33"/>
          <p:cNvSpPr txBox="1"/>
          <p:nvPr/>
        </p:nvSpPr>
        <p:spPr>
          <a:xfrm>
            <a:off x="533095" y="8762695"/>
            <a:ext cx="6096305" cy="495605"/>
          </a:xfrm>
          <a:prstGeom prst="rect">
            <a:avLst/>
          </a:prstGeom>
          <a:solidFill>
            <a:srgbClr val="0E1A2B"/>
          </a:solidFill>
          <a:ln>
            <a:solidFill>
              <a:srgbClr val="FFFFFF">
                <a:alpha val="0"/>
              </a:srgbClr>
            </a:solidFill>
          </a:ln>
        </p:spPr>
        <p:txBody>
          <a:bodyPr wrap="squar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direct FORM tab. This is the board-grade roll-up of Risk Quantification, Incident Analysis, KRI, KPI, Compliance Mapping, Maturity and Roadmap.</a:t>
            </a:r>
            <a:endParaRPr lang="en-US" sz="900" dirty="0"/>
          </a:p>
        </p:txBody>
      </p:sp>
      <p:sp>
        <p:nvSpPr>
          <p:cNvPr id="40" name="Shape 34"/>
          <p:cNvSpPr/>
          <p:nvPr/>
        </p:nvSpPr>
        <p:spPr>
          <a:xfrm>
            <a:off x="533095" y="9334195"/>
            <a:ext cx="12191695" cy="857707"/>
          </a:xfrm>
          <a:prstGeom prst="rect">
            <a:avLst/>
          </a:prstGeom>
          <a:solidFill>
            <a:srgbClr val="F4F6FA"/>
          </a:solidFill>
          <a:ln/>
        </p:spPr>
      </p:sp>
      <p:sp>
        <p:nvSpPr>
          <p:cNvPr id="41" name="Shape 35"/>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2" name="Text 36"/>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Board Dashboard is the strategic posture reading. It sources by formula from Risk Quantification - so the numbers you see are defined by likelihood, impact and control maturity, not invented for the slide. Each row has a single named owner to give the Board a SMCR-ready accountability answer."</a:t>
            </a:r>
            <a:endParaRPr lang="en-US" sz="1013" dirty="0"/>
          </a:p>
        </p:txBody>
      </p:sp>
      <p:sp>
        <p:nvSpPr>
          <p:cNvPr id="43" name="Text 37"/>
          <p:cNvSpPr txBox="1"/>
          <p:nvPr/>
        </p:nvSpPr>
        <p:spPr>
          <a:xfrm>
            <a:off x="533095" y="171907"/>
            <a:ext cx="345003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01 / 57 - Board Dashboard</a:t>
            </a:r>
            <a:endParaRPr lang="en-US" sz="900" dirty="0"/>
          </a:p>
        </p:txBody>
      </p:sp>
      <p:sp>
        <p:nvSpPr>
          <p:cNvPr id="44" name="Text 38"/>
          <p:cNvSpPr txBox="1"/>
          <p:nvPr/>
        </p:nvSpPr>
        <p:spPr>
          <a:xfrm>
            <a:off x="533095" y="362102"/>
            <a:ext cx="71158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Board Dashboard - AI Security and Governance Posture</a:t>
            </a:r>
            <a:endParaRPr lang="en-US" sz="1950" dirty="0"/>
          </a:p>
        </p:txBody>
      </p:sp>
      <p:sp>
        <p:nvSpPr>
          <p:cNvPr id="45" name="Text 39"/>
          <p:cNvSpPr txBox="1"/>
          <p:nvPr/>
        </p:nvSpPr>
        <p:spPr>
          <a:xfrm>
            <a:off x="16377818" y="342900"/>
            <a:ext cx="1381658"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Q1 2026</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Reporting as at 02/05/2026</a:t>
            </a:r>
            <a:endParaRPr lang="en-US" sz="900" dirty="0"/>
          </a:p>
        </p:txBody>
      </p:sp>
      <p:sp>
        <p:nvSpPr>
          <p:cNvPr id="46" name="Text 40"/>
          <p:cNvSpPr txBox="1"/>
          <p:nvPr/>
        </p:nvSpPr>
        <p:spPr>
          <a:xfrm>
            <a:off x="533095" y="1047902"/>
            <a:ext cx="5572354"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Size:</a:t>
            </a:r>
            <a:pPr algn="l" indent="0" marL="0">
              <a:buNone/>
            </a:pPr>
            <a:r>
              <a:rPr lang="en-US" sz="900" dirty="0">
                <a:solidFill>
                  <a:srgbClr val="5B6B82"/>
                </a:solidFill>
                <a:latin typeface="Inter" pitchFamily="34" charset="0"/>
                <a:ea typeface="Inter" pitchFamily="34" charset="-122"/>
                <a:cs typeface="Inter" pitchFamily="34" charset="-120"/>
              </a:rPr>
              <a:t> 120 rows x 12 columns </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board summary</a:t>
            </a:r>
            <a:endParaRPr lang="en-US" sz="900" dirty="0"/>
          </a:p>
        </p:txBody>
      </p:sp>
      <p:sp>
        <p:nvSpPr>
          <p:cNvPr id="47" name="Text 41"/>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04 of 61 - Worksheet 01 / 57</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5989198" y="1047902"/>
            <a:ext cx="1772107"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05 / 61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02</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Concise companion to the Board Dashboard. Threshold definitions, board-metric interpretation notes, decisions required this quarter and narrative on major changes since the last review.</a:t>
            </a:r>
            <a:endParaRPr lang="en-US" sz="1200" dirty="0"/>
          </a:p>
        </p:txBody>
      </p:sp>
      <p:sp>
        <p:nvSpPr>
          <p:cNvPr id="12" name="Shape 6"/>
          <p:cNvSpPr/>
          <p:nvPr/>
        </p:nvSpPr>
        <p:spPr>
          <a:xfrm>
            <a:off x="533095" y="2857500"/>
            <a:ext cx="5905195" cy="2476195"/>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Explains </a:t>
            </a:r>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what each Board metric means and how it was calculated</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Tells the panel why the number matters, what it tells the Board, the source sheet and the cadence.</a:t>
            </a:r>
            <a:endParaRPr lang="en-US" sz="1050" dirty="0"/>
          </a:p>
        </p:txBody>
      </p:sp>
      <p:sp>
        <p:nvSpPr>
          <p:cNvPr id="15" name="Text 9"/>
          <p:cNvSpPr txBox="1"/>
          <p:nvPr/>
        </p:nvSpPr>
        <p:spPr>
          <a:xfrm>
            <a:off x="733349" y="388985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Sections: Board Metric Interpretation Notes, ISO 42001 Audit Readiness, Decisions Required, Major Changes Since Last Review.</a:t>
            </a:r>
            <a:endParaRPr lang="en-US" sz="1050" dirty="0"/>
          </a:p>
        </p:txBody>
      </p:sp>
      <p:sp>
        <p:nvSpPr>
          <p:cNvPr id="16" name="Text 10"/>
          <p:cNvSpPr txBox="1"/>
          <p:nvPr/>
        </p:nvSpPr>
        <p:spPr>
          <a:xfrm>
            <a:off x="733349" y="436991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Example:</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ISO 42001 Audit Readiness averages readiness score 0-3 divided by 3 across 38 items, sourced from the ISO 42001 Audit Readiness Matrix, quarterly cadence, owner Sarah Mitchell. It signals AIMS readiness for external assessment.</a:t>
            </a:r>
            <a:endParaRPr lang="en-US" sz="1050" dirty="0"/>
          </a:p>
        </p:txBody>
      </p:sp>
      <p:sp>
        <p:nvSpPr>
          <p:cNvPr id="17" name="Shape 11"/>
          <p:cNvSpPr/>
          <p:nvPr/>
        </p:nvSpPr>
        <p:spPr>
          <a:xfrm>
            <a:off x="6629400" y="2857500"/>
            <a:ext cx="6096305" cy="2476195"/>
          </a:xfrm>
          <a:prstGeom prst="rect">
            <a:avLst/>
          </a:prstGeom>
          <a:solidFill>
            <a:srgbClr val="FFFFFF"/>
          </a:solidFill>
          <a:ln w="12700">
            <a:solidFill>
              <a:srgbClr val="D5DDE6"/>
            </a:solidFill>
            <a:prstDash val="solid"/>
          </a:ln>
        </p:spPr>
      </p:sp>
      <p:sp>
        <p:nvSpPr>
          <p:cNvPr id="18" name="Text 12"/>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9" name="Text 13"/>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Derived narrative companion. Uses Board Dashboard, Compliance Mapping, Mgmt Review Tracker, TOM and Strategy, and Evidence concepts. No direct FORM tab.</a:t>
            </a:r>
            <a:endParaRPr lang="en-US" sz="1050" dirty="0"/>
          </a:p>
        </p:txBody>
      </p:sp>
      <p:sp>
        <p:nvSpPr>
          <p:cNvPr id="20" name="Text 14"/>
          <p:cNvSpPr txBox="1"/>
          <p:nvPr/>
        </p:nvSpPr>
        <p:spPr>
          <a:xfrm>
            <a:off x="6829654" y="3880714"/>
            <a:ext cx="56967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Header row:</a:t>
            </a:r>
            <a:pPr algn="l" indent="0" marL="0">
              <a:buNone/>
            </a:pPr>
            <a:r>
              <a:rPr lang="en-US" sz="1050" dirty="0">
                <a:solidFill>
                  <a:srgbClr val="2A3A55"/>
                </a:solidFill>
                <a:latin typeface="Inter" pitchFamily="34" charset="0"/>
                <a:ea typeface="Inter" pitchFamily="34" charset="-122"/>
                <a:cs typeface="Inter" pitchFamily="34" charset="-120"/>
              </a:rPr>
              <a:t> 3.</a:t>
            </a:r>
            <a:endParaRPr lang="en-US" sz="1050" dirty="0"/>
          </a:p>
        </p:txBody>
      </p:sp>
      <p:sp>
        <p:nvSpPr>
          <p:cNvPr id="21" name="Text 15"/>
          <p:cNvSpPr txBox="1"/>
          <p:nvPr/>
        </p:nvSpPr>
        <p:spPr>
          <a:xfrm>
            <a:off x="6829654" y="4144061"/>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Visible sections: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Board Dashboard, Operational Dashboard, Executive Report, ID Glossary, ISO 42001 Matrix, Evidence Register, Mgmt Review, TOM and Strategy.</a:t>
            </a:r>
            <a:endParaRPr lang="en-US" sz="1050" dirty="0"/>
          </a:p>
        </p:txBody>
      </p:sp>
      <p:sp>
        <p:nvSpPr>
          <p:cNvPr id="22" name="Text 16"/>
          <p:cNvSpPr txBox="1"/>
          <p:nvPr/>
        </p:nvSpPr>
        <p:spPr>
          <a:xfrm>
            <a:off x="7666330" y="4614977"/>
            <a:ext cx="5235854"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Owner attribution per metric enables Board-level accountability.</a:t>
            </a:r>
            <a:endParaRPr lang="en-US" sz="1050" dirty="0"/>
          </a:p>
        </p:txBody>
      </p:sp>
      <p:sp>
        <p:nvSpPr>
          <p:cNvPr id="23" name="Shape 17"/>
          <p:cNvSpPr/>
          <p:nvPr/>
        </p:nvSpPr>
        <p:spPr>
          <a:xfrm>
            <a:off x="6829654" y="4614977"/>
            <a:ext cx="752551" cy="267005"/>
          </a:xfrm>
          <a:prstGeom prst="roundRect">
            <a:avLst>
              <a:gd name="adj" fmla="val 7192"/>
            </a:avLst>
          </a:prstGeom>
          <a:solidFill>
            <a:srgbClr val="B8E0DE"/>
          </a:solidFill>
          <a:ln w="12700">
            <a:solidFill>
              <a:srgbClr val="14A098"/>
            </a:solidFill>
            <a:prstDash val="solid"/>
          </a:ln>
        </p:spPr>
      </p:sp>
      <p:sp>
        <p:nvSpPr>
          <p:cNvPr id="24" name="Text 18"/>
          <p:cNvSpPr txBox="1"/>
          <p:nvPr/>
        </p:nvSpPr>
        <p:spPr>
          <a:xfrm>
            <a:off x="6829654" y="4614977"/>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5" name="Shape 19"/>
          <p:cNvSpPr/>
          <p:nvPr/>
        </p:nvSpPr>
        <p:spPr>
          <a:xfrm>
            <a:off x="533095" y="5524805"/>
            <a:ext cx="5905195" cy="3047695"/>
          </a:xfrm>
          <a:prstGeom prst="rect">
            <a:avLst/>
          </a:prstGeom>
          <a:solidFill>
            <a:srgbClr val="FFFFFF"/>
          </a:solidFill>
          <a:ln w="12700">
            <a:solidFill>
              <a:srgbClr val="D5DDE6"/>
            </a:solidFill>
            <a:prstDash val="solid"/>
          </a:ln>
        </p:spPr>
      </p:sp>
      <p:sp>
        <p:nvSpPr>
          <p:cNvPr id="26" name="Text 20"/>
          <p:cNvSpPr txBox="1"/>
          <p:nvPr/>
        </p:nvSpPr>
        <p:spPr>
          <a:xfrm>
            <a:off x="543154" y="55339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Risks</a:t>
            </a:r>
            <a:endParaRPr lang="en-US" sz="975" dirty="0"/>
          </a:p>
        </p:txBody>
      </p:sp>
      <p:sp>
        <p:nvSpPr>
          <p:cNvPr id="27" name="Text 21"/>
          <p:cNvSpPr txBox="1"/>
          <p:nvPr/>
        </p:nvSpPr>
        <p:spPr>
          <a:xfrm>
            <a:off x="733349" y="6077102"/>
            <a:ext cx="61914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"Why do you calculate Audit Readiness as an average across 38 controls?"</a:t>
            </a:r>
            <a:endParaRPr lang="en-US" sz="1050" dirty="0"/>
          </a:p>
        </p:txBody>
      </p:sp>
      <p:sp>
        <p:nvSpPr>
          <p:cNvPr id="28" name="Text 22"/>
          <p:cNvSpPr txBox="1"/>
          <p:nvPr/>
        </p:nvSpPr>
        <p:spPr>
          <a:xfrm>
            <a:off x="733349" y="6359652"/>
            <a:ext cx="5715000"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"What sits in the Decisions Required column and who follows up?"</a:t>
            </a:r>
            <a:endParaRPr lang="en-US" sz="1050" dirty="0"/>
          </a:p>
        </p:txBody>
      </p:sp>
      <p:sp>
        <p:nvSpPr>
          <p:cNvPr id="29" name="Text 23"/>
          <p:cNvSpPr txBox="1"/>
          <p:nvPr/>
        </p:nvSpPr>
        <p:spPr>
          <a:xfrm>
            <a:off x="733349" y="6643116"/>
            <a:ext cx="55056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"How would you handle a step-change in maturity mid-quarter?"</a:t>
            </a:r>
            <a:endParaRPr lang="en-US" sz="1050" dirty="0"/>
          </a:p>
        </p:txBody>
      </p:sp>
      <p:sp>
        <p:nvSpPr>
          <p:cNvPr id="30" name="Text 24"/>
          <p:cNvSpPr txBox="1"/>
          <p:nvPr/>
        </p:nvSpPr>
        <p:spPr>
          <a:xfrm>
            <a:off x="733349" y="6925666"/>
            <a:ext cx="5795467"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"What evidence do you keep that the Board understood the caveat?"</a:t>
            </a:r>
            <a:endParaRPr lang="en-US" sz="1050" dirty="0"/>
          </a:p>
        </p:txBody>
      </p:sp>
      <p:sp>
        <p:nvSpPr>
          <p:cNvPr id="31" name="Shape 25"/>
          <p:cNvSpPr/>
          <p:nvPr/>
        </p:nvSpPr>
        <p:spPr>
          <a:xfrm>
            <a:off x="6629400" y="5524805"/>
            <a:ext cx="6096305" cy="3047695"/>
          </a:xfrm>
          <a:prstGeom prst="rect">
            <a:avLst/>
          </a:prstGeom>
          <a:solidFill>
            <a:srgbClr val="FFFFFF"/>
          </a:solidFill>
          <a:ln w="12700">
            <a:solidFill>
              <a:srgbClr val="D5DDE6"/>
            </a:solidFill>
            <a:prstDash val="solid"/>
          </a:ln>
        </p:spPr>
      </p:sp>
      <p:sp>
        <p:nvSpPr>
          <p:cNvPr id="32" name="Text 26"/>
          <p:cNvSpPr txBox="1"/>
          <p:nvPr/>
        </p:nvSpPr>
        <p:spPr>
          <a:xfrm>
            <a:off x="6638544" y="5533949"/>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a:t>
            </a:r>
            <a:endParaRPr lang="en-US" sz="975" dirty="0"/>
          </a:p>
        </p:txBody>
      </p:sp>
      <p:sp>
        <p:nvSpPr>
          <p:cNvPr id="33" name="Text 27"/>
          <p:cNvSpPr txBox="1"/>
          <p:nvPr/>
        </p:nvSpPr>
        <p:spPr>
          <a:xfrm>
            <a:off x="6829654" y="6077102"/>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38-item denominator covers every ISO 42001 clause plus Annex A controls - so the average is a whole-AIMS view, not a sample.</a:t>
            </a:r>
            <a:endParaRPr lang="en-US" sz="1050" dirty="0"/>
          </a:p>
        </p:txBody>
      </p:sp>
      <p:sp>
        <p:nvSpPr>
          <p:cNvPr id="34" name="Text 28"/>
          <p:cNvSpPr txBox="1"/>
          <p:nvPr/>
        </p:nvSpPr>
        <p:spPr>
          <a:xfrm>
            <a:off x="6829654" y="6547104"/>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Decisions Required is owned by a named executive and re-circulated at the cycle close.</a:t>
            </a:r>
            <a:endParaRPr lang="en-US" sz="1050" dirty="0"/>
          </a:p>
        </p:txBody>
      </p:sp>
      <p:sp>
        <p:nvSpPr>
          <p:cNvPr id="35" name="Text 29"/>
          <p:cNvSpPr txBox="1"/>
          <p:nvPr/>
        </p:nvSpPr>
        <p:spPr>
          <a:xfrm>
            <a:off x="6829654" y="6811366"/>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Step-changes are reflected in the Major Changes section - we treat the narrative as a living artefact, not a frozen file.</a:t>
            </a:r>
            <a:endParaRPr lang="en-US" sz="1050" dirty="0"/>
          </a:p>
        </p:txBody>
      </p:sp>
      <p:sp>
        <p:nvSpPr>
          <p:cNvPr id="36" name="Text 30"/>
          <p:cNvSpPr txBox="1"/>
          <p:nvPr/>
        </p:nvSpPr>
        <p:spPr>
          <a:xfrm>
            <a:off x="6829654" y="7282282"/>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Evidence of Board understanding is captured in minutes and referenced back via the ID Glossary hyperlinks.</a:t>
            </a:r>
            <a:endParaRPr lang="en-US" sz="1050" dirty="0"/>
          </a:p>
        </p:txBody>
      </p:sp>
      <p:sp>
        <p:nvSpPr>
          <p:cNvPr id="37" name="Text 31"/>
          <p:cNvSpPr txBox="1"/>
          <p:nvPr/>
        </p:nvSpPr>
        <p:spPr>
          <a:xfrm>
            <a:off x="533095" y="8762695"/>
            <a:ext cx="6096305"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direct FORM tab. Authored narrative that explains the dashboard to the Board.</a:t>
            </a:r>
            <a:endParaRPr lang="en-US" sz="900" dirty="0"/>
          </a:p>
        </p:txBody>
      </p:sp>
      <p:sp>
        <p:nvSpPr>
          <p:cNvPr id="38" name="Shape 32"/>
          <p:cNvSpPr/>
          <p:nvPr/>
        </p:nvSpPr>
        <p:spPr>
          <a:xfrm>
            <a:off x="533095" y="9334195"/>
            <a:ext cx="12191695" cy="857707"/>
          </a:xfrm>
          <a:prstGeom prst="rect">
            <a:avLst/>
          </a:prstGeom>
          <a:solidFill>
            <a:srgbClr val="F4F6FA"/>
          </a:solidFill>
          <a:ln/>
        </p:spPr>
      </p:sp>
      <p:sp>
        <p:nvSpPr>
          <p:cNvPr id="39" name="Shape 33"/>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0" name="Text 34"/>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"Board Pack Notes is the translation layer between the metrics and the Board. Every metric on the dashboard is paired here with what it tells the Board, how it is calculated, the source sheet and the cadence. That makes the dashboard auditable and explainable."</a:t>
            </a:r>
            <a:endParaRPr lang="en-US" sz="1013" dirty="0"/>
          </a:p>
        </p:txBody>
      </p:sp>
      <p:sp>
        <p:nvSpPr>
          <p:cNvPr id="41" name="Text 35"/>
          <p:cNvSpPr txBox="1"/>
          <p:nvPr/>
        </p:nvSpPr>
        <p:spPr>
          <a:xfrm>
            <a:off x="533095" y="171907"/>
            <a:ext cx="354604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02 / 57 - Board Pack Notes</a:t>
            </a:r>
            <a:endParaRPr lang="en-US" sz="900" dirty="0"/>
          </a:p>
        </p:txBody>
      </p:sp>
      <p:sp>
        <p:nvSpPr>
          <p:cNvPr id="42" name="Text 36"/>
          <p:cNvSpPr txBox="1"/>
          <p:nvPr/>
        </p:nvSpPr>
        <p:spPr>
          <a:xfrm>
            <a:off x="533095" y="362102"/>
            <a:ext cx="3860597"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Board Pack Notes - Q1 2026</a:t>
            </a:r>
            <a:endParaRPr lang="en-US" sz="1950" dirty="0"/>
          </a:p>
        </p:txBody>
      </p:sp>
      <p:sp>
        <p:nvSpPr>
          <p:cNvPr id="43" name="Text 37"/>
          <p:cNvSpPr txBox="1"/>
          <p:nvPr/>
        </p:nvSpPr>
        <p:spPr>
          <a:xfrm>
            <a:off x="16120872" y="342900"/>
            <a:ext cx="16386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Q1 2026</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Companion to Board Dashboard</a:t>
            </a:r>
            <a:endParaRPr lang="en-US" sz="900" dirty="0"/>
          </a:p>
        </p:txBody>
      </p:sp>
      <p:sp>
        <p:nvSpPr>
          <p:cNvPr id="44" name="Text 38"/>
          <p:cNvSpPr txBox="1"/>
          <p:nvPr/>
        </p:nvSpPr>
        <p:spPr>
          <a:xfrm>
            <a:off x="533095" y="1047902"/>
            <a:ext cx="5992063"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Size:</a:t>
            </a:r>
            <a:pPr algn="l" indent="0" marL="0">
              <a:buNone/>
            </a:pPr>
            <a:r>
              <a:rPr lang="en-US" sz="900" dirty="0">
                <a:solidFill>
                  <a:srgbClr val="5B6B82"/>
                </a:solidFill>
                <a:latin typeface="Inter" pitchFamily="34" charset="0"/>
                <a:ea typeface="Inter" pitchFamily="34" charset="-122"/>
                <a:cs typeface="Inter" pitchFamily="34" charset="-120"/>
              </a:rPr>
              <a:t> 49 rows x 8 columns</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board narrative companion</a:t>
            </a:r>
            <a:endParaRPr lang="en-US" sz="900" dirty="0"/>
          </a:p>
        </p:txBody>
      </p:sp>
      <p:sp>
        <p:nvSpPr>
          <p:cNvPr id="45" name="Text 39"/>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05 of 61 - Worksheet 02 / 57</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5989198" y="1047902"/>
            <a:ext cx="1772107"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06 / 61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03</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Forward-looking (leading) indicators that predict emerging risk before it materialises. These complement lagging indicators (incidents, losses) by providing early warning to the Board.</a:t>
            </a:r>
            <a:endParaRPr lang="en-US" sz="1200" dirty="0"/>
          </a:p>
        </p:txBody>
      </p:sp>
      <p:sp>
        <p:nvSpPr>
          <p:cNvPr id="12" name="Shape 6"/>
          <p:cNvSpPr/>
          <p:nvPr/>
        </p:nvSpPr>
        <p:spPr>
          <a:xfrm>
            <a:off x="533095" y="2857500"/>
            <a:ext cx="5905195" cy="2476195"/>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Columns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Shifts the Board conversation from </a:t>
            </a:r>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lagging to leading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Lead time per indicator sets the right tempo for early-warning discussions.</a:t>
            </a:r>
            <a:endParaRPr lang="en-US" sz="1050" dirty="0"/>
          </a:p>
        </p:txBody>
      </p:sp>
      <p:sp>
        <p:nvSpPr>
          <p:cNvPr id="15" name="Text 9"/>
          <p:cNvSpPr txBox="1"/>
          <p:nvPr/>
        </p:nvSpPr>
        <p:spPr>
          <a:xfrm>
            <a:off x="733349" y="388985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ID, Leading Indicator, Linked Risk, Current, Amber, Red, Target, Status, Trend, Predictive Signal, Lead Time, Owner, Escalation, Board Action if Breached.</a:t>
            </a:r>
            <a:endParaRPr lang="en-US" sz="1050" dirty="0"/>
          </a:p>
        </p:txBody>
      </p:sp>
      <p:sp>
        <p:nvSpPr>
          <p:cNvPr id="16" name="Text 10"/>
          <p:cNvSpPr txBox="1"/>
          <p:nvPr/>
        </p:nvSpPr>
        <p:spPr>
          <a:xfrm>
            <a:off x="733349" y="436991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indicator has a defined escalation and Board action if breached, which makes this a real early-warning instrument - not a static dashboard.</a:t>
            </a:r>
            <a:endParaRPr lang="en-US" sz="1050" dirty="0"/>
          </a:p>
        </p:txBody>
      </p:sp>
      <p:sp>
        <p:nvSpPr>
          <p:cNvPr id="17" name="Shape 11"/>
          <p:cNvSpPr/>
          <p:nvPr/>
        </p:nvSpPr>
        <p:spPr>
          <a:xfrm>
            <a:off x="6629400" y="2857500"/>
            <a:ext cx="6096305" cy="2476195"/>
          </a:xfrm>
          <a:prstGeom prst="rect">
            <a:avLst/>
          </a:prstGeom>
          <a:solidFill>
            <a:srgbClr val="FFFFFF"/>
          </a:solidFill>
          <a:ln w="12700">
            <a:solidFill>
              <a:srgbClr val="D5DDE6"/>
            </a:solidFill>
            <a:prstDash val="solid"/>
          </a:ln>
        </p:spPr>
      </p:sp>
      <p:sp>
        <p:nvSpPr>
          <p:cNvPr id="18" name="Text 12"/>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9" name="Text 13"/>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Derived tracker. Rolls up KRI Tracking, KPI Tracking, Risk Quantification, Maturity Assessment, Board Dashboard.</a:t>
            </a:r>
            <a:endParaRPr lang="en-US" sz="1050" dirty="0"/>
          </a:p>
        </p:txBody>
      </p:sp>
      <p:sp>
        <p:nvSpPr>
          <p:cNvPr id="20" name="Text 14"/>
          <p:cNvSpPr txBox="1"/>
          <p:nvPr/>
        </p:nvSpPr>
        <p:spPr>
          <a:xfrm>
            <a:off x="6829654" y="3880714"/>
            <a:ext cx="56967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Header row:</a:t>
            </a:r>
            <a:pPr algn="l" indent="0" marL="0">
              <a:buNone/>
            </a:pPr>
            <a:r>
              <a:rPr lang="en-US" sz="1050" dirty="0">
                <a:solidFill>
                  <a:srgbClr val="2A3A55"/>
                </a:solidFill>
                <a:latin typeface="Inter" pitchFamily="34" charset="0"/>
                <a:ea typeface="Inter" pitchFamily="34" charset="-122"/>
                <a:cs typeface="Inter" pitchFamily="34" charset="-120"/>
              </a:rPr>
              <a:t> 9.</a:t>
            </a:r>
            <a:endParaRPr lang="en-US" sz="1050" dirty="0"/>
          </a:p>
        </p:txBody>
      </p:sp>
      <p:sp>
        <p:nvSpPr>
          <p:cNvPr id="21" name="Text 15"/>
          <p:cNvSpPr txBox="1"/>
          <p:nvPr/>
        </p:nvSpPr>
        <p:spPr>
          <a:xfrm>
            <a:off x="6829654" y="4144061"/>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Sample formula rows: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KRI-001 to KRI-008 pulled by reference into Current and Amber/Red columns.</a:t>
            </a:r>
            <a:endParaRPr lang="en-US" sz="1050" dirty="0"/>
          </a:p>
        </p:txBody>
      </p:sp>
      <p:sp>
        <p:nvSpPr>
          <p:cNvPr id="22" name="Text 16"/>
          <p:cNvSpPr txBox="1"/>
          <p:nvPr/>
        </p:nvSpPr>
        <p:spPr>
          <a:xfrm>
            <a:off x="7666330" y="4614977"/>
            <a:ext cx="4860036"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Lead Time column is the unique early-warning feature.</a:t>
            </a:r>
            <a:endParaRPr lang="en-US" sz="1050" dirty="0"/>
          </a:p>
        </p:txBody>
      </p:sp>
      <p:sp>
        <p:nvSpPr>
          <p:cNvPr id="23" name="Shape 17"/>
          <p:cNvSpPr/>
          <p:nvPr/>
        </p:nvSpPr>
        <p:spPr>
          <a:xfrm>
            <a:off x="6829654" y="4614977"/>
            <a:ext cx="752551" cy="267005"/>
          </a:xfrm>
          <a:prstGeom prst="roundRect">
            <a:avLst>
              <a:gd name="adj" fmla="val 7192"/>
            </a:avLst>
          </a:prstGeom>
          <a:solidFill>
            <a:srgbClr val="FCF1DF"/>
          </a:solidFill>
          <a:ln w="12700">
            <a:solidFill>
              <a:srgbClr val="B8711E"/>
            </a:solidFill>
            <a:prstDash val="solid"/>
          </a:ln>
        </p:spPr>
      </p:sp>
      <p:sp>
        <p:nvSpPr>
          <p:cNvPr id="24" name="Text 18"/>
          <p:cNvSpPr txBox="1"/>
          <p:nvPr/>
        </p:nvSpPr>
        <p:spPr>
          <a:xfrm>
            <a:off x="6829654" y="4614977"/>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Callout</a:t>
            </a:r>
            <a:endParaRPr lang="en-US" sz="825" dirty="0"/>
          </a:p>
        </p:txBody>
      </p:sp>
      <p:sp>
        <p:nvSpPr>
          <p:cNvPr id="25" name="Shape 19"/>
          <p:cNvSpPr/>
          <p:nvPr/>
        </p:nvSpPr>
        <p:spPr>
          <a:xfrm>
            <a:off x="533095" y="5524805"/>
            <a:ext cx="5905195" cy="3047695"/>
          </a:xfrm>
          <a:prstGeom prst="rect">
            <a:avLst/>
          </a:prstGeom>
          <a:solidFill>
            <a:srgbClr val="FFFFFF"/>
          </a:solidFill>
          <a:ln w="12700">
            <a:solidFill>
              <a:srgbClr val="D5DDE6"/>
            </a:solidFill>
            <a:prstDash val="solid"/>
          </a:ln>
        </p:spPr>
      </p:sp>
      <p:sp>
        <p:nvSpPr>
          <p:cNvPr id="26" name="Text 20"/>
          <p:cNvSpPr txBox="1"/>
          <p:nvPr/>
        </p:nvSpPr>
        <p:spPr>
          <a:xfrm>
            <a:off x="543154" y="5533949"/>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Risks</a:t>
            </a:r>
            <a:endParaRPr lang="en-US" sz="975" dirty="0"/>
          </a:p>
        </p:txBody>
      </p:sp>
      <p:sp>
        <p:nvSpPr>
          <p:cNvPr id="27" name="Text 21"/>
          <p:cNvSpPr txBox="1"/>
          <p:nvPr/>
        </p:nvSpPr>
        <p:spPr>
          <a:xfrm>
            <a:off x="733349" y="6077102"/>
            <a:ext cx="55056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"Is this not just a re-skinned KRI sheet?"</a:t>
            </a:r>
            <a:endParaRPr lang="en-US" sz="1050" dirty="0"/>
          </a:p>
        </p:txBody>
      </p:sp>
      <p:sp>
        <p:nvSpPr>
          <p:cNvPr id="28" name="Text 22"/>
          <p:cNvSpPr txBox="1"/>
          <p:nvPr/>
        </p:nvSpPr>
        <p:spPr>
          <a:xfrm>
            <a:off x="733349" y="6359652"/>
            <a:ext cx="61914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"What's the difference between a leading indicator and a lagging one?"</a:t>
            </a:r>
            <a:endParaRPr lang="en-US" sz="1050" dirty="0"/>
          </a:p>
        </p:txBody>
      </p:sp>
      <p:sp>
        <p:nvSpPr>
          <p:cNvPr id="29" name="Text 23"/>
          <p:cNvSpPr txBox="1"/>
          <p:nvPr/>
        </p:nvSpPr>
        <p:spPr>
          <a:xfrm>
            <a:off x="733349" y="6643116"/>
            <a:ext cx="55056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"How do you prove predictive value?"</a:t>
            </a:r>
            <a:endParaRPr lang="en-US" sz="1050" dirty="0"/>
          </a:p>
        </p:txBody>
      </p:sp>
      <p:sp>
        <p:nvSpPr>
          <p:cNvPr id="30" name="Text 24"/>
          <p:cNvSpPr txBox="1"/>
          <p:nvPr/>
        </p:nvSpPr>
        <p:spPr>
          <a:xfrm>
            <a:off x="733349" y="6925666"/>
            <a:ext cx="5505602" cy="210312"/>
          </a:xfrm>
          <a:prstGeom prst="rect">
            <a:avLst/>
          </a:prstGeom>
          <a:noFill/>
          <a:ln/>
        </p:spPr>
        <p:txBody>
          <a:bodyPr wrap="none" lIns="0" tIns="0" rIns="0" bIns="0" rtlCol="0" anchor="ctr"/>
          <a:lstStyle/>
          <a:p>
            <a:pPr algn="l" indent="0" marL="0">
              <a:buNone/>
            </a:pPr>
            <a:r>
              <a:rPr lang="en-US" sz="1050" b="1" dirty="0">
                <a:solidFill>
                  <a:srgbClr val="9B2C2C"/>
                </a:solidFill>
                <a:latin typeface="Inter" pitchFamily="34" charset="0"/>
                <a:ea typeface="Inter" pitchFamily="34" charset="-122"/>
                <a:cs typeface="Inter" pitchFamily="34" charset="-120"/>
              </a:rPr>
              <a:t>Risk:</a:t>
            </a:r>
            <a:pPr algn="l" indent="0" marL="0">
              <a:buNone/>
            </a:pPr>
            <a:r>
              <a:rPr lang="en-US" sz="1050" dirty="0">
                <a:solidFill>
                  <a:srgbClr val="2A3A55"/>
                </a:solidFill>
                <a:latin typeface="Inter" pitchFamily="34" charset="0"/>
                <a:ea typeface="Inter" pitchFamily="34" charset="-122"/>
                <a:cs typeface="Inter" pitchFamily="34" charset="-120"/>
              </a:rPr>
              <a:t> "What happens when the early warning is ignored?"</a:t>
            </a:r>
            <a:endParaRPr lang="en-US" sz="1050" dirty="0"/>
          </a:p>
        </p:txBody>
      </p:sp>
      <p:sp>
        <p:nvSpPr>
          <p:cNvPr id="31" name="Shape 25"/>
          <p:cNvSpPr/>
          <p:nvPr/>
        </p:nvSpPr>
        <p:spPr>
          <a:xfrm>
            <a:off x="6629400" y="5524805"/>
            <a:ext cx="6096305" cy="3047695"/>
          </a:xfrm>
          <a:prstGeom prst="rect">
            <a:avLst/>
          </a:prstGeom>
          <a:solidFill>
            <a:srgbClr val="FFFFFF"/>
          </a:solidFill>
          <a:ln w="12700">
            <a:solidFill>
              <a:srgbClr val="D5DDE6"/>
            </a:solidFill>
            <a:prstDash val="solid"/>
          </a:ln>
        </p:spPr>
      </p:sp>
      <p:sp>
        <p:nvSpPr>
          <p:cNvPr id="32" name="Text 26"/>
          <p:cNvSpPr txBox="1"/>
          <p:nvPr/>
        </p:nvSpPr>
        <p:spPr>
          <a:xfrm>
            <a:off x="6638544" y="5533949"/>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a:t>
            </a:r>
            <a:endParaRPr lang="en-US" sz="975" dirty="0"/>
          </a:p>
        </p:txBody>
      </p:sp>
      <p:sp>
        <p:nvSpPr>
          <p:cNvPr id="33" name="Text 27"/>
          <p:cNvSpPr txBox="1"/>
          <p:nvPr/>
        </p:nvSpPr>
        <p:spPr>
          <a:xfrm>
            <a:off x="6829654" y="6077102"/>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It is the same data flow but with Lead Time, Predictive Signal and Board Action columns added - those are what makes it a leading view, not a re-skin.</a:t>
            </a:r>
            <a:endParaRPr lang="en-US" sz="1050" dirty="0"/>
          </a:p>
        </p:txBody>
      </p:sp>
      <p:sp>
        <p:nvSpPr>
          <p:cNvPr id="34" name="Text 28"/>
          <p:cNvSpPr txBox="1"/>
          <p:nvPr/>
        </p:nvSpPr>
        <p:spPr>
          <a:xfrm>
            <a:off x="6829654" y="6547104"/>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 lagging metric counts an outcome that already happened. A leading metric signals the precursor - drift detection, missing assurance, breach of an SLA trend.</a:t>
            </a:r>
            <a:endParaRPr lang="en-US" sz="1050" dirty="0"/>
          </a:p>
        </p:txBody>
      </p:sp>
      <p:sp>
        <p:nvSpPr>
          <p:cNvPr id="35" name="Text 29"/>
          <p:cNvSpPr txBox="1"/>
          <p:nvPr/>
        </p:nvSpPr>
        <p:spPr>
          <a:xfrm>
            <a:off x="6829654" y="701802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Predictive value comes from post-incident reviews - we tag each PIR with the leading indicator that should have fired.</a:t>
            </a:r>
            <a:endParaRPr lang="en-US" sz="1050" dirty="0"/>
          </a:p>
        </p:txBody>
      </p:sp>
      <p:sp>
        <p:nvSpPr>
          <p:cNvPr id="36" name="Text 30"/>
          <p:cNvSpPr txBox="1"/>
          <p:nvPr/>
        </p:nvSpPr>
        <p:spPr>
          <a:xfrm>
            <a:off x="6829654" y="7488936"/>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Board Action if Breached is the contractual answer: each indicator names the action and the escalation owner.</a:t>
            </a:r>
            <a:endParaRPr lang="en-US" sz="1050" dirty="0"/>
          </a:p>
        </p:txBody>
      </p:sp>
      <p:sp>
        <p:nvSpPr>
          <p:cNvPr id="37" name="Text 31"/>
          <p:cNvSpPr txBox="1"/>
          <p:nvPr/>
        </p:nvSpPr>
        <p:spPr>
          <a:xfrm>
            <a:off x="533095" y="8762695"/>
            <a:ext cx="6096305" cy="495605"/>
          </a:xfrm>
          <a:prstGeom prst="rect">
            <a:avLst/>
          </a:prstGeom>
          <a:solidFill>
            <a:srgbClr val="0E1A2B"/>
          </a:solidFill>
          <a:ln>
            <a:solidFill>
              <a:srgbClr val="FFFFFF">
                <a:alpha val="0"/>
              </a:srgbClr>
            </a:solidFill>
          </a:ln>
        </p:spPr>
        <p:txBody>
          <a:bodyPr wrap="squar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FORM - KRI Tracking supplies the indicator backbone; FORM - KPI Tracking adds lagging context.</a:t>
            </a:r>
            <a:endParaRPr lang="en-US" sz="900" dirty="0"/>
          </a:p>
        </p:txBody>
      </p:sp>
      <p:sp>
        <p:nvSpPr>
          <p:cNvPr id="38" name="Shape 32"/>
          <p:cNvSpPr/>
          <p:nvPr/>
        </p:nvSpPr>
        <p:spPr>
          <a:xfrm>
            <a:off x="533095" y="9334195"/>
            <a:ext cx="12191695" cy="857707"/>
          </a:xfrm>
          <a:prstGeom prst="rect">
            <a:avLst/>
          </a:prstGeom>
          <a:solidFill>
            <a:srgbClr val="F4F6FA"/>
          </a:solidFill>
          <a:ln/>
        </p:spPr>
      </p:sp>
      <p:sp>
        <p:nvSpPr>
          <p:cNvPr id="39" name="Shape 33"/>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0" name="Text 34"/>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"This is the early-warning half of the portfolio. Each indicator has a Lead Time field - that's the difference between this and a KRI sheet. If a leading indicator breaches, we have days or weeks to act instead of a loss event already on the ledger."</a:t>
            </a:r>
            <a:endParaRPr lang="en-US" sz="1013" dirty="0"/>
          </a:p>
        </p:txBody>
      </p:sp>
      <p:sp>
        <p:nvSpPr>
          <p:cNvPr id="41" name="Text 35"/>
          <p:cNvSpPr txBox="1"/>
          <p:nvPr/>
        </p:nvSpPr>
        <p:spPr>
          <a:xfrm>
            <a:off x="533095" y="171907"/>
            <a:ext cx="402610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03 / 57 - Board KPI-KRI Tracker</a:t>
            </a:r>
            <a:endParaRPr lang="en-US" sz="900" dirty="0"/>
          </a:p>
        </p:txBody>
      </p:sp>
      <p:sp>
        <p:nvSpPr>
          <p:cNvPr id="42" name="Text 36"/>
          <p:cNvSpPr txBox="1"/>
          <p:nvPr/>
        </p:nvSpPr>
        <p:spPr>
          <a:xfrm>
            <a:off x="533095" y="362102"/>
            <a:ext cx="73819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Board KPI-KRI Tracker - Leading Indicators for AI Security</a:t>
            </a:r>
            <a:endParaRPr lang="en-US" sz="1950" dirty="0"/>
          </a:p>
        </p:txBody>
      </p:sp>
      <p:sp>
        <p:nvSpPr>
          <p:cNvPr id="43" name="Text 37"/>
          <p:cNvSpPr txBox="1"/>
          <p:nvPr/>
        </p:nvSpPr>
        <p:spPr>
          <a:xfrm>
            <a:off x="16236086" y="342900"/>
            <a:ext cx="15243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Q1 2026</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Forward-looking, leading view</a:t>
            </a:r>
            <a:endParaRPr lang="en-US" sz="900" dirty="0"/>
          </a:p>
        </p:txBody>
      </p:sp>
      <p:sp>
        <p:nvSpPr>
          <p:cNvPr id="44" name="Text 38"/>
          <p:cNvSpPr txBox="1"/>
          <p:nvPr/>
        </p:nvSpPr>
        <p:spPr>
          <a:xfrm>
            <a:off x="533095" y="1047902"/>
            <a:ext cx="6029554"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Size:</a:t>
            </a:r>
            <a:pPr algn="l" indent="0" marL="0">
              <a:buNone/>
            </a:pPr>
            <a:r>
              <a:rPr lang="en-US" sz="900" dirty="0">
                <a:solidFill>
                  <a:srgbClr val="5B6B82"/>
                </a:solidFill>
                <a:latin typeface="Inter" pitchFamily="34" charset="0"/>
                <a:ea typeface="Inter" pitchFamily="34" charset="-122"/>
                <a:cs typeface="Inter" pitchFamily="34" charset="-120"/>
              </a:rPr>
              <a:t> 57 rows x 14 columns</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tracker (leading indicators)</a:t>
            </a:r>
            <a:endParaRPr lang="en-US" sz="900" dirty="0"/>
          </a:p>
        </p:txBody>
      </p:sp>
      <p:sp>
        <p:nvSpPr>
          <p:cNvPr id="45" name="Text 39"/>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06 of 61 - Worksheet 03 / 57</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04</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Tracks AIMS internal audits (Clause 9.2), management reviews (Clause 9.3), corrective actions and effectiveness reviews (Clause 10.1, 10.2) and continual improvement.</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Audit ID, Audit Title/Scope, Clause, Lead Auditor, Status, Date, Findings, Major NCs, Minor NCs, Observations, Key Finding Summary, Linked CA.</a:t>
            </a:r>
            <a:endParaRPr lang="en-US" sz="1050" dirty="0"/>
          </a:p>
        </p:txBody>
      </p:sp>
      <p:sp>
        <p:nvSpPr>
          <p:cNvPr id="15" name="Text 9"/>
          <p:cNvSpPr txBox="1"/>
          <p:nvPr/>
        </p:nvSpPr>
        <p:spPr>
          <a:xfrm>
            <a:off x="733349" y="3880714"/>
            <a:ext cx="5505602" cy="629107"/>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Maps internal audit and management review cadence to ISO 42001 Clauses 9.2 and 9.3 - the AIMS effectiveness evidence base. CAE-led audits close into corrective actions on Clauses 10.1 and 10.2.</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FORM - Mgmt Review and Audit - direct 1:1 form pairing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AUDIT-001 AIMS Governance (4 findings, 1 major). AUDIT-004 Cloud and IAM by KPMG - external assurance escalates to Clause 9.2 effectiveness.</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keep audit findings linked to corrective actions and avoid the closure loop weakening?</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11466" y="5171846"/>
            <a:ext cx="4914900"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row pairs Lead Auditor with Clause coverage and Major NC plus Linked CA - the corrective action closure loop.</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AUDIT-004 closed by KPMG with 2 findings - external assurance rises to Clause 9.2 effectiveness; AUDIT-003 Third-Party AI Oversight gives procurement defensible evidence.</a:t>
            </a:r>
            <a:endParaRPr lang="en-US" sz="1050" dirty="0"/>
          </a:p>
        </p:txBody>
      </p:sp>
      <p:sp>
        <p:nvSpPr>
          <p:cNvPr id="31" name="Shape 25"/>
          <p:cNvSpPr/>
          <p:nvPr/>
        </p:nvSpPr>
        <p:spPr>
          <a:xfrm>
            <a:off x="6829654" y="5171846"/>
            <a:ext cx="6949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958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CA LINK</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row pairs a named Lead Auditor with Clause coverage in the ISO 42001 structure, Major NC count and the Linked CA - the columns that close the audit loop to Clause 10.1.</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treat external assurance as well as internal CAE coverage: AUDIT-004 Cloud and IAM by KPMG brings independent evidence the AIMS reaches Clause 9.2 effectiveness.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Effectiveness review sits under Clause 10.1 and 10.2. Findings plus Linked CAs feed continual improvement - the AIMS does not stop at closure.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FORM - Mgmt Review and Audit - direct 1:1 form pairing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"Management Review is the AIMS effectiveness evidence. Every audit has a named Lead Auditor, clause coverage in the ISO 42001 structure, and the Linked CA that makes Clause 10.1 auditable. External assurance like AUDIT-004 KPMG is what proves Clause 9.2 effectiveness to the panel."</a:t>
            </a:r>
            <a:endParaRPr lang="en-US" sz="1013" dirty="0"/>
          </a:p>
        </p:txBody>
      </p:sp>
      <p:sp>
        <p:nvSpPr>
          <p:cNvPr id="42" name="Text 36"/>
          <p:cNvSpPr txBox="1"/>
          <p:nvPr/>
        </p:nvSpPr>
        <p:spPr>
          <a:xfrm>
            <a:off x="533095" y="171907"/>
            <a:ext cx="546628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04 / 57 - Management Review and Internal Audit</a:t>
            </a:r>
            <a:endParaRPr lang="en-US" sz="900" dirty="0"/>
          </a:p>
        </p:txBody>
      </p:sp>
      <p:sp>
        <p:nvSpPr>
          <p:cNvPr id="43" name="Text 37"/>
          <p:cNvSpPr txBox="1"/>
          <p:nvPr/>
        </p:nvSpPr>
        <p:spPr>
          <a:xfrm>
            <a:off x="533095" y="362102"/>
            <a:ext cx="97822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Management Review and Internal Audit Tracker - AIMS Effectiveness Evidence</a:t>
            </a:r>
            <a:endParaRPr lang="en-US" sz="1950" dirty="0"/>
          </a:p>
        </p:txBody>
      </p:sp>
      <p:sp>
        <p:nvSpPr>
          <p:cNvPr id="44" name="Text 38"/>
          <p:cNvSpPr txBox="1"/>
          <p:nvPr/>
        </p:nvSpPr>
        <p:spPr>
          <a:xfrm>
            <a:off x="15535656" y="342900"/>
            <a:ext cx="22201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04 - AIMS Effectiveness Evidence</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07 of 61 - Worksheet 04 / 57</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05</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Formula-driven control tower for AI governance, risk, security, services, incidents, audit readiness, evidence, vendor assurance, roadmap and budget.</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Active AI Use Cases, Tier 1 Critical Use Cases, ISO 42001 Audit Readiness, Maturity Score Pct of Target, High or Critical Residual Risks, KRI Breaches Red, Open Incidents.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single page the CRO and CDO look at every Monday morning. Tiles count approved use cases, Tier 1 use cases, ISO 42001 readiness, residual risk, KRI breaches, open incidents.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Derived operational control tower. Rolls up AI Use Case Register, Risk Quantification, KRI Tracking, Incident Analysis, Maturity Assessment, KPI Tracking, Third-Party Risk Services, Implementation Roadmap.</a:t>
            </a:r>
            <a:endParaRPr lang="en-US" sz="1050" dirty="0"/>
          </a:p>
        </p:txBody>
      </p:sp>
      <p:sp>
        <p:nvSpPr>
          <p:cNvPr id="19" name="Text 13"/>
          <p:cNvSpPr txBox="1"/>
          <p:nvPr/>
        </p:nvSpPr>
        <p:spPr>
          <a:xfrm>
            <a:off x="7666330" y="4087368"/>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Tile formulas: COUNTIF(approved), COUNTIF(Tier 1), AVERAGE(ISO readiness)/3, high residual risks, KRI breaches, open incidents.</a:t>
            </a:r>
            <a:endParaRPr lang="en-US" sz="1050" dirty="0"/>
          </a:p>
        </p:txBody>
      </p:sp>
      <p:sp>
        <p:nvSpPr>
          <p:cNvPr id="20" name="Shape 14"/>
          <p:cNvSpPr/>
          <p:nvPr/>
        </p:nvSpPr>
        <p:spPr>
          <a:xfrm>
            <a:off x="6829654" y="4087368"/>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4087368"/>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keep this dashboard honest, and what do you do when a tile is "wrong-shaped" but right in trend?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46874" y="5171846"/>
            <a:ext cx="5079492"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No tile is narrative - every tile is one formula and one owner. That is the explainability discipline.</a:t>
            </a:r>
            <a:endParaRPr lang="en-US" sz="1050" dirty="0"/>
          </a:p>
        </p:txBody>
      </p:sp>
      <p:sp>
        <p:nvSpPr>
          <p:cNvPr id="30" name="Text 24"/>
          <p:cNvSpPr txBox="1"/>
          <p:nvPr/>
        </p:nvSpPr>
        <p:spPr>
          <a:xfrm>
            <a:off x="6829654" y="5693969"/>
            <a:ext cx="5696712" cy="629107"/>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Dashboard pairs leadership cards to formula tiles - same residual scores, same KPI thresholds, same KRI breaches. The trend caveat from the Metrics Calc Guide pre-empts noise questions.</a:t>
            </a:r>
            <a:endParaRPr lang="en-US" sz="1050" dirty="0"/>
          </a:p>
        </p:txBody>
      </p:sp>
      <p:sp>
        <p:nvSpPr>
          <p:cNvPr id="31" name="Shape 25"/>
          <p:cNvSpPr/>
          <p:nvPr/>
        </p:nvSpPr>
        <p:spPr>
          <a:xfrm>
            <a:off x="6829654" y="5171846"/>
            <a:ext cx="5239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239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TILES</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Dashboard pulls everything by formula - approved use cases, Tier 1 count, ISO 42001 readiness, KRI breaches, open incidents. Each tile is one formula and one named owner.</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treat the Dashboard as the single control tower for leadership and the operations log for the AI Security function - the same dataset, two reading speeds.</a:t>
            </a:r>
            <a:endParaRPr lang="en-US" sz="1088" dirty="0"/>
          </a:p>
        </p:txBody>
      </p:sp>
      <p:sp>
        <p:nvSpPr>
          <p:cNvPr id="37" name="Text 31"/>
          <p:cNvSpPr txBox="1"/>
          <p:nvPr/>
        </p:nvSpPr>
        <p:spPr>
          <a:xfrm>
            <a:off x="733349" y="776234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Honesty comes from the formula link to Risk Quantification and the trend caveat in the Metrics Calc Guide - the dashboard does not invent numbers. Investors and supervisors can re-run the same math.</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Derived operational control tower - no 1:1 form tab. Rolls up Use Case Register, Risk, KRI, KPI, Incident, Maturity, Third-Party Risk and Roadmap.</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Dashboard pulls everything by formula. Approved use cases, Tier 1 count, ISO 42001 readiness, KRI breaches, open incidents - each tile is one formula and one named owner. That is the explainability discipline a panel expects from a control tower."</a:t>
            </a:r>
            <a:endParaRPr lang="en-US" sz="1013" dirty="0"/>
          </a:p>
        </p:txBody>
      </p:sp>
      <p:sp>
        <p:nvSpPr>
          <p:cNvPr id="42" name="Text 36"/>
          <p:cNvSpPr txBox="1"/>
          <p:nvPr/>
        </p:nvSpPr>
        <p:spPr>
          <a:xfrm>
            <a:off x="533095" y="171907"/>
            <a:ext cx="2862986"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05 / 57 - Dashboard</a:t>
            </a:r>
            <a:endParaRPr lang="en-US" sz="900" dirty="0"/>
          </a:p>
        </p:txBody>
      </p:sp>
      <p:sp>
        <p:nvSpPr>
          <p:cNvPr id="43" name="Text 37"/>
          <p:cNvSpPr txBox="1"/>
          <p:nvPr/>
        </p:nvSpPr>
        <p:spPr>
          <a:xfrm>
            <a:off x="533095" y="362102"/>
            <a:ext cx="74395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Dashboard - AI Security Manager Executive Control Tower</a:t>
            </a:r>
            <a:endParaRPr lang="en-US" sz="1950" dirty="0"/>
          </a:p>
        </p:txBody>
      </p:sp>
      <p:sp>
        <p:nvSpPr>
          <p:cNvPr id="44" name="Text 38"/>
          <p:cNvSpPr txBox="1"/>
          <p:nvPr/>
        </p:nvSpPr>
        <p:spPr>
          <a:xfrm>
            <a:off x="15749626" y="342900"/>
            <a:ext cx="200985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05 - Executive Control Tower</a:t>
            </a:r>
            <a:endParaRPr lang="en-US" sz="900" dirty="0"/>
          </a:p>
        </p:txBody>
      </p:sp>
      <p:sp>
        <p:nvSpPr>
          <p:cNvPr id="45" name="Text 39"/>
          <p:cNvSpPr txBox="1"/>
          <p:nvPr/>
        </p:nvSpPr>
        <p:spPr>
          <a:xfrm>
            <a:off x="533095" y="1047902"/>
            <a:ext cx="349940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08 of 61 - Worksheet 05 / 57</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09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06</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Quarterly leadership view of AI security, governance, risk, audit readiness, evidence and roadmap. Audience: Board, ExCo, Risk Committee.</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795467"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Key columns:</a:t>
            </a:r>
            <a:pPr algn="l" indent="0" marL="0">
              <a:buNone/>
            </a:pPr>
            <a:r>
              <a:rPr lang="en-US" sz="1050" dirty="0">
                <a:solidFill>
                  <a:srgbClr val="2A3A55"/>
                </a:solidFill>
                <a:latin typeface="Inter" pitchFamily="34" charset="0"/>
                <a:ea typeface="Inter" pitchFamily="34" charset="-122"/>
                <a:cs typeface="Inter" pitchFamily="34" charset="-120"/>
              </a:rPr>
              <a:t> Risk ID, Risk, Residual Score, Exposure, Treatment, Owner.</a:t>
            </a:r>
            <a:endParaRPr lang="en-US" sz="1050" dirty="0"/>
          </a:p>
        </p:txBody>
      </p:sp>
      <p:sp>
        <p:nvSpPr>
          <p:cNvPr id="15" name="Text 9"/>
          <p:cNvSpPr txBox="1"/>
          <p:nvPr/>
        </p:nvSpPr>
        <p:spPr>
          <a:xfrm>
            <a:off x="733349" y="3674059"/>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Pairs to the Board Dashboard via formula - same RSK IDs, same residual scoring, same owners, in narrative form.</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Derived narrative report sourced by formula from Dashboard and core operational sheets.</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RSK-011 Regulatory breach (Consumer Duty, fairness, FCA) Mitigate Owner Rebecca Lloyd. RSK-001 Model performance drift Mohammed Iqbal.</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does the Executive Report repeat what the Board Dashboard already says - and what is the value of a narrative reading?</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99832" y="5171846"/>
            <a:ext cx="4726534"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Executive Report is the same data in narrative form - the report that the ExCo chair can read and absorb themes quickly.</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Residual scores, exposures and named owners tie this sheet back to Risk Quantification by formula.</a:t>
            </a:r>
            <a:endParaRPr lang="en-US" sz="1050" dirty="0"/>
          </a:p>
        </p:txBody>
      </p:sp>
      <p:sp>
        <p:nvSpPr>
          <p:cNvPr id="31" name="Shape 25"/>
          <p:cNvSpPr/>
          <p:nvPr/>
        </p:nvSpPr>
        <p:spPr>
          <a:xfrm>
            <a:off x="6829654" y="5171846"/>
            <a:ext cx="88605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886054"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NARRATIVE</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The Executive Report is the narrative reading of the same Risk Quantification data the Board Dashboard already shows - same risks, same scores, same owners, board-paper language instead of tile form.</a:t>
            </a:r>
            <a:endParaRPr lang="en-US" sz="1088" dirty="0"/>
          </a:p>
        </p:txBody>
      </p:sp>
      <p:sp>
        <p:nvSpPr>
          <p:cNvPr id="36" name="Text 30"/>
          <p:cNvSpPr txBox="1"/>
          <p:nvPr/>
        </p:nvSpPr>
        <p:spPr>
          <a:xfrm>
            <a:off x="733349" y="7704734"/>
            <a:ext cx="12462358"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write the Executive Report so that the Risk Committee chair can read it in one sitting - themes, decisions and owners, no multi-tile triangulation.</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Pair each residual score with the named owner so a Supervisory reader sees the SMCR accountability answer pre-formatted.</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Derived narrative report sourced from Dashboard and core operational sheets. No direct FORM tab.</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"Executive Report is the narrative reading of the Board Dashboard - same Risk Quantification data, same owners, just in board-paper language instead of tile form. That is what ExCo wants delivered every quarter."</a:t>
            </a:r>
            <a:endParaRPr lang="en-US" sz="1013" dirty="0"/>
          </a:p>
        </p:txBody>
      </p:sp>
      <p:sp>
        <p:nvSpPr>
          <p:cNvPr id="42" name="Text 36"/>
          <p:cNvSpPr txBox="1"/>
          <p:nvPr/>
        </p:nvSpPr>
        <p:spPr>
          <a:xfrm>
            <a:off x="533095" y="171907"/>
            <a:ext cx="354604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06 / 57 - Executive Report</a:t>
            </a:r>
            <a:endParaRPr lang="en-US" sz="900" dirty="0"/>
          </a:p>
        </p:txBody>
      </p:sp>
      <p:sp>
        <p:nvSpPr>
          <p:cNvPr id="43" name="Text 37"/>
          <p:cNvSpPr txBox="1"/>
          <p:nvPr/>
        </p:nvSpPr>
        <p:spPr>
          <a:xfrm>
            <a:off x="533095" y="362102"/>
            <a:ext cx="649681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Executive Report - Quarterly Leadership Narrative</a:t>
            </a:r>
            <a:endParaRPr lang="en-US" sz="1950" dirty="0"/>
          </a:p>
        </p:txBody>
      </p:sp>
      <p:sp>
        <p:nvSpPr>
          <p:cNvPr id="44" name="Text 38"/>
          <p:cNvSpPr txBox="1"/>
          <p:nvPr/>
        </p:nvSpPr>
        <p:spPr>
          <a:xfrm>
            <a:off x="15991027" y="342900"/>
            <a:ext cx="1772107"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06 - Quarterly Narrative</a:t>
            </a:r>
            <a:endParaRPr lang="en-US" sz="900" dirty="0"/>
          </a:p>
        </p:txBody>
      </p:sp>
      <p:sp>
        <p:nvSpPr>
          <p:cNvPr id="45" name="Text 39"/>
          <p:cNvSpPr txBox="1"/>
          <p:nvPr/>
        </p:nvSpPr>
        <p:spPr>
          <a:xfrm>
            <a:off x="533095" y="1047902"/>
            <a:ext cx="349940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09 of 61 - Worksheet 06 / 57</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02838"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07</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Target operating model for AI security and governance in a mid-sized UK insurer. Ratified by AI Governance Forum. Reviewed annually. Inspired by ISO 42001, PRA SS1/23, NIST AI RMF and FCA.</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Pillar ID, Pillar, Outcome, Linked Strategic Objective, Linked Capability, Lead Owner, Primary Forum.</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Maps capabilities to strategic objectives - the operating-model discipline. Each pillar has lead owner and primary forum.</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Strategic narrative / operating model sheet authored directly in populated workbook.</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PIL-03 Model Integrity Fairness owned by Mohammed Iqbal, Model Risk Committee. PIL-04 Threat Detection and Resilience owned by CISO.</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no 1:1 form for the TOM, and how do you keep the pillars from drifting year over year?</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41057" y="5171846"/>
            <a:ext cx="4985309"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TOM is the strategic narrative. Pillars PIL-01 to PIL-09 tie every capability to a strategic objective, a lead owner and a primary forum.</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Defensible to the Board and the regulator because each pillar carries a single Lead Owner and a single Primary Forum - the SMCR map.</a:t>
            </a:r>
            <a:endParaRPr lang="en-US" sz="1050" dirty="0"/>
          </a:p>
        </p:txBody>
      </p:sp>
      <p:sp>
        <p:nvSpPr>
          <p:cNvPr id="31" name="Shape 25"/>
          <p:cNvSpPr/>
          <p:nvPr/>
        </p:nvSpPr>
        <p:spPr>
          <a:xfrm>
            <a:off x="6829654" y="5171846"/>
            <a:ext cx="619049"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19963"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PILLAR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The TOM is where AI strategy and operating model meet. Each pillar bridges a strategic objective to capabilities, lead owners and forums - the discipline an operating model needs to survive Board challenge.</a:t>
            </a:r>
            <a:endParaRPr lang="en-US" sz="1088" dirty="0"/>
          </a:p>
        </p:txBody>
      </p:sp>
      <p:sp>
        <p:nvSpPr>
          <p:cNvPr id="36" name="Text 30"/>
          <p:cNvSpPr txBox="1"/>
          <p:nvPr/>
        </p:nvSpPr>
        <p:spPr>
          <a:xfrm>
            <a:off x="733349" y="7704734"/>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Pillars PIL-01 to PIL-09 each carry a single Lead Owner and a single Primary Forum, so the SMCR map is in the column structure itself - the panel does not have to hunt for accountability.</a:t>
            </a:r>
            <a:endParaRPr lang="en-US" sz="1088" dirty="0"/>
          </a:p>
        </p:txBody>
      </p:sp>
      <p:sp>
        <p:nvSpPr>
          <p:cNvPr id="37" name="Text 31"/>
          <p:cNvSpPr txBox="1"/>
          <p:nvPr/>
        </p:nvSpPr>
        <p:spPr>
          <a:xfrm>
            <a:off x="733349" y="7976311"/>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treat the TOM as an annual artefact ratifiable by the AI Governance Forum - reviewed every 12 months, refreshed when a strategic objective changes, never a quiet slide that drifts.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Strategic narrative authored directly in populated workbook.</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TOM is where AI strategy and operating model meet. Each pillar bridges a strategic objective to capabilities, lead owners and forums - the discipline an operating model needs to survive Board challenge and the SMCR map a panel expects."</a:t>
            </a:r>
            <a:endParaRPr lang="en-US" sz="1013" dirty="0"/>
          </a:p>
        </p:txBody>
      </p:sp>
      <p:sp>
        <p:nvSpPr>
          <p:cNvPr id="42" name="Text 36"/>
          <p:cNvSpPr txBox="1"/>
          <p:nvPr/>
        </p:nvSpPr>
        <p:spPr>
          <a:xfrm>
            <a:off x="533095" y="171907"/>
            <a:ext cx="354604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07 / 57 - TOM and Strategy</a:t>
            </a:r>
            <a:endParaRPr lang="en-US" sz="900" dirty="0"/>
          </a:p>
        </p:txBody>
      </p:sp>
      <p:sp>
        <p:nvSpPr>
          <p:cNvPr id="43" name="Text 37"/>
          <p:cNvSpPr txBox="1"/>
          <p:nvPr/>
        </p:nvSpPr>
        <p:spPr>
          <a:xfrm>
            <a:off x="533095" y="362102"/>
            <a:ext cx="6210605"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TOM and Strategy - Target Operating Model V3</a:t>
            </a:r>
            <a:endParaRPr lang="en-US" sz="1950" dirty="0"/>
          </a:p>
        </p:txBody>
      </p:sp>
      <p:sp>
        <p:nvSpPr>
          <p:cNvPr id="44" name="Text 38"/>
          <p:cNvSpPr txBox="1"/>
          <p:nvPr/>
        </p:nvSpPr>
        <p:spPr>
          <a:xfrm>
            <a:off x="16088868" y="342900"/>
            <a:ext cx="166695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07 - Operating Model</a:t>
            </a:r>
            <a:endParaRPr lang="en-US" sz="900" dirty="0"/>
          </a:p>
        </p:txBody>
      </p:sp>
      <p:sp>
        <p:nvSpPr>
          <p:cNvPr id="45" name="Text 39"/>
          <p:cNvSpPr txBox="1"/>
          <p:nvPr/>
        </p:nvSpPr>
        <p:spPr>
          <a:xfrm>
            <a:off x="533095" y="1047902"/>
            <a:ext cx="349940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10 of 61 - Worksheet 07 / 57</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7468"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08</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Index of capabilities, processes, owners and linked controls and metrics with hyperlinks to every sheet in the workbook. Use this sheet as the central navigation hub.</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Workbook Section, Sheet, Capability/Purpose, Owner, Linked Control Family, Key KPI/KRI, Open Sheet.</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The integrity layer for navigation. If a sheet name drifts, the hyperlinks break visibly.</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Navigation and cross-reference sheet authored directly in populated workbook.</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Executive Overview Dashboard is the AI Security Manager's view. Strategy and Vision TOM and Strategy and TOM Index pair as the strategy spine.</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What happens if a sheet name drifts and how does the integrity layer detect it?</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01738" y="5171846"/>
            <a:ext cx="5024628"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Hyperlinks break visibly when sheet names drift - that is the audit-grade integrity check.</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Workbook sections are: Executive Overview, Strategy and Vision, Governance and Risk, AI Use Cases and Services, Risk and Control, Service Delivery, Financials and Resilience.</a:t>
            </a:r>
            <a:endParaRPr lang="en-US" sz="1050" dirty="0"/>
          </a:p>
        </p:txBody>
      </p:sp>
      <p:sp>
        <p:nvSpPr>
          <p:cNvPr id="31" name="Shape 25"/>
          <p:cNvSpPr/>
          <p:nvPr/>
        </p:nvSpPr>
        <p:spPr>
          <a:xfrm>
            <a:off x="6829654" y="5171846"/>
            <a:ext cx="5806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815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INDEX</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TOM Index is the integrity layer for navigation. If a sheet name drifts the hyperlink breaks visibly - the workbook stops pretending to be navigable when it stops being so.</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Index tags every sheet to a Workbook Section and a Linked Control Family - so a panel can answer "where is Consumer Duty owned?" without opening three different tabs.</a:t>
            </a:r>
            <a:endParaRPr lang="en-US" sz="1088" dirty="0"/>
          </a:p>
        </p:txBody>
      </p:sp>
      <p:sp>
        <p:nvSpPr>
          <p:cNvPr id="37" name="Text 31"/>
          <p:cNvSpPr txBox="1"/>
          <p:nvPr/>
        </p:nvSpPr>
        <p:spPr>
          <a:xfrm>
            <a:off x="733349" y="7762342"/>
            <a:ext cx="1213043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use the TOM Index as the entry point for the new joiner - the workbook tour starts here, and it explains where each chapter of the story lives.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Navigation sheet authored directly in populated workbook.</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TOM Index is the integrity layer. If a sheet name drifts the hyperlink breaks visibly. The workbook stops pretending to be navigable when it stops being so - that is the audit-grade discipline a panel expects."</a:t>
            </a:r>
            <a:endParaRPr lang="en-US" sz="1013" dirty="0"/>
          </a:p>
        </p:txBody>
      </p:sp>
      <p:sp>
        <p:nvSpPr>
          <p:cNvPr id="42" name="Text 36"/>
          <p:cNvSpPr txBox="1"/>
          <p:nvPr/>
        </p:nvSpPr>
        <p:spPr>
          <a:xfrm>
            <a:off x="533095" y="171907"/>
            <a:ext cx="286024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08 / 57 - TOM Index</a:t>
            </a:r>
            <a:endParaRPr lang="en-US" sz="900" dirty="0"/>
          </a:p>
        </p:txBody>
      </p:sp>
      <p:sp>
        <p:nvSpPr>
          <p:cNvPr id="43" name="Text 37"/>
          <p:cNvSpPr txBox="1"/>
          <p:nvPr/>
        </p:nvSpPr>
        <p:spPr>
          <a:xfrm>
            <a:off x="533095" y="362102"/>
            <a:ext cx="7239305"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TOM Index - Workbook Navigation and Cross-Reference</a:t>
            </a:r>
            <a:endParaRPr lang="en-US" sz="1950" dirty="0"/>
          </a:p>
        </p:txBody>
      </p:sp>
      <p:sp>
        <p:nvSpPr>
          <p:cNvPr id="44" name="Text 38"/>
          <p:cNvSpPr txBox="1"/>
          <p:nvPr/>
        </p:nvSpPr>
        <p:spPr>
          <a:xfrm>
            <a:off x="16160191" y="342900"/>
            <a:ext cx="16002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08 - Navigation Hub</a:t>
            </a:r>
            <a:endParaRPr lang="en-US" sz="900" dirty="0"/>
          </a:p>
        </p:txBody>
      </p:sp>
      <p:sp>
        <p:nvSpPr>
          <p:cNvPr id="45" name="Text 39"/>
          <p:cNvSpPr txBox="1"/>
          <p:nvPr/>
        </p:nvSpPr>
        <p:spPr>
          <a:xfrm>
            <a:off x="533095" y="1047902"/>
            <a:ext cx="349940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11 of 61 - Worksheet 08 / 57</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01009"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12</a:t>
            </a:r>
            <a:pPr algn="l" indent="0" marL="0">
              <a:buNone/>
            </a:pPr>
            <a:r>
              <a:rPr lang="en-US" sz="825" b="1" spc="149" kern="0" dirty="0">
                <a:solidFill>
                  <a:srgbClr val="5B6B82"/>
                </a:solidFill>
                <a:latin typeface="Inter" pitchFamily="34" charset="0"/>
                <a:ea typeface="Inter" pitchFamily="34" charset="-122"/>
                <a:cs typeface="Inter" pitchFamily="34" charset="-120"/>
              </a:rPr>
              <a:t> Worksheet 09</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Anchor sheet of the workbook. Each use case links to services, vendors, risks, controls, KPIs, KRIs, incidents, roadmap items and evidence. Owner AI Governance Office. Cadence quarterly review.</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Use Case ID, Use Case Name, Business Unit, Description, Objective, AI Type, Model Service Type, Deployment, Vendor ID, Service ID, Business Owner, Technical Owner, Risk Owner, Data Classification.</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join key. Activate one use case and it links to vendor, service, risk, control, KPI, KRI, incident and roadmap.</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AI Use Case Register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AUC-001 Underwriting Decision Support Commercial Property. AUC-004 Customer Service Copilot Voice Agent Assist LLM Azure OpenAI SaaS.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avoid orphan use cases and prove to FCA supervisors the inventory is complete?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72730" y="5171846"/>
            <a:ext cx="4853635"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Use Case ID is referenced by every other sheet. That is the join key of the workbook.</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AUC-004 LLM Azure OpenAI SaaS is the high-volume customer-facing risk that KRI-004, CTL-003 and INC-003 all anchor against.</a:t>
            </a:r>
            <a:endParaRPr lang="en-US" sz="1050" dirty="0"/>
          </a:p>
        </p:txBody>
      </p:sp>
      <p:sp>
        <p:nvSpPr>
          <p:cNvPr id="31" name="Shape 25"/>
          <p:cNvSpPr/>
          <p:nvPr/>
        </p:nvSpPr>
        <p:spPr>
          <a:xfrm>
            <a:off x="6829654" y="5171846"/>
            <a:ext cx="7525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JOIN KEY</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The AI Use Case Register is the join key of the workbook. Activate one use case and it links to vendor, service, risk, control, KPI, KRI, incident and roadmap - that is the audit-grade discipline that makes the register defensible.</a:t>
            </a:r>
            <a:endParaRPr lang="en-US" sz="1088" dirty="0"/>
          </a:p>
        </p:txBody>
      </p:sp>
      <p:sp>
        <p:nvSpPr>
          <p:cNvPr id="36" name="Text 30"/>
          <p:cNvSpPr txBox="1"/>
          <p:nvPr/>
        </p:nvSpPr>
        <p:spPr>
          <a:xfrm>
            <a:off x="733349" y="7704734"/>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Tier 1 use cases (UW, claims, fraud, voice agent) carry Deployment and Risk Owner columns so the panel can read materiality into the same row as hosting model.</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require every use case row to carry Vendor, Service and Risk Owner columns - no use case gets approved without those three cells populated.</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AI Use Case Register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"The AI Use Case Register is the join key. Activate one use case and it links to vendor, service, risk, control, KPI, KRI, incident and roadmap. That is the audit-grade discipline that keeps nothing off the register - the panel will be looking for that exact answer."</a:t>
            </a:r>
            <a:endParaRPr lang="en-US" sz="1013" dirty="0"/>
          </a:p>
        </p:txBody>
      </p:sp>
      <p:sp>
        <p:nvSpPr>
          <p:cNvPr id="42" name="Text 36"/>
          <p:cNvSpPr txBox="1"/>
          <p:nvPr/>
        </p:nvSpPr>
        <p:spPr>
          <a:xfrm>
            <a:off x="533095" y="171907"/>
            <a:ext cx="393009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09 / 57 - AI Use Case Register</a:t>
            </a:r>
            <a:endParaRPr lang="en-US" sz="900" dirty="0"/>
          </a:p>
        </p:txBody>
      </p:sp>
      <p:sp>
        <p:nvSpPr>
          <p:cNvPr id="43" name="Text 37"/>
          <p:cNvSpPr txBox="1"/>
          <p:nvPr/>
        </p:nvSpPr>
        <p:spPr>
          <a:xfrm>
            <a:off x="533095" y="362102"/>
            <a:ext cx="7077456"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AI Use Case Register - Core Inventory of AI Capabilities</a:t>
            </a:r>
            <a:endParaRPr lang="en-US" sz="1950" dirty="0"/>
          </a:p>
        </p:txBody>
      </p:sp>
      <p:sp>
        <p:nvSpPr>
          <p:cNvPr id="44" name="Text 38"/>
          <p:cNvSpPr txBox="1"/>
          <p:nvPr/>
        </p:nvSpPr>
        <p:spPr>
          <a:xfrm>
            <a:off x="16543325" y="342900"/>
            <a:ext cx="12198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09 - Join Key</a:t>
            </a:r>
            <a:endParaRPr lang="en-US" sz="900" dirty="0"/>
          </a:p>
        </p:txBody>
      </p:sp>
      <p:sp>
        <p:nvSpPr>
          <p:cNvPr id="45" name="Text 39"/>
          <p:cNvSpPr txBox="1"/>
          <p:nvPr/>
        </p:nvSpPr>
        <p:spPr>
          <a:xfrm>
            <a:off x="533095" y="1047902"/>
            <a:ext cx="457200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Governance Office</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Quarterly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12 of 61 - Worksheet 09 / 57</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7468"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13</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10</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Decision-making and oversight forums for AI security and governance. Owner Company Secretariat and Risk.</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Committee ID, Committee Name, Purpose, Mandate, Chair, Membership, Cadence, Escalation Route, Reporting Outputs, Key Decisions Held, Linked Policies.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Defines who decides what, at what cadence, and via what escalation route. SMCR accountability visible here.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Governance Framework in the reduced template.</a:t>
            </a:r>
            <a:endParaRPr lang="en-US" sz="1050" dirty="0"/>
          </a:p>
        </p:txBody>
      </p:sp>
      <p:sp>
        <p:nvSpPr>
          <p:cNvPr id="19" name="Text 13"/>
          <p:cNvSpPr txBox="1"/>
          <p:nvPr/>
        </p:nvSpPr>
        <p:spPr>
          <a:xfrm>
            <a:off x="7666330" y="3880714"/>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COM-001 AI Governance Forum chaired by CDO Andrew Pollard. COM-002 Model Risk Committee chaired by CRO Geoffrey Sanders. COM-004 ExCo chaired by CEO Margaret Whittaker.</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these forums interface with the Risk Committee and ExCo under SMCR accountability?</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03566" y="5171846"/>
            <a:ext cx="5708599"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forum has Chair, Cadence and Escalation Route - the SMCR map in one row.</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COM-009 Operational Resilience Committee is the auditor's bridge between AI Security BCP and the firm's wider resilience testing.</a:t>
            </a:r>
            <a:endParaRPr lang="en-US" sz="1050" dirty="0"/>
          </a:p>
        </p:txBody>
      </p:sp>
      <p:sp>
        <p:nvSpPr>
          <p:cNvPr id="31" name="Shape 25"/>
          <p:cNvSpPr/>
          <p:nvPr/>
        </p:nvSpPr>
        <p:spPr>
          <a:xfrm>
            <a:off x="6829654" y="5171846"/>
            <a:ext cx="5806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815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CHAIR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Governance Framework defines who decides what. Chair, cadence and escalation route make each forum auditable - the SMCR accountability is in the Chair column.</a:t>
            </a:r>
            <a:endParaRPr lang="en-US" sz="1088" dirty="0"/>
          </a:p>
        </p:txBody>
      </p:sp>
      <p:sp>
        <p:nvSpPr>
          <p:cNvPr id="36" name="Text 30"/>
          <p:cNvSpPr txBox="1"/>
          <p:nvPr/>
        </p:nvSpPr>
        <p:spPr>
          <a:xfrm>
            <a:off x="733349" y="7490765"/>
            <a:ext cx="1204722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chain runs AI Governance Forum monthly - Risk Committee - ExCo weekly. That is the explicit escalation chain in the Escalation Route column.</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forum names the Linked Policies - so POL-001 to POL-009 carry the policy evidence across the framework, no policy becomes orphan.</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Governance Framework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"Governance Framework defines who decides what. Chair, cadence and escalation route make each forum auditable. The SMCR accountability is in the Chair column - that is the discipline a panel expects from a senior manager candidate."</a:t>
            </a:r>
            <a:endParaRPr lang="en-US" sz="1013" dirty="0"/>
          </a:p>
        </p:txBody>
      </p:sp>
      <p:sp>
        <p:nvSpPr>
          <p:cNvPr id="42" name="Text 36"/>
          <p:cNvSpPr txBox="1"/>
          <p:nvPr/>
        </p:nvSpPr>
        <p:spPr>
          <a:xfrm>
            <a:off x="533095" y="171907"/>
            <a:ext cx="393009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10 / 57 - Governance Framework</a:t>
            </a:r>
            <a:endParaRPr lang="en-US" sz="900" dirty="0"/>
          </a:p>
        </p:txBody>
      </p:sp>
      <p:sp>
        <p:nvSpPr>
          <p:cNvPr id="43" name="Text 37"/>
          <p:cNvSpPr txBox="1"/>
          <p:nvPr/>
        </p:nvSpPr>
        <p:spPr>
          <a:xfrm>
            <a:off x="533095" y="362102"/>
            <a:ext cx="8287207"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Governance Framework - AI Governance Committees and Forums</a:t>
            </a:r>
            <a:endParaRPr lang="en-US" sz="1950" dirty="0"/>
          </a:p>
        </p:txBody>
      </p:sp>
      <p:sp>
        <p:nvSpPr>
          <p:cNvPr id="44" name="Text 38"/>
          <p:cNvSpPr txBox="1"/>
          <p:nvPr/>
        </p:nvSpPr>
        <p:spPr>
          <a:xfrm>
            <a:off x="16579901" y="342900"/>
            <a:ext cx="11814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10 - Forums</a:t>
            </a:r>
            <a:endParaRPr lang="en-US" sz="900" dirty="0"/>
          </a:p>
        </p:txBody>
      </p:sp>
      <p:sp>
        <p:nvSpPr>
          <p:cNvPr id="45" name="Text 39"/>
          <p:cNvSpPr txBox="1"/>
          <p:nvPr/>
        </p:nvSpPr>
        <p:spPr>
          <a:xfrm>
            <a:off x="533095" y="1047902"/>
            <a:ext cx="369691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Company Secretariat and Risk</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13 of 61 - Worksheet 10 / 57</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31184" y="1047902"/>
            <a:ext cx="1429207"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14</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11</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Activity-level responsibilities across the AI lifecycle. R Responsible, A Accountable, C Consulted, I Informed. Owner AI Security Manager. Cadence reviewed annually.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Activity ID, Activity, Business Owner, AI Security Manager, CISO, CRO/Risk, DPO/Compliance, Data Science/MLOps, Internal Audit, Procurement/TPRM, Tech/Cloud Ops, Linked Policies.</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One Accountable per activity prevents accountability diffusion. AI Security Manager is Responsible on intake, due diligence, risk assessment and assurance.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RACI Matrix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ACT-RACI-01 AI Use Case Onboarding - A Business Owner R AI Security Manager. ACT-RACI-04 DPIA - A,R Data Science/MLOps consulted.</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is there only one A per activity, and how do you resist pressure to add a second A?</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79131" y="5171846"/>
            <a:ext cx="5533034"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Single accountability avoids diffusion under pressure - the SMCR defence.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AI Security Manager is Responsible across intake, due diligence and risk assessment - the function is the consistent backbone of activity ownership.</a:t>
            </a:r>
            <a:endParaRPr lang="en-US" sz="1050" dirty="0"/>
          </a:p>
        </p:txBody>
      </p:sp>
      <p:sp>
        <p:nvSpPr>
          <p:cNvPr id="31" name="Shape 25"/>
          <p:cNvSpPr/>
          <p:nvPr/>
        </p:nvSpPr>
        <p:spPr>
          <a:xfrm>
            <a:off x="6829654" y="5171846"/>
            <a:ext cx="76169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6261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SINGLE A</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One Accountable per activity prevents accountability diffusion. SMCR discipline: two As on a row is not an accountability answer - it is an excuse factory.</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AI Security Manager is named Responsible on ACT-RACI-01 to ACT-RACI-09 - consistent backbone across intake, due diligence, risk assessment and assurance.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Policies column connects each activity to POL-001 to POL-009 - no activity sits orphan from the policy library.</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RACI Matrix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"One Accountable per activity prevents accountability diffusion. SMCR discipline - if two As appear on a row, neither is the accountable executive. That is what the panel will probe first."</a:t>
            </a:r>
            <a:endParaRPr lang="en-US" sz="1013" dirty="0"/>
          </a:p>
        </p:txBody>
      </p:sp>
      <p:sp>
        <p:nvSpPr>
          <p:cNvPr id="42" name="Text 36"/>
          <p:cNvSpPr txBox="1"/>
          <p:nvPr/>
        </p:nvSpPr>
        <p:spPr>
          <a:xfrm>
            <a:off x="533095" y="171907"/>
            <a:ext cx="305592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11 / 57 - RACI Matrix</a:t>
            </a:r>
            <a:endParaRPr lang="en-US" sz="900" dirty="0"/>
          </a:p>
        </p:txBody>
      </p:sp>
      <p:sp>
        <p:nvSpPr>
          <p:cNvPr id="43" name="Text 37"/>
          <p:cNvSpPr txBox="1"/>
          <p:nvPr/>
        </p:nvSpPr>
        <p:spPr>
          <a:xfrm>
            <a:off x="533095" y="362102"/>
            <a:ext cx="6687007"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RACI Matrix - AI Security and Governance Activities</a:t>
            </a:r>
            <a:endParaRPr lang="en-US" sz="1950" dirty="0"/>
          </a:p>
        </p:txBody>
      </p:sp>
      <p:sp>
        <p:nvSpPr>
          <p:cNvPr id="44" name="Text 38"/>
          <p:cNvSpPr txBox="1"/>
          <p:nvPr/>
        </p:nvSpPr>
        <p:spPr>
          <a:xfrm>
            <a:off x="16012973" y="342900"/>
            <a:ext cx="17437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11 - Activity Ownership</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14 of 61 - Worksheet 11 / 57</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7468"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15</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12</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Catalogue of services delivered by the AI Security function. Owner AI Security Manager. Cadence half-yearly review.</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Service ID, Service Name, Service Category, Description, Intake Route, Service Owner, Customer Group, Linked Use Cases, Linked Controls, Linked KPIs, Service Outputs, Dependency Notes, Assurance Relevance.</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Names what AI Security will and will not do. ServiceNow intake route links the function to its customers.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Service Catalog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SVC-001 AI Use Case Intake and Triage - Daniel O Reilly owner, ServiceNow intake, Governance category. SVC-002 Underwriting and Pricing Model Assurance owned by Mohammed Iqbal.</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avoid service sprawl, and how do you decide what the function will not do?</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85862" y="5171846"/>
            <a:ext cx="4940503"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Every service has Service Owner, Intake Route and Customer Group - prevents sprawl.</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Service Outputs and Dependency Notes columns make capacity conversation possible - half-yearly review is when we retire or merge services.</a:t>
            </a:r>
            <a:endParaRPr lang="en-US" sz="1050" dirty="0"/>
          </a:p>
        </p:txBody>
      </p:sp>
      <p:sp>
        <p:nvSpPr>
          <p:cNvPr id="31" name="Shape 25"/>
          <p:cNvSpPr/>
          <p:nvPr/>
        </p:nvSpPr>
        <p:spPr>
          <a:xfrm>
            <a:off x="6829654" y="5171846"/>
            <a:ext cx="666598"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6751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OWNED</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Every service has a Service Owner, Intake Route and Customer Group. That is what stops the catalogue sprawling - the catalog defines what AI Security will and will not do.</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half-yearly review is the discipline point. We retire or merge services and the workbook reflects it - capacity conversation stays honest.</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ServiceNow is the single intake route. Free-text emails do not start services - the catalog and intake are tied.</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Service Catalog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"Every service has a Service Owner, Intake Route and Customer Group - that is what stops the catalogue sprawling. The catalog defines what AI Security will and will not do, and the half-yearly review is the discipline point."</a:t>
            </a:r>
            <a:endParaRPr lang="en-US" sz="1013" dirty="0"/>
          </a:p>
        </p:txBody>
      </p:sp>
      <p:sp>
        <p:nvSpPr>
          <p:cNvPr id="42" name="Text 36"/>
          <p:cNvSpPr txBox="1"/>
          <p:nvPr/>
        </p:nvSpPr>
        <p:spPr>
          <a:xfrm>
            <a:off x="533095" y="171907"/>
            <a:ext cx="412211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12 / 57 - Service Catalog Master</a:t>
            </a:r>
            <a:endParaRPr lang="en-US" sz="900" dirty="0"/>
          </a:p>
        </p:txBody>
      </p:sp>
      <p:sp>
        <p:nvSpPr>
          <p:cNvPr id="43" name="Text 37"/>
          <p:cNvSpPr txBox="1"/>
          <p:nvPr/>
        </p:nvSpPr>
        <p:spPr>
          <a:xfrm>
            <a:off x="533095" y="362102"/>
            <a:ext cx="7830007"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Service Catalog Master - AI Security and Governance Services</a:t>
            </a:r>
            <a:endParaRPr lang="en-US" sz="1950" dirty="0"/>
          </a:p>
        </p:txBody>
      </p:sp>
      <p:sp>
        <p:nvSpPr>
          <p:cNvPr id="44" name="Text 38"/>
          <p:cNvSpPr txBox="1"/>
          <p:nvPr/>
        </p:nvSpPr>
        <p:spPr>
          <a:xfrm>
            <a:off x="16180308" y="342900"/>
            <a:ext cx="158191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12 - Service Catalog</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15 of 61 - Worksheet 12 / 57</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6554"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16</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13</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Service-level commitments for AI security and governance services. Owner AI Security Manager. Reviewed semi-annually.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Service ID, Service Name, SLA Response Target, SLA Resolution Target, SLO Quality Measure, Measurement Source, Breach Rule, Exclusions, Severity Treatment, Reporting Cadence.</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Pairs response with quality. SVC-001 95% triage on time plus 2-month breach rule. SVC-003 8-hour Sev1 plus 99.5% uptime.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SLA-SLO Definitions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SVC-001 2 working days response, 10 working days resolution, 95% on time. SVC-003 Claims AI Ops 4 hours Sev 1, 8 working hours, 99.5% uptime.</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Pair SLAs and SLOs - why do you need both, and how do you keep them regulator-grade?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54519" y="5171846"/>
            <a:ext cx="531540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SLA is response; SLO is quality - regulator-grade SLAs pair both.</a:t>
            </a:r>
            <a:endParaRPr lang="en-US" sz="1050" dirty="0"/>
          </a:p>
        </p:txBody>
      </p:sp>
      <p:sp>
        <p:nvSpPr>
          <p:cNvPr id="30" name="Text 24"/>
          <p:cNvSpPr txBox="1"/>
          <p:nvPr/>
        </p:nvSpPr>
        <p:spPr>
          <a:xfrm>
            <a:off x="6829654" y="5486400"/>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SVC-004 Fraud oversight pairs SLO FPR within agreed band - SLO quality is governed quarterly.</a:t>
            </a:r>
            <a:endParaRPr lang="en-US" sz="1050" dirty="0"/>
          </a:p>
        </p:txBody>
      </p:sp>
      <p:sp>
        <p:nvSpPr>
          <p:cNvPr id="31" name="Shape 25"/>
          <p:cNvSpPr/>
          <p:nvPr/>
        </p:nvSpPr>
        <p:spPr>
          <a:xfrm>
            <a:off x="6829654" y="5171846"/>
            <a:ext cx="437998"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3891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SLO</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SLA is response and resolution. SLO is quality - false-positive rate, uptime, model assurance. Pair them on one row and the regulator sees a contract, not a sticker.</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Breach Rule column defines an explicit trigger - "two consecutive months below 90%" or "single Sev 1 outage greater than 8 hours" - not a vague notion of failure.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Exclusions and Severity Treatment columns protect the function from false breach claims during planned maintenance or one-off DPIA extensions.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SLA-SLO Definitions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"SLA is response and resolution. SLO is quality - false-positive rate, uptime, model assurance. Pair them on one row and the regulator sees a contract, not a sticker - that is the regulator-grade discipline the panel expects."</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13 / 57 - SLA-SLO Definitions</a:t>
            </a:r>
            <a:endParaRPr lang="en-US" sz="900" dirty="0"/>
          </a:p>
        </p:txBody>
      </p:sp>
      <p:sp>
        <p:nvSpPr>
          <p:cNvPr id="43" name="Text 37"/>
          <p:cNvSpPr txBox="1"/>
          <p:nvPr/>
        </p:nvSpPr>
        <p:spPr>
          <a:xfrm>
            <a:off x="533095" y="362102"/>
            <a:ext cx="80302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SLA-SLO Definitions - Service Level Agreements and Objectives</a:t>
            </a:r>
            <a:endParaRPr lang="en-US" sz="1950" dirty="0"/>
          </a:p>
        </p:txBody>
      </p:sp>
      <p:sp>
        <p:nvSpPr>
          <p:cNvPr id="44" name="Text 38"/>
          <p:cNvSpPr txBox="1"/>
          <p:nvPr/>
        </p:nvSpPr>
        <p:spPr>
          <a:xfrm>
            <a:off x="15856610" y="342900"/>
            <a:ext cx="19056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13 - Service Commitments</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16 of 61 - Worksheet 13 / 57</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6554"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14</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Historic and in-flight requests against the AI Security service catalog. Owner AI Security Manager. Live ServiceNow extract refreshed weekly.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Request ID, Date Raised, Service ID, Request Category, Requestor BU, Priority, Owner, Status, Target Date, Completion Date, Ageing, SLA Met, Linked Use Case ID, Comments.</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Weekly ServiceNow extract removes manual reconciliation. The log is demand evidence for resource and capacity planning.</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Operational log in populated workbook; supported by Service Catalog and SLA definitions.</a:t>
            </a:r>
            <a:endParaRPr lang="en-US" sz="1050" dirty="0"/>
          </a:p>
        </p:txBody>
      </p:sp>
      <p:sp>
        <p:nvSpPr>
          <p:cNvPr id="19" name="Text 13"/>
          <p:cNvSpPr txBox="1"/>
          <p:nvPr/>
        </p:nvSpPr>
        <p:spPr>
          <a:xfrm>
            <a:off x="7666330" y="3880714"/>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REQ-2026-001 SVC-001 New Use Case Intake 02/02/2026 Closed. REQ-2026-003 SVC-005 DPIA Critical Rebecca Lloyd. REQ-2026-004 SVC-007 Policy Exception Finance Medium Karen Holloway.</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this log kept fresh, and what counts as evidence of demand as opposed to noise?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63256" y="5171846"/>
            <a:ext cx="4763110"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Weekly ServiceNow extract is the source - no manual reconciliation, no orphan rows, no fabricated demand figures.</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Ageing column is the early-warning lens - long-aged requests expose backlog and capacity tension before SLA breach.</a:t>
            </a:r>
            <a:endParaRPr lang="en-US" sz="1050" dirty="0"/>
          </a:p>
        </p:txBody>
      </p:sp>
      <p:sp>
        <p:nvSpPr>
          <p:cNvPr id="31" name="Shape 25"/>
          <p:cNvSpPr/>
          <p:nvPr/>
        </p:nvSpPr>
        <p:spPr>
          <a:xfrm>
            <a:off x="6829654" y="5171846"/>
            <a:ext cx="847649"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848563"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PLATFORM</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Service Request Log is demand evidence. Weekly ServiceNow extract is the source - no manual reconciliation, no orphan rows. The workbook is a structured extract, not a manual file.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log feeds capacity conversation in the AI Governance Forum - REQ aging by service shows where to add capacity or retire a service.</a:t>
            </a:r>
            <a:endParaRPr lang="en-US" sz="1088" dirty="0"/>
          </a:p>
        </p:txBody>
      </p:sp>
      <p:sp>
        <p:nvSpPr>
          <p:cNvPr id="37" name="Text 31"/>
          <p:cNvSpPr txBox="1"/>
          <p:nvPr/>
        </p:nvSpPr>
        <p:spPr>
          <a:xfrm>
            <a:off x="733349" y="7762342"/>
            <a:ext cx="1213043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SLA Met column provides the audit-grade answer to "are we meeting commitments" - sample evidence on the regulator's request, not a narrative pun.</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Operational log in populated workbook; supported by Service Catalog and SLA-SLO definitions.</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"Service Request Log is demand evidence. Weekly ServiceNow extract is the source - the workbook is a structured extract, not a manual file. That is the capacity conversation the AI Governance Forum has every month."</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14 / 57 - Service Request Log</a:t>
            </a:r>
            <a:endParaRPr lang="en-US" sz="900" dirty="0"/>
          </a:p>
        </p:txBody>
      </p:sp>
      <p:sp>
        <p:nvSpPr>
          <p:cNvPr id="43" name="Text 37"/>
          <p:cNvSpPr txBox="1"/>
          <p:nvPr/>
        </p:nvSpPr>
        <p:spPr>
          <a:xfrm>
            <a:off x="533095" y="362102"/>
            <a:ext cx="64867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Service Request Log - AI Security Service Demand</a:t>
            </a:r>
            <a:endParaRPr lang="en-US" sz="1950" dirty="0"/>
          </a:p>
        </p:txBody>
      </p:sp>
      <p:sp>
        <p:nvSpPr>
          <p:cNvPr id="44" name="Text 38"/>
          <p:cNvSpPr txBox="1"/>
          <p:nvPr/>
        </p:nvSpPr>
        <p:spPr>
          <a:xfrm>
            <a:off x="16306495" y="342900"/>
            <a:ext cx="14575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14 - Demand Log</a:t>
            </a:r>
            <a:endParaRPr lang="en-US" sz="900" dirty="0"/>
          </a:p>
        </p:txBody>
      </p:sp>
      <p:sp>
        <p:nvSpPr>
          <p:cNvPr id="45" name="Text 39"/>
          <p:cNvSpPr txBox="1"/>
          <p:nvPr/>
        </p:nvSpPr>
        <p:spPr>
          <a:xfrm>
            <a:off x="533095" y="1047902"/>
            <a:ext cx="561990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Source:</a:t>
            </a:r>
            <a:pPr algn="l" indent="0" marL="0">
              <a:buNone/>
            </a:pPr>
            <a:r>
              <a:rPr lang="en-US" sz="900" dirty="0">
                <a:solidFill>
                  <a:srgbClr val="5B6B82"/>
                </a:solidFill>
                <a:latin typeface="Inter" pitchFamily="34" charset="0"/>
                <a:ea typeface="Inter" pitchFamily="34" charset="-122"/>
                <a:cs typeface="Inter" pitchFamily="34" charset="-120"/>
              </a:rPr>
              <a:t> ServiceNow weekly extract</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17 of 61 - Worksheet 14 / 57</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7468"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15</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Threshold-based KRIs reported monthly to AI Governance Forum and Risk Committee. Owner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KRI ID, KRI Name, Linked Risk ID, Linked Use Case/Vendor, Threshold (Amber), Threshold (Red), Current Value, Target Value, Trend, Breach Status, Owner, Action/Escalation, Last Review, Escalation Flag.</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KRI pairs owner and amber/red thresholds - the discipline that drives the AI Governance Forum agenda.</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KRI Tracking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KRI-001 Models with material drift in last 30 days RSK-001 amber 2 red 4 current 1. KRI-004 Customer AI complaints rolling 90 days RSK-005.</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decide what gets on the KRI list, and how do you avoid KRIs becoming stale thresholds with no owner?</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870241" y="5171846"/>
            <a:ext cx="4656125"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KRI has owner, amber/red thresholds and Action/Escalation field - breach log discipline.</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KRI-004 is the Consumer Duty lens - customer-facing complaints rolling 90 days - the early-warning that links to RSK-005 and CTL-003.</a:t>
            </a:r>
            <a:endParaRPr lang="en-US" sz="1050" dirty="0"/>
          </a:p>
        </p:txBody>
      </p:sp>
      <p:sp>
        <p:nvSpPr>
          <p:cNvPr id="31" name="Shape 25"/>
          <p:cNvSpPr/>
          <p:nvPr/>
        </p:nvSpPr>
        <p:spPr>
          <a:xfrm>
            <a:off x="6829654" y="5171846"/>
            <a:ext cx="9528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9528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ESCALATION</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KRI has owner, amber/red thresholds and an Action/Escalation field. The AI Governance Forum monthly agenda is driven by the breach log - that is the discipline.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link each KRI: KRI-001 to RSK-001 model drift, KRI-004 to RSK-005 consumer harm - so a breach tells me which risk and which owner to call.</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Last Review and Escalation Flag make cadence and breach-status visible - the monthly socialisation point a panel will probe.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KRI Tracking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"Each KRI has owner, amber/red thresholds and Action/Escalation. The AI Governance Forum monthly agenda is driven by the breach log - that is the discipline a panel will probe when they ask 'how do you know when to escalate'."</a:t>
            </a:r>
            <a:endParaRPr lang="en-US" sz="1013" dirty="0"/>
          </a:p>
        </p:txBody>
      </p:sp>
      <p:sp>
        <p:nvSpPr>
          <p:cNvPr id="42" name="Text 36"/>
          <p:cNvSpPr txBox="1"/>
          <p:nvPr/>
        </p:nvSpPr>
        <p:spPr>
          <a:xfrm>
            <a:off x="533095" y="171907"/>
            <a:ext cx="315650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15 / 57 - KRI Tracking</a:t>
            </a:r>
            <a:endParaRPr lang="en-US" sz="900" dirty="0"/>
          </a:p>
        </p:txBody>
      </p:sp>
      <p:sp>
        <p:nvSpPr>
          <p:cNvPr id="43" name="Text 37"/>
          <p:cNvSpPr txBox="1"/>
          <p:nvPr/>
        </p:nvSpPr>
        <p:spPr>
          <a:xfrm>
            <a:off x="533095" y="362102"/>
            <a:ext cx="6334963"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KRI Tracking - Key Risk Indicators for AI Security</a:t>
            </a:r>
            <a:endParaRPr lang="en-US" sz="1950" dirty="0"/>
          </a:p>
        </p:txBody>
      </p:sp>
      <p:sp>
        <p:nvSpPr>
          <p:cNvPr id="44" name="Text 38"/>
          <p:cNvSpPr txBox="1"/>
          <p:nvPr/>
        </p:nvSpPr>
        <p:spPr>
          <a:xfrm>
            <a:off x="16289122" y="342900"/>
            <a:ext cx="146761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15 - Monthly KRIs</a:t>
            </a:r>
            <a:endParaRPr lang="en-US" sz="900" dirty="0"/>
          </a:p>
        </p:txBody>
      </p:sp>
      <p:sp>
        <p:nvSpPr>
          <p:cNvPr id="45" name="Text 39"/>
          <p:cNvSpPr txBox="1"/>
          <p:nvPr/>
        </p:nvSpPr>
        <p:spPr>
          <a:xfrm>
            <a:off x="533095" y="1047902"/>
            <a:ext cx="436626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Monthly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18 of 61 - Worksheet 15 / 57</a:t>
            </a:r>
            <a:endParaRPr lang="en-US" sz="8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6554"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19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16</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Quantified AI risk register. Likelihood and Impact on 1-5 scale (5 highest). Residual scoring after current control environment. Owner CRO and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Risk ID, Risk Title, Linked Use Case IDs, Linked Vendor IDs, Inherent Likelihood, Inherent Impact, Inherent Score, Control Environment Summary, Residual Likelihood, Residual Impact, Residual Score, Quantified Exposure, Risk Treatment, Treatment Action ID.</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Inherent minus control strength equals residual. Quantified exposure in GBP M is the Board-readable unit.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Risk Quantification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RSK-001 Model performance drift inherent 16 (4x4) residual Mitigate Mohammed Iqbal. RSK-011 Regulatory breach Consumer Duty, fairness, FCA Residual Mitigate Rebecca Lloyd. RSK-004 Pricing/fairness bias Helen Carter.</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residual score determined, and how do you defend the exposure figure when challenged?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12964" y="5171846"/>
            <a:ext cx="549920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Inherent minus control strength = Residual. That math survives Board challenge.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RSK-011 Regulatory breach is the Consumer Duty lens - linked to CTL-003, FAIR reviews and KRI-004.</a:t>
            </a:r>
            <a:endParaRPr lang="en-US" sz="1050" dirty="0"/>
          </a:p>
        </p:txBody>
      </p:sp>
      <p:sp>
        <p:nvSpPr>
          <p:cNvPr id="31" name="Shape 25"/>
          <p:cNvSpPr/>
          <p:nvPr/>
        </p:nvSpPr>
        <p:spPr>
          <a:xfrm>
            <a:off x="6829654" y="5171846"/>
            <a:ext cx="7909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909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FORMULA</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Risk Quantification is the spine of the workbook. Inherent is Likelihood times Impact. Residual is what is left after the control environment. Quantified exposure rolls that into GBP for the Board.</a:t>
            </a:r>
            <a:endParaRPr lang="en-US" sz="1088" dirty="0"/>
          </a:p>
        </p:txBody>
      </p:sp>
      <p:sp>
        <p:nvSpPr>
          <p:cNvPr id="36" name="Text 30"/>
          <p:cNvSpPr txBox="1"/>
          <p:nvPr/>
        </p:nvSpPr>
        <p:spPr>
          <a:xfrm>
            <a:off x="733349" y="7704734"/>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Control Environment Summary is the auditable companion to the maths - panel can read why Mitigation reduced likelihood, not just that it did.</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Treatment Action ID closes the loop: each residual score pairs to a roadmap or assurance task, no orphan residual sits on the register.</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Risk Quantification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"Inherent is Likelihood times Impact. Residual is what is left after the control environment. Quantified exposure rolls that into GBP for the Board - that is the math a panel will probe under PRA model risk discipline."</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16 / 57 - Risk Quantification</a:t>
            </a:r>
            <a:endParaRPr lang="en-US" sz="900" dirty="0"/>
          </a:p>
        </p:txBody>
      </p:sp>
      <p:sp>
        <p:nvSpPr>
          <p:cNvPr id="43" name="Text 37"/>
          <p:cNvSpPr txBox="1"/>
          <p:nvPr/>
        </p:nvSpPr>
        <p:spPr>
          <a:xfrm>
            <a:off x="533095" y="362102"/>
            <a:ext cx="68296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Risk Quantification - AI and AI-Security Risk Register</a:t>
            </a:r>
            <a:endParaRPr lang="en-US" sz="1950" dirty="0"/>
          </a:p>
        </p:txBody>
      </p:sp>
      <p:sp>
        <p:nvSpPr>
          <p:cNvPr id="44" name="Text 38"/>
          <p:cNvSpPr txBox="1"/>
          <p:nvPr/>
        </p:nvSpPr>
        <p:spPr>
          <a:xfrm>
            <a:off x="16314725" y="342900"/>
            <a:ext cx="14484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16 - Risk Register</a:t>
            </a:r>
            <a:endParaRPr lang="en-US" sz="900" dirty="0"/>
          </a:p>
        </p:txBody>
      </p:sp>
      <p:sp>
        <p:nvSpPr>
          <p:cNvPr id="45" name="Text 39"/>
          <p:cNvSpPr txBox="1"/>
          <p:nvPr/>
        </p:nvSpPr>
        <p:spPr>
          <a:xfrm>
            <a:off x="533095" y="1047902"/>
            <a:ext cx="369691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CRO and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19 of 61 - Worksheet 16 / 57</a:t>
            </a:r>
            <a:endParaRPr lang="en-US" sz="8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02838"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17</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27582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AI-relevant suppliers and service providers. Owner Third-Party Risk Lead Sarah Mitchell. Cadence annual review; quarterly for Tier 1.</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Vendor ID, Supplier Name, Service Provided, Linked Use Cases, Hosting Model, Data Classification Handled, Due Diligence Status, Security Review Status, Privacy Review Status, Contract Renewal Date, Residual Risk, Key Findings, Action Required, Exit Dependency.</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Captures Hosting Model, Data Classification, Review Status and Exit Dependency - the four columns that survive procurement due diligence.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Third-Party Risk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VEN-001 Microsoft Azure OpenAI SaaS Confidential Complete Complete. VEN-002 Featurespace Fraud analytics SaaS Restricted. VEN-004 NICE Nexidia Speech analytics SaaS Restricted.</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handle AI vendors processing restricted data, and where do you sit on exit dependency?</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87107" y="5171846"/>
            <a:ext cx="5039258"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Tier 1 vendors processing restricted data are quarterly. Exit Dependency named explicitly.</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VEN-001 Microsoft Azure OpenAI sits at the intersection of Innovation (LLM) and Confidential data classes - the highest residual discussion point with the panel.</a:t>
            </a:r>
            <a:endParaRPr lang="en-US" sz="1050" dirty="0"/>
          </a:p>
        </p:txBody>
      </p:sp>
      <p:sp>
        <p:nvSpPr>
          <p:cNvPr id="31" name="Shape 25"/>
          <p:cNvSpPr/>
          <p:nvPr/>
        </p:nvSpPr>
        <p:spPr>
          <a:xfrm>
            <a:off x="6829654" y="5171846"/>
            <a:ext cx="571500"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7150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TIER 1</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Third-Party Risk captures Hosting Model, Data Classification, Review Status and Exit Dependency - the four columns that survive procurement due diligence.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Tier 1 vendors processing restricted data run quarterly review - the panel will ask and the answer is on the Hosting Model and Data Classification cells.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Exit Dependency is the resilience lens - a vendor with no named exit path is a fragile capability, not a service.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Third-Party Risk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"Hosting Model, Data Classification, Review Status and Exit Dependency - those are the four columns that survive procurement due diligence. Tier 1 vendors processing restricted data get quarterly review; the rest annual."</a:t>
            </a:r>
            <a:endParaRPr lang="en-US" sz="1013" dirty="0"/>
          </a:p>
        </p:txBody>
      </p:sp>
      <p:sp>
        <p:nvSpPr>
          <p:cNvPr id="42" name="Text 36"/>
          <p:cNvSpPr txBox="1"/>
          <p:nvPr/>
        </p:nvSpPr>
        <p:spPr>
          <a:xfrm>
            <a:off x="533095" y="171907"/>
            <a:ext cx="441015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17 / 57 - Third-Party Risk Services</a:t>
            </a:r>
            <a:endParaRPr lang="en-US" sz="900" dirty="0"/>
          </a:p>
        </p:txBody>
      </p:sp>
      <p:sp>
        <p:nvSpPr>
          <p:cNvPr id="43" name="Text 37"/>
          <p:cNvSpPr txBox="1"/>
          <p:nvPr/>
        </p:nvSpPr>
        <p:spPr>
          <a:xfrm>
            <a:off x="533095" y="362102"/>
            <a:ext cx="76681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Third-Party Risk Services - AI Vendors and Service Providers</a:t>
            </a:r>
            <a:endParaRPr lang="en-US" sz="1950" dirty="0"/>
          </a:p>
        </p:txBody>
      </p:sp>
      <p:sp>
        <p:nvSpPr>
          <p:cNvPr id="44" name="Text 38"/>
          <p:cNvSpPr txBox="1"/>
          <p:nvPr/>
        </p:nvSpPr>
        <p:spPr>
          <a:xfrm>
            <a:off x="16543325" y="342900"/>
            <a:ext cx="12198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17 - Vendors</a:t>
            </a:r>
            <a:endParaRPr lang="en-US" sz="900" dirty="0"/>
          </a:p>
        </p:txBody>
      </p:sp>
      <p:sp>
        <p:nvSpPr>
          <p:cNvPr id="45" name="Text 39"/>
          <p:cNvSpPr txBox="1"/>
          <p:nvPr/>
        </p:nvSpPr>
        <p:spPr>
          <a:xfrm>
            <a:off x="533095" y="1047902"/>
            <a:ext cx="5610758"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Sarah Mitchell - TPRM Lead</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Annual, quarterly Tier 1</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20 of 61 - Worksheet 17 / 57</a:t>
            </a:r>
            <a:endParaRPr lang="en-US" sz="8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17468" y="1047902"/>
            <a:ext cx="1438351"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18</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Incident register for AI-related events. Owner AI Security Manager and Incident Response. Cadence each incident has a PIR.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Incident ID, Date, Category, Severity, Linked Use Case/Service/Vendor/Risk, Summary, Root Cause, Impact, Containment Action, Remediation Action, Owner, Lessons Learned, Closure Status, PIR Reference.</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incident has PIR Reference and Lessons Learned - converts incidents into organisational learning.</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Incident Analysis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INC-001 Model Drift Sev 2 Claims FNOL seasonal composition shift. INC-003 Output Quality voice agent outdated FAQ index. INC-004 Data Leakage Sev 3 M365 Copilot sensitivity-label inheritance.</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stop incidents repeating, and what does the panel expect from a PIR?</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28002" y="5171846"/>
            <a:ext cx="5198364"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PIR plus Lessons Learned converts data into learning - the closure loop for control updates.</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INC-004 M365 Copilot sensitivity-label gap is the resilience narrative - one low-impact instance, but the row carries the label-inheritance fix that prevents recurrence.</a:t>
            </a:r>
            <a:endParaRPr lang="en-US" sz="1050" dirty="0"/>
          </a:p>
        </p:txBody>
      </p:sp>
      <p:sp>
        <p:nvSpPr>
          <p:cNvPr id="31" name="Shape 25"/>
          <p:cNvSpPr/>
          <p:nvPr/>
        </p:nvSpPr>
        <p:spPr>
          <a:xfrm>
            <a:off x="6829654" y="5171846"/>
            <a:ext cx="4096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096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PIR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Incident Analysis is where near misses become control updates. Each row has PIR reference, lessons learned and closure status - the closure loop is the discipline.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Use Case / Service / Vendor / Risk columns make this an incident graph, not a flat list - the panel can navigate from a row back to its risk and control.</a:t>
            </a:r>
            <a:endParaRPr lang="en-US" sz="1088" dirty="0"/>
          </a:p>
        </p:txBody>
      </p:sp>
      <p:sp>
        <p:nvSpPr>
          <p:cNvPr id="37" name="Text 31"/>
          <p:cNvSpPr txBox="1"/>
          <p:nvPr/>
        </p:nvSpPr>
        <p:spPr>
          <a:xfrm>
            <a:off x="733349" y="776234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Closure Status is the regulator's question - "are your Sev 2 incidents closed?". INC-001 PIR-closed and INC-004 closed are the row that survives FCA op-resilience sample.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Incident Analysis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"Incident Analysis is where near misses become control updates. PIR plus Lessons Learned and Closure Status make each row closure-grade - that is what the panel will probe under 'how do you evidence effectiveness'."</a:t>
            </a:r>
            <a:endParaRPr lang="en-US" sz="1013" dirty="0"/>
          </a:p>
        </p:txBody>
      </p:sp>
      <p:sp>
        <p:nvSpPr>
          <p:cNvPr id="42" name="Text 36"/>
          <p:cNvSpPr txBox="1"/>
          <p:nvPr/>
        </p:nvSpPr>
        <p:spPr>
          <a:xfrm>
            <a:off x="533095" y="171907"/>
            <a:ext cx="364205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18 / 57 - Incident Analysis</a:t>
            </a:r>
            <a:endParaRPr lang="en-US" sz="900" dirty="0"/>
          </a:p>
        </p:txBody>
      </p:sp>
      <p:sp>
        <p:nvSpPr>
          <p:cNvPr id="43" name="Text 37"/>
          <p:cNvSpPr txBox="1"/>
          <p:nvPr/>
        </p:nvSpPr>
        <p:spPr>
          <a:xfrm>
            <a:off x="533095" y="362102"/>
            <a:ext cx="811530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Incident Analysis - AI and AI-Security Incidents and Near Misses</a:t>
            </a:r>
            <a:endParaRPr lang="en-US" sz="1950" dirty="0"/>
          </a:p>
        </p:txBody>
      </p:sp>
      <p:sp>
        <p:nvSpPr>
          <p:cNvPr id="44" name="Text 38"/>
          <p:cNvSpPr txBox="1"/>
          <p:nvPr/>
        </p:nvSpPr>
        <p:spPr>
          <a:xfrm>
            <a:off x="16110814" y="342900"/>
            <a:ext cx="16486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18 - Incident Register</a:t>
            </a:r>
            <a:endParaRPr lang="en-US" sz="900" dirty="0"/>
          </a:p>
        </p:txBody>
      </p:sp>
      <p:sp>
        <p:nvSpPr>
          <p:cNvPr id="45" name="Text 39"/>
          <p:cNvSpPr txBox="1"/>
          <p:nvPr/>
        </p:nvSpPr>
        <p:spPr>
          <a:xfrm>
            <a:off x="533095" y="1047902"/>
            <a:ext cx="448513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 and Incident Response</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21 of 61 - Worksheet 18 / 57</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301009"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22</a:t>
            </a:r>
            <a:pPr algn="l" indent="0" marL="0">
              <a:buNone/>
            </a:pPr>
            <a:r>
              <a:rPr lang="en-US" sz="825" b="1" spc="149" kern="0" dirty="0">
                <a:solidFill>
                  <a:srgbClr val="5B6B82"/>
                </a:solidFill>
                <a:latin typeface="Inter" pitchFamily="34" charset="0"/>
                <a:ea typeface="Inter" pitchFamily="34" charset="-122"/>
                <a:cs typeface="Inter" pitchFamily="34" charset="-120"/>
              </a:rPr>
              <a:t> Worksheet 19</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Workbook control library mapped to ISO/IEC 42001 (primary), ISO 27001, ISO 27701, ISO 31000, NIST AI RMF and FCA expectations. Each control specifies typical objective evidence expected.</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ID, Control Statement, ISO 42001 Clause, Annex A Reference, Other Framework Reference, Linked Policy, Owner, Implementation Status, Evidence ID, Review Frequency, Audit Test Focus.</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AIMS audit-ready spine. ISO 42001 clause, Annex A reference, NIST AI RMF, FCA Consumer Duty on one row.</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Compliance Mapping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CTL-001 intake Clause 6.1, A.6.2.2. CTL-002 Independent challenge Clause 9.1, 9.2. CTL-003 Consumer Duty A.6.2.7 Owner Olivia Bennett POL-002.</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evidence Policy Exception handling, and how is Consumer Duty mapped at a row level?</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55687" y="5171846"/>
            <a:ext cx="5656478"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control links to Linked Policy and Evidence ID - the auditable spine.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The 38 controls across ISO 42001 clauses plus Annex A span the whole AIMS - averaging readiness across them is what drives Board readiness.</a:t>
            </a:r>
            <a:endParaRPr lang="en-US" sz="1050" dirty="0"/>
          </a:p>
        </p:txBody>
      </p:sp>
      <p:sp>
        <p:nvSpPr>
          <p:cNvPr id="31" name="Shape 25"/>
          <p:cNvSpPr/>
          <p:nvPr/>
        </p:nvSpPr>
        <p:spPr>
          <a:xfrm>
            <a:off x="6829654" y="5171846"/>
            <a:ext cx="6382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382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POLICY</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Compliance Mapping is the AIMS audit-ready spine. ISO 42001 clause, Annex A, NIST AI RMF and FCA Consumer Duty on one row per control - that is what makes the AIMS defensible.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Policy and Evidence ID are the auditable companions - panel can pull evidence from a single row, no documents scattered.</a:t>
            </a:r>
            <a:endParaRPr lang="en-US" sz="1088" dirty="0"/>
          </a:p>
        </p:txBody>
      </p:sp>
      <p:sp>
        <p:nvSpPr>
          <p:cNvPr id="37" name="Text 31"/>
          <p:cNvSpPr txBox="1"/>
          <p:nvPr/>
        </p:nvSpPr>
        <p:spPr>
          <a:xfrm>
            <a:off x="733349" y="7762342"/>
            <a:ext cx="1213043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Audit Test Focus column lets an external assessor pick rows in minutes - 38 items cover the full AIMS, the denominator the Board Pack Notes uses.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Compliance Mapping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"Compliance Mapping is the AIMS audit-ready spine. ISO 42001 clause, Annex A, NIST AI RMF and FCA Consumer Duty on one row per control - that is what makes the AIMS defensible, and what the panel will probe first."</a:t>
            </a:r>
            <a:endParaRPr lang="en-US" sz="1013" dirty="0"/>
          </a:p>
        </p:txBody>
      </p:sp>
      <p:sp>
        <p:nvSpPr>
          <p:cNvPr id="42" name="Text 36"/>
          <p:cNvSpPr txBox="1"/>
          <p:nvPr/>
        </p:nvSpPr>
        <p:spPr>
          <a:xfrm>
            <a:off x="533095" y="171907"/>
            <a:ext cx="373806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19 / 57 - Compliance Mapping</a:t>
            </a:r>
            <a:endParaRPr lang="en-US" sz="900" dirty="0"/>
          </a:p>
        </p:txBody>
      </p:sp>
      <p:sp>
        <p:nvSpPr>
          <p:cNvPr id="43" name="Text 37"/>
          <p:cNvSpPr txBox="1"/>
          <p:nvPr/>
        </p:nvSpPr>
        <p:spPr>
          <a:xfrm>
            <a:off x="533095" y="362102"/>
            <a:ext cx="6906463"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Compliance Mapping - ISO/IEC 42001 Control Library</a:t>
            </a:r>
            <a:endParaRPr lang="en-US" sz="1950" dirty="0"/>
          </a:p>
        </p:txBody>
      </p:sp>
      <p:sp>
        <p:nvSpPr>
          <p:cNvPr id="44" name="Text 38"/>
          <p:cNvSpPr txBox="1"/>
          <p:nvPr/>
        </p:nvSpPr>
        <p:spPr>
          <a:xfrm>
            <a:off x="16019374" y="342900"/>
            <a:ext cx="17437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19 - Audit-Ready Spine</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22 of 61 - Worksheet 19 / 57</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23</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20</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Cloud security control inventory protecting AI workloads. Owner CISO and Head of Cloud. Cadence reviewed quarterly.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Area, Control/Service Description, Linked Control ID, Linked Use Cases/Services, Implementation Status, Tooling, Owner, Coverage, Last Test Date, Evidence Ref, Notes.</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Architecture assurance, environment segregation, encryption in transit and at rest - the four pillars for AI workloads on Azure.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Supported by full workbook form tab FORM - Cloud Security.</a:t>
            </a:r>
            <a:endParaRPr lang="en-US" sz="1050" dirty="0"/>
          </a:p>
        </p:txBody>
      </p:sp>
      <p:sp>
        <p:nvSpPr>
          <p:cNvPr id="19" name="Text 13"/>
          <p:cNvSpPr txBox="1"/>
          <p:nvPr/>
        </p:nvSpPr>
        <p:spPr>
          <a:xfrm>
            <a:off x="7666330" y="3880714"/>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Architecture Assurance 100% new AI workloads Karen Holloway. Environment Segregation Azure landing zones Databricks. Encryption at rest AES-256 CMK Key Vault Snowflake.</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What about a new AI workload introduced today, and how do you evidence 100% coverage?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8044891" y="5171846"/>
            <a:ext cx="4481474"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100% of new AI workloads are covered by architecture assurance review - the entry control.</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Encryption at rest uses customer-managed keys for AI training and feature stores - the regulator-grade data classification answer.</a:t>
            </a:r>
            <a:endParaRPr lang="en-US" sz="1050" dirty="0"/>
          </a:p>
        </p:txBody>
      </p:sp>
      <p:sp>
        <p:nvSpPr>
          <p:cNvPr id="31" name="Shape 25"/>
          <p:cNvSpPr/>
          <p:nvPr/>
        </p:nvSpPr>
        <p:spPr>
          <a:xfrm>
            <a:off x="6829654" y="5171846"/>
            <a:ext cx="1123798"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12471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THREAT MODEL</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Cloud Security covers the four pillars: architecture assurance, environment segregation, encryption in transit and encryption at rest. 100% coverage - that is the entry control before AI workloads go live.</a:t>
            </a:r>
            <a:endParaRPr lang="en-US" sz="1088" dirty="0"/>
          </a:p>
        </p:txBody>
      </p:sp>
      <p:sp>
        <p:nvSpPr>
          <p:cNvPr id="36" name="Text 30"/>
          <p:cNvSpPr txBox="1"/>
          <p:nvPr/>
        </p:nvSpPr>
        <p:spPr>
          <a:xfrm>
            <a:off x="733349" y="7704734"/>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Karen Holloway owns the cloud coverage span - panel can read quarterly review cadence in the Last Test Date column.</a:t>
            </a:r>
            <a:endParaRPr lang="en-US" sz="1088" dirty="0"/>
          </a:p>
        </p:txBody>
      </p:sp>
      <p:sp>
        <p:nvSpPr>
          <p:cNvPr id="37" name="Text 31"/>
          <p:cNvSpPr txBox="1"/>
          <p:nvPr/>
        </p:nvSpPr>
        <p:spPr>
          <a:xfrm>
            <a:off x="733349" y="7976311"/>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Coverage percentage is the ONS-grade answer - 100% new AI workloads, 100% environment segregation, 100% encryption - the panel can spot drift between the four pillars immediately.</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full workbook form tab FORM - Cloud Security.</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"Cloud Security covers the four pillars for AI workloads: architecture assurance, environment segregation, encryption in transit and encryption at rest. 100% coverage - that is the entry control before any AI workload goes live."</a:t>
            </a:r>
            <a:endParaRPr lang="en-US" sz="1013" dirty="0"/>
          </a:p>
        </p:txBody>
      </p:sp>
      <p:sp>
        <p:nvSpPr>
          <p:cNvPr id="42" name="Text 36"/>
          <p:cNvSpPr txBox="1"/>
          <p:nvPr/>
        </p:nvSpPr>
        <p:spPr>
          <a:xfrm>
            <a:off x="533095" y="171907"/>
            <a:ext cx="421812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20 / 57 - Cloud Security Services</a:t>
            </a:r>
            <a:endParaRPr lang="en-US" sz="900" dirty="0"/>
          </a:p>
        </p:txBody>
      </p:sp>
      <p:sp>
        <p:nvSpPr>
          <p:cNvPr id="43" name="Text 37"/>
          <p:cNvSpPr txBox="1"/>
          <p:nvPr/>
        </p:nvSpPr>
        <p:spPr>
          <a:xfrm>
            <a:off x="533095" y="362102"/>
            <a:ext cx="763981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Cloud Security Services - Controls Supporting AI Workloads</a:t>
            </a:r>
            <a:endParaRPr lang="en-US" sz="1950" dirty="0"/>
          </a:p>
        </p:txBody>
      </p:sp>
      <p:sp>
        <p:nvSpPr>
          <p:cNvPr id="44" name="Text 38"/>
          <p:cNvSpPr txBox="1"/>
          <p:nvPr/>
        </p:nvSpPr>
        <p:spPr>
          <a:xfrm>
            <a:off x="16226028" y="342900"/>
            <a:ext cx="15343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20 - Cloud Security</a:t>
            </a:r>
            <a:endParaRPr lang="en-US" sz="900" dirty="0"/>
          </a:p>
        </p:txBody>
      </p:sp>
      <p:sp>
        <p:nvSpPr>
          <p:cNvPr id="45" name="Text 39"/>
          <p:cNvSpPr txBox="1"/>
          <p:nvPr/>
        </p:nvSpPr>
        <p:spPr>
          <a:xfrm>
            <a:off x="533095" y="1047902"/>
            <a:ext cx="5058461"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CISO and Head of Cloud</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Quarterly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23 of 61 - Worksheet 20 / 57</a:t>
            </a:r>
            <a:endParaRPr lang="en-US" sz="8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99180"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24</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21</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IAM controls protecting AI services and data. Owner CISO. Cadence quarterly recertification.</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Area, Control/Service Description, Linked Control ID, Scope, Implementation Status, Tooling, Owner, Recertification Cadence, Last Recert Date, Evidence Ref, Notes.</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PAM, RBAC, workload identity, JML - four controls, quarterly cadence, named owner.</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No FORM tab in reduced template. Supported by FORM - IAM Services.</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Privileged Access CyberArk Karen Holloway Quarterly. RBAC Entra ID Databricks Unity Catalog Quarterly. Workload Identity Managed Identities Half-yearly. JML Entra ID plus ServiceNow HR feed Continuous plus quarterly.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What happens when a privileged user does not use PAM, and how do you evidence JIT and session recording?</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92010" y="5171846"/>
            <a:ext cx="5820156"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Privileged access enforced for all production AI - JIT and session recording Tier 1.</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Joiner-Mover-Leaver is continuous via HR feed - same-day removal for leavers, manager attestation for movers.</a:t>
            </a:r>
            <a:endParaRPr lang="en-US" sz="1050" dirty="0"/>
          </a:p>
        </p:txBody>
      </p:sp>
      <p:sp>
        <p:nvSpPr>
          <p:cNvPr id="31" name="Shape 25"/>
          <p:cNvSpPr/>
          <p:nvPr/>
        </p:nvSpPr>
        <p:spPr>
          <a:xfrm>
            <a:off x="6829654" y="5171846"/>
            <a:ext cx="476402"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764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PAM</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IAM Services is the discipline that bounds the AI estate. PAM with JIT and Tier-1 session recording, RBAC, workload identity, JML - four controls, quarterly plus continuous cadence.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Managed identities preferred over secrets - Workload Identity row makes that explicit and the panel can spot drift between workload and human identities.</a:t>
            </a:r>
            <a:endParaRPr lang="en-US" sz="1088" dirty="0"/>
          </a:p>
        </p:txBody>
      </p:sp>
      <p:sp>
        <p:nvSpPr>
          <p:cNvPr id="37" name="Text 31"/>
          <p:cNvSpPr txBox="1"/>
          <p:nvPr/>
        </p:nvSpPr>
        <p:spPr>
          <a:xfrm>
            <a:off x="733349" y="776234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Recertification Cadence column is defensible: quarterly RBAC plus PAM, half-yearly Workload Identity, continuous JML through HR feed - the discipline survives FCA op-resilience challenge.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FORM - IAM Services.</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"IAM Services is the discipline that bounds the AI estate. PAM with JIT and session recording for Tier 1 - that is the answer to 'how do you prevent privileged abuse' that the panel will probe."</a:t>
            </a:r>
            <a:endParaRPr lang="en-US" sz="1013" dirty="0"/>
          </a:p>
        </p:txBody>
      </p:sp>
      <p:sp>
        <p:nvSpPr>
          <p:cNvPr id="42" name="Text 36"/>
          <p:cNvSpPr txBox="1"/>
          <p:nvPr/>
        </p:nvSpPr>
        <p:spPr>
          <a:xfrm>
            <a:off x="533095" y="171907"/>
            <a:ext cx="3155594"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21 / 57 - IAM Services</a:t>
            </a:r>
            <a:endParaRPr lang="en-US" sz="900" dirty="0"/>
          </a:p>
        </p:txBody>
      </p:sp>
      <p:sp>
        <p:nvSpPr>
          <p:cNvPr id="43" name="Text 37"/>
          <p:cNvSpPr txBox="1"/>
          <p:nvPr/>
        </p:nvSpPr>
        <p:spPr>
          <a:xfrm>
            <a:off x="533095" y="362102"/>
            <a:ext cx="72301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IAM Services - Identity and Access Controls for AI Estate</a:t>
            </a:r>
            <a:endParaRPr lang="en-US" sz="1950" dirty="0"/>
          </a:p>
        </p:txBody>
      </p:sp>
      <p:sp>
        <p:nvSpPr>
          <p:cNvPr id="44" name="Text 38"/>
          <p:cNvSpPr txBox="1"/>
          <p:nvPr/>
        </p:nvSpPr>
        <p:spPr>
          <a:xfrm>
            <a:off x="16291865" y="342900"/>
            <a:ext cx="146761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21 - IAM Controls</a:t>
            </a:r>
            <a:endParaRPr lang="en-US" sz="900" dirty="0"/>
          </a:p>
        </p:txBody>
      </p:sp>
      <p:sp>
        <p:nvSpPr>
          <p:cNvPr id="45" name="Text 39"/>
          <p:cNvSpPr txBox="1"/>
          <p:nvPr/>
        </p:nvSpPr>
        <p:spPr>
          <a:xfrm>
            <a:off x="533095" y="1047902"/>
            <a:ext cx="480060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CISO</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Quarterly recertification</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24 of 61 - Worksheet 21 / 57</a:t>
            </a:r>
            <a:endParaRPr lang="en-US" sz="8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25</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22</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Operational, governance, assurance and service delivery metrics. Owner AI Security Manager. Cadence monthly.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KPI ID, KPI Name, Linked Service/Use Case/Control, Target, Actual, Trend, Status, Owner, Cadence, Source Logic, Notes, KPI Summary.</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IF formula: On Track, At Risk, Off Track. Each KPI pairs target and actual to service and owner.</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KPI Tracking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KPI-001 SVC-001 target 0.95 actual 0.97 On Track Daniel O Reilly. KPI-002 SVC-002 target 0.98 actual 0.96 At Risk Mohammed Iqbal. KPI-003 Claims AI uptime 99.5% 0.997 actual. KPI-004 Fraud FPR 0.9 0.92.</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communicate At Risk without scaring the Board, and how do you handle KPI-002 sitting at 0.96 against 0.98 target?</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78294" y="5171846"/>
            <a:ext cx="583387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IF formula gives the colour band - At Risk sits between 90% and 100% of target.</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Source Logic column is the audit-grade answer for "where does the data come from" - ServiceNow for service data, Databricks for technical metrics.</a:t>
            </a:r>
            <a:endParaRPr lang="en-US" sz="1050" dirty="0"/>
          </a:p>
        </p:txBody>
      </p:sp>
      <p:sp>
        <p:nvSpPr>
          <p:cNvPr id="31" name="Shape 25"/>
          <p:cNvSpPr/>
          <p:nvPr/>
        </p:nvSpPr>
        <p:spPr>
          <a:xfrm>
            <a:off x="6829654" y="5171846"/>
            <a:ext cx="457200"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5720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RAG</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KPIs are colour-banded with a formula. On Track if actual meets target. At Risk between 90% and 100%. Off Track below 90% - that is the discipline that puts KPI-002 at At Risk in the conversation.</a:t>
            </a:r>
            <a:endParaRPr lang="en-US" sz="1088" dirty="0"/>
          </a:p>
        </p:txBody>
      </p:sp>
      <p:sp>
        <p:nvSpPr>
          <p:cNvPr id="36" name="Text 30"/>
          <p:cNvSpPr txBox="1"/>
          <p:nvPr/>
        </p:nvSpPr>
        <p:spPr>
          <a:xfrm>
            <a:off x="733349" y="7704734"/>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Source Logic column gives the audit-grade answer for "where does the data come from" - ServiceNow for service data, Databricks and Sentinel for technical metrics, fraud platform and sanctions for assurance.</a:t>
            </a:r>
            <a:endParaRPr lang="en-US" sz="1088" dirty="0"/>
          </a:p>
        </p:txBody>
      </p:sp>
      <p:sp>
        <p:nvSpPr>
          <p:cNvPr id="37" name="Text 31"/>
          <p:cNvSpPr txBox="1"/>
          <p:nvPr/>
        </p:nvSpPr>
        <p:spPr>
          <a:xfrm>
            <a:off x="733349" y="8190281"/>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pair each KPI with its Service and its Owner - panel can read the line about KPI-002 and see immediately that Mohammed Iqbal's assurance backlog is what is moving the dial.</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KPI Tracking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"KPIs are colour-banded with a formula. On Track if actual meets target. At Risk if actual sits between 90% and 100% of target. Off Track below 90%. KPI-002 at 0.96 against 0.98 target is the At Risk row a panel will probe first."</a:t>
            </a:r>
            <a:endParaRPr lang="en-US" sz="1013" dirty="0"/>
          </a:p>
        </p:txBody>
      </p:sp>
      <p:sp>
        <p:nvSpPr>
          <p:cNvPr id="42" name="Text 36"/>
          <p:cNvSpPr txBox="1"/>
          <p:nvPr/>
        </p:nvSpPr>
        <p:spPr>
          <a:xfrm>
            <a:off x="533095" y="171907"/>
            <a:ext cx="315742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22 / 57 - KPI Tracking</a:t>
            </a:r>
            <a:endParaRPr lang="en-US" sz="900" dirty="0"/>
          </a:p>
        </p:txBody>
      </p:sp>
      <p:sp>
        <p:nvSpPr>
          <p:cNvPr id="43" name="Text 37"/>
          <p:cNvSpPr txBox="1"/>
          <p:nvPr/>
        </p:nvSpPr>
        <p:spPr>
          <a:xfrm>
            <a:off x="533095" y="362102"/>
            <a:ext cx="66394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KPI Tracking - Operational and Governance Metrics</a:t>
            </a:r>
            <a:endParaRPr lang="en-US" sz="1950" dirty="0"/>
          </a:p>
        </p:txBody>
      </p:sp>
      <p:sp>
        <p:nvSpPr>
          <p:cNvPr id="44" name="Text 38"/>
          <p:cNvSpPr txBox="1"/>
          <p:nvPr/>
        </p:nvSpPr>
        <p:spPr>
          <a:xfrm>
            <a:off x="16584473" y="342900"/>
            <a:ext cx="11722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22 - Metrics</a:t>
            </a:r>
            <a:endParaRPr lang="en-US" sz="900" dirty="0"/>
          </a:p>
        </p:txBody>
      </p:sp>
      <p:sp>
        <p:nvSpPr>
          <p:cNvPr id="45" name="Text 39"/>
          <p:cNvSpPr txBox="1"/>
          <p:nvPr/>
        </p:nvSpPr>
        <p:spPr>
          <a:xfrm>
            <a:off x="533095" y="1047902"/>
            <a:ext cx="436626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Monthly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25 of 61 - Worksheet 22 / 57</a:t>
            </a:r>
            <a:endParaRPr lang="en-US" sz="8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26</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23</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Domain-level capability maturity. 1 Initial, 2 Developing, 3 Defined, 4 Managed, 5 Optimised. Owner AI Security Manager. Cadence half-yearly.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Domain ID, Domain, Description, Current Maturity, Current Level, Target Maturity, Target Level, Gap, Narrative Rationale, Linked Roadmap IDs, Owner, Maturity Summary.</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domain Current vs Target with Gap and Narrative Rationale. The roadmap is built to close the gap.</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Assessment maintained in populated workbook and used for roll-ups.</a:t>
            </a:r>
            <a:endParaRPr lang="en-US" sz="1050" dirty="0"/>
          </a:p>
        </p:txBody>
      </p:sp>
      <p:sp>
        <p:nvSpPr>
          <p:cNvPr id="19" name="Text 13"/>
          <p:cNvSpPr txBox="1"/>
          <p:nvPr/>
        </p:nvSpPr>
        <p:spPr>
          <a:xfrm>
            <a:off x="7666330" y="3880714"/>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MAT-01 Governance current 4 Managed target 5 Optimised gap 1. MAT-02 Risk Management current 3 Defined target 4 Managed. MAT-04 Privacy current 3 Defined target 4 Managed.</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defend a 3 (Defined) versus a 4 (Managed) score without softening standards?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95006" y="5171846"/>
            <a:ext cx="547542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Narrative Rationale column justifies the score - auditors will ask.</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Linked Roadmap IDs close the gap into action - MAT-02 Linked to RDM-002, MAT-09 MAT-10 to RDM-001.</a:t>
            </a:r>
            <a:endParaRPr lang="en-US" sz="1050" dirty="0"/>
          </a:p>
        </p:txBody>
      </p:sp>
      <p:sp>
        <p:nvSpPr>
          <p:cNvPr id="31" name="Shape 25"/>
          <p:cNvSpPr/>
          <p:nvPr/>
        </p:nvSpPr>
        <p:spPr>
          <a:xfrm>
            <a:off x="6829654" y="5171846"/>
            <a:ext cx="6766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766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JUSTIFY</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Maturity Assessment scores each domain 1 to 5 against target. Narrative Rationale justifies the score. Half-yearly cadence - the discipline that survives ISO 42001 assessment.</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write the Narrative Rationale so my assessor can read the row and the level without a meeting. MAT-02 at 3 Defined because risk quantification is consistent but not yet predictive.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Roadmap IDs close the gap into action - RDM-001 to RDM-016 carry the maturity story from cap into delivery.</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Assessment maintained in populated workbook and used for roll-ups.</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"Maturity Assessment scores each domain 1 to 5 against target. Narrative Rationale justifies the score. Half-yearly cadence - that is the discipline that survives an ISO 42001 assessor reading one row cold."</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23 / 57 - Maturity Assessment</a:t>
            </a:r>
            <a:endParaRPr lang="en-US" sz="900" dirty="0"/>
          </a:p>
        </p:txBody>
      </p:sp>
      <p:sp>
        <p:nvSpPr>
          <p:cNvPr id="43" name="Text 37"/>
          <p:cNvSpPr txBox="1"/>
          <p:nvPr/>
        </p:nvSpPr>
        <p:spPr>
          <a:xfrm>
            <a:off x="533095" y="362102"/>
            <a:ext cx="73819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Maturity Assessment - AI Governance Capability Maturity</a:t>
            </a:r>
            <a:endParaRPr lang="en-US" sz="1950" dirty="0"/>
          </a:p>
        </p:txBody>
      </p:sp>
      <p:sp>
        <p:nvSpPr>
          <p:cNvPr id="44" name="Text 38"/>
          <p:cNvSpPr txBox="1"/>
          <p:nvPr/>
        </p:nvSpPr>
        <p:spPr>
          <a:xfrm>
            <a:off x="16528694" y="342900"/>
            <a:ext cx="12289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23 - Maturity</a:t>
            </a:r>
            <a:endParaRPr lang="en-US" sz="900" dirty="0"/>
          </a:p>
        </p:txBody>
      </p:sp>
      <p:sp>
        <p:nvSpPr>
          <p:cNvPr id="45" name="Text 39"/>
          <p:cNvSpPr txBox="1"/>
          <p:nvPr/>
        </p:nvSpPr>
        <p:spPr>
          <a:xfrm>
            <a:off x="533095" y="1047902"/>
            <a:ext cx="491490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Half-yearly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26 of 61 - Worksheet 23 / 57</a:t>
            </a:r>
            <a:endParaRPr lang="en-US" sz="8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24</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Documents formulas, source sheets, threshold logic, assumptions and caveats for KPIs, KRIs and dashboard rollups. Owner AI Security Manager. Reviewed half-yearly.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Metric ID, Metric Name, Formula Logic, Source Sheet(s), Threshold/RAG Logic, Assumptions, Caveats, Interpretation Notes.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Formula, source sheet, threshold and caveat on one row. Trend over 3 months more meaningful than monthly point.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Supported by full workbook form tab FORM - Metrics Calc Guide.</a:t>
            </a:r>
            <a:endParaRPr lang="en-US" sz="1050" dirty="0"/>
          </a:p>
        </p:txBody>
      </p:sp>
      <p:sp>
        <p:nvSpPr>
          <p:cNvPr id="19" name="Text 13"/>
          <p:cNvSpPr txBox="1"/>
          <p:nvPr/>
        </p:nvSpPr>
        <p:spPr>
          <a:xfrm>
            <a:off x="7666330" y="3880714"/>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KPI-001 formula COUNTIFS(target_met) divided by COUNTA(intakes) source Service Request Log threshold 95% Green 90-95% Amber &lt;90% Red. Caveat: trend over 3 months more meaningful than monthly estimate.</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a trend caveat on monthly KPI and what changes if you ignored it?</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81290" y="5171846"/>
            <a:ext cx="5234940"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A monthly point estimate is noisy - 3-month trend is the signal.</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Assumptions column names ServiceNow-only intakes - exclusions make the metric defensible to procurement scrutiny.</a:t>
            </a:r>
            <a:endParaRPr lang="en-US" sz="1050" dirty="0"/>
          </a:p>
        </p:txBody>
      </p:sp>
      <p:sp>
        <p:nvSpPr>
          <p:cNvPr id="31" name="Shape 25"/>
          <p:cNvSpPr/>
          <p:nvPr/>
        </p:nvSpPr>
        <p:spPr>
          <a:xfrm>
            <a:off x="6829654" y="5171846"/>
            <a:ext cx="666598"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6751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CAVEAT</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Metrics Calc Guide is where formula, source, threshold and caveat live together. The trend caveat is what prevents chasing monthly noise.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metric row pairs to a Source Sheet name. Service Request Log for volumes, ServiceNow report for service data, Databricks and Sentinel for technical metrics.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Interpretation Notes is the panel handout - I quote it when asked to defend a metric cold, and the answer lands in one paragraph.</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full workbook form tab FORM - Metrics Calc Guide.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"Metrics Calc Guide is where formula, source, threshold and caveat live together. The trend caveat is what prevents chasing monthly noise - that is the discipline a panel will probe when the numbers wobble."</a:t>
            </a:r>
            <a:endParaRPr lang="en-US" sz="1013" dirty="0"/>
          </a:p>
        </p:txBody>
      </p:sp>
      <p:sp>
        <p:nvSpPr>
          <p:cNvPr id="42" name="Text 36"/>
          <p:cNvSpPr txBox="1"/>
          <p:nvPr/>
        </p:nvSpPr>
        <p:spPr>
          <a:xfrm>
            <a:off x="533095" y="171907"/>
            <a:ext cx="441015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24 / 57 - Metrics Calculation Guide</a:t>
            </a:r>
            <a:endParaRPr lang="en-US" sz="900" dirty="0"/>
          </a:p>
        </p:txBody>
      </p:sp>
      <p:sp>
        <p:nvSpPr>
          <p:cNvPr id="43" name="Text 37"/>
          <p:cNvSpPr txBox="1"/>
          <p:nvPr/>
        </p:nvSpPr>
        <p:spPr>
          <a:xfrm>
            <a:off x="533095" y="362102"/>
            <a:ext cx="779160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Metrics Calculation Guide - Formulas, Sources, Interpretation</a:t>
            </a:r>
            <a:endParaRPr lang="en-US" sz="1950" dirty="0"/>
          </a:p>
        </p:txBody>
      </p:sp>
      <p:sp>
        <p:nvSpPr>
          <p:cNvPr id="44" name="Text 38"/>
          <p:cNvSpPr txBox="1"/>
          <p:nvPr/>
        </p:nvSpPr>
        <p:spPr>
          <a:xfrm>
            <a:off x="16255289" y="342900"/>
            <a:ext cx="150510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24 - Metrics Guide</a:t>
            </a:r>
            <a:endParaRPr lang="en-US" sz="900" dirty="0"/>
          </a:p>
        </p:txBody>
      </p:sp>
      <p:sp>
        <p:nvSpPr>
          <p:cNvPr id="45" name="Text 39"/>
          <p:cNvSpPr txBox="1"/>
          <p:nvPr/>
        </p:nvSpPr>
        <p:spPr>
          <a:xfrm>
            <a:off x="533095" y="1047902"/>
            <a:ext cx="491490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Half-yearly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27 of 61 - Worksheet 24 / 57</a:t>
            </a:r>
            <a:endParaRPr lang="en-US" sz="8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25</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Inventory of platforms, tools and integrations supporting the AI estate. Owner Head of Cloud and AI Security Manager. Cadence half-yearly review.</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Technology/Tool, Category, Vendor, Purpose, Lifecycle State, Owner, Environment, Linked Services/Use Cases, Security Relevance, Hosting Model, Notes.</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Inventory layer. Each tool linked to service and use case - the change-impact lens.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Supported by full workbook form tab FORM - Technology Stack.</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Microsoft Azure UK South Cloud Platform Microsoft Production Strategic. Databricks MLOps. Snowflake Data warehouse. Featurespace Fraud analytics SaaS.</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Tech Stack vs Cloud Security - what is the difference, and where is the inventory of managed identities, datasets and pipelines?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8295437" y="5171846"/>
            <a:ext cx="4230929"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Tech Stack inventories. Cloud Security covers what protects the stack - two sheets, two purposes.</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Lifecycle State column - Strategic / Operational / Retiring - is the change-impact discipline the panel will probe.</a:t>
            </a:r>
            <a:endParaRPr lang="en-US" sz="1050" dirty="0"/>
          </a:p>
        </p:txBody>
      </p:sp>
      <p:sp>
        <p:nvSpPr>
          <p:cNvPr id="31" name="Shape 25"/>
          <p:cNvSpPr/>
          <p:nvPr/>
        </p:nvSpPr>
        <p:spPr>
          <a:xfrm>
            <a:off x="6829654" y="5171846"/>
            <a:ext cx="13807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3816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STACK VS CONTROL</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Technology Stack is the inventory layer. Cloud Security is the controls that protect the stack. Two sheets, two purposes - separate sheets, separate owners, separate cadences.</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Lifecycle State is the change-impact discipline - Strategic versus Operational versus Retiring tells the panel what is moving in and what is moving out.</a:t>
            </a:r>
            <a:endParaRPr lang="en-US" sz="1088" dirty="0"/>
          </a:p>
        </p:txBody>
      </p:sp>
      <p:sp>
        <p:nvSpPr>
          <p:cNvPr id="37" name="Text 31"/>
          <p:cNvSpPr txBox="1"/>
          <p:nvPr/>
        </p:nvSpPr>
        <p:spPr>
          <a:xfrm>
            <a:off x="733349" y="776234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Services and Use Cases columns give me the impact radius for every tooling change - retiring Databricks touches many use cases and many services at once.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FORM - Technology Stack.</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"Tech Stack is the inventory, Cloud Security is the controls. Two sheets, two purposes - and Lifecycle State is the change-impact discipline the panel will probe."</a:t>
            </a:r>
            <a:endParaRPr lang="en-US" sz="1013" dirty="0"/>
          </a:p>
        </p:txBody>
      </p:sp>
      <p:sp>
        <p:nvSpPr>
          <p:cNvPr id="42" name="Text 36"/>
          <p:cNvSpPr txBox="1"/>
          <p:nvPr/>
        </p:nvSpPr>
        <p:spPr>
          <a:xfrm>
            <a:off x="533095" y="171907"/>
            <a:ext cx="354604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25 / 57 - Technology Stack</a:t>
            </a:r>
            <a:endParaRPr lang="en-US" sz="900" dirty="0"/>
          </a:p>
        </p:txBody>
      </p:sp>
      <p:sp>
        <p:nvSpPr>
          <p:cNvPr id="43" name="Text 37"/>
          <p:cNvSpPr txBox="1"/>
          <p:nvPr/>
        </p:nvSpPr>
        <p:spPr>
          <a:xfrm>
            <a:off x="533095" y="362102"/>
            <a:ext cx="6106363"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Technology Stack - AI Estate Tooling Inventory</a:t>
            </a:r>
            <a:endParaRPr lang="en-US" sz="1950" dirty="0"/>
          </a:p>
        </p:txBody>
      </p:sp>
      <p:sp>
        <p:nvSpPr>
          <p:cNvPr id="44" name="Text 38"/>
          <p:cNvSpPr txBox="1"/>
          <p:nvPr/>
        </p:nvSpPr>
        <p:spPr>
          <a:xfrm>
            <a:off x="16584473" y="342900"/>
            <a:ext cx="11722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25 - Tooling</a:t>
            </a:r>
            <a:endParaRPr lang="en-US" sz="900" dirty="0"/>
          </a:p>
        </p:txBody>
      </p:sp>
      <p:sp>
        <p:nvSpPr>
          <p:cNvPr id="45" name="Text 39"/>
          <p:cNvSpPr txBox="1"/>
          <p:nvPr/>
        </p:nvSpPr>
        <p:spPr>
          <a:xfrm>
            <a:off x="533095" y="1047902"/>
            <a:ext cx="5896051"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Head of Cloud and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Half-yearly</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28 of 61 - Worksheet 25 / 57</a:t>
            </a:r>
            <a:endParaRPr lang="en-US" sz="8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29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26</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Catalogue of automations supporting controls, evidence and operational workflows. Owner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Automation ID, Automation Name, Purpose, Trigger, Tool/Platform, Owner, Linked Control, Linked Service, Review Cadence, Failure Handling, Fallback Manual Control, Last Test Date.</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automation has owner, trigger, fallback manual control and test cadence.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No FORM tab in reduced template. Supported by FORM - Automation Hub.</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AUT-001 Drift alert to SIEM and ServiceNow - Drift threshold breach trigger - Databricks plus Sentinel plus ServiceNow - Mohammed Iqbal - CTL-005 - SVC-010 - manual drift investigation fallback.</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are automations documented as controls, and how do you evidence the failure path?</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13878" y="5171846"/>
            <a:ext cx="549828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automation lists Fallback Manual Control - the resilience proof.</a:t>
            </a:r>
            <a:endParaRPr lang="en-US" sz="1050" dirty="0"/>
          </a:p>
        </p:txBody>
      </p:sp>
      <p:sp>
        <p:nvSpPr>
          <p:cNvPr id="30" name="Text 24"/>
          <p:cNvSpPr txBox="1"/>
          <p:nvPr/>
        </p:nvSpPr>
        <p:spPr>
          <a:xfrm>
            <a:off x="6829654" y="5486400"/>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Last Test Date column is the audit-grade evidence the automation still works on demand.</a:t>
            </a:r>
            <a:endParaRPr lang="en-US" sz="1050" dirty="0"/>
          </a:p>
        </p:txBody>
      </p:sp>
      <p:sp>
        <p:nvSpPr>
          <p:cNvPr id="31" name="Shape 25"/>
          <p:cNvSpPr/>
          <p:nvPr/>
        </p:nvSpPr>
        <p:spPr>
          <a:xfrm>
            <a:off x="6829654" y="5171846"/>
            <a:ext cx="7909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909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FALLBACK</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Automations are controls. Without a Fallback Manual Control the automation is an untested failure path - AUT-001 pairs automated drift alert with manual drift investigation.</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automation links to a Control and a Service - that is the join key to Compliance Mapping and Service Catalog.</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Failure Handling column tells the panel what happens when the trigger does not fire - manual rollback or ticket escalation, named explicitly.</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FORM - Automation Hub.</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"Automations are controls. Without a Fallback Manual Control the automation is an untested failure path. AUT-001 pairs drift alert automation with manual drift investigation - that is the resilience proof."</a:t>
            </a:r>
            <a:endParaRPr lang="en-US" sz="1013" dirty="0"/>
          </a:p>
        </p:txBody>
      </p:sp>
      <p:sp>
        <p:nvSpPr>
          <p:cNvPr id="42" name="Text 36"/>
          <p:cNvSpPr txBox="1"/>
          <p:nvPr/>
        </p:nvSpPr>
        <p:spPr>
          <a:xfrm>
            <a:off x="533095" y="171907"/>
            <a:ext cx="335401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26 / 57 - Automation Hub</a:t>
            </a:r>
            <a:endParaRPr lang="en-US" sz="900" dirty="0"/>
          </a:p>
        </p:txBody>
      </p:sp>
      <p:sp>
        <p:nvSpPr>
          <p:cNvPr id="43" name="Text 37"/>
          <p:cNvSpPr txBox="1"/>
          <p:nvPr/>
        </p:nvSpPr>
        <p:spPr>
          <a:xfrm>
            <a:off x="533095" y="362102"/>
            <a:ext cx="8268005"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Automation Hub - AI Security Control and Evidence Automations</a:t>
            </a:r>
            <a:endParaRPr lang="en-US" sz="1950" dirty="0"/>
          </a:p>
        </p:txBody>
      </p:sp>
      <p:sp>
        <p:nvSpPr>
          <p:cNvPr id="44" name="Text 38"/>
          <p:cNvSpPr txBox="1"/>
          <p:nvPr/>
        </p:nvSpPr>
        <p:spPr>
          <a:xfrm>
            <a:off x="16355873" y="342900"/>
            <a:ext cx="14008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26 - Automation</a:t>
            </a:r>
            <a:endParaRPr lang="en-US" sz="900" dirty="0"/>
          </a:p>
        </p:txBody>
      </p:sp>
      <p:sp>
        <p:nvSpPr>
          <p:cNvPr id="45" name="Text 39"/>
          <p:cNvSpPr txBox="1"/>
          <p:nvPr/>
        </p:nvSpPr>
        <p:spPr>
          <a:xfrm>
            <a:off x="533095" y="1047902"/>
            <a:ext cx="349940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29 of 61 - Worksheet 26 / 57</a:t>
            </a:r>
            <a:endParaRPr lang="en-US" sz="8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1"/>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2"/>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3"/>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4"/>
          <a:srcRect l="0" r="0" t="-393" b="-393"/>
          <a:stretch/>
        </p:blipFill>
        <p:spPr>
          <a:xfrm>
            <a:off x="0" y="10211105"/>
            <a:ext cx="2095805" cy="19202"/>
          </a:xfrm>
          <a:prstGeom prst="rect">
            <a:avLst/>
          </a:prstGeom>
        </p:spPr>
      </p:pic>
      <p:sp>
        <p:nvSpPr>
          <p:cNvPr id="7" name="Text 1"/>
          <p:cNvSpPr txBox="1"/>
          <p:nvPr/>
        </p:nvSpPr>
        <p:spPr>
          <a:xfrm>
            <a:off x="16287293"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27</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Roles, FTE, sourcing model and skills mix for the AI Security function. Owner AI Security Manager. Cadence reviewed half-yearly with HR.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Role ID, Role Title, FTE Current, FTE Target, Sourcing Model, Core Skills, Coverage Area, Dependency Risk, Training Requirement, Hiring or Succession Need, Timeline Notes, Resource Summary.</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Maps FTE current vs target - dependency risk is the test the panel will ask.</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Supported by FORM - Resource Planning.</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RES-001 AI Security Manager 1 FTE current, 1 target Internal FTE High single-point dependency. RES-002 model assurance 3 FTE Mixed sourcing.</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avoid single-point dependency on the AI Security Manager role and what does succession look like?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33158" y="5171846"/>
            <a:ext cx="5093208"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High single-point dependency on RES-001 - mitigated by deputy, handover artefacts, succession plan.</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Coverage Area column is what the panel will probe - "your function covers the whole AI estate with 7 FTE - how?"</a:t>
            </a:r>
            <a:endParaRPr lang="en-US" sz="1050" dirty="0"/>
          </a:p>
        </p:txBody>
      </p:sp>
      <p:sp>
        <p:nvSpPr>
          <p:cNvPr id="31" name="Shape 25"/>
          <p:cNvSpPr/>
          <p:nvPr/>
        </p:nvSpPr>
        <p:spPr>
          <a:xfrm>
            <a:off x="6829654" y="5171846"/>
            <a:ext cx="514807"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14807"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SPOF</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Resource Planning maps FTE, sourcing and dependency risk. RES-001 has High single-point dependency - that is the test the panel will ask, and the answer is deputy, succession plan and handover artefacts.</a:t>
            </a:r>
            <a:endParaRPr lang="en-US" sz="1088" dirty="0"/>
          </a:p>
        </p:txBody>
      </p:sp>
      <p:sp>
        <p:nvSpPr>
          <p:cNvPr id="36" name="Text 30"/>
          <p:cNvSpPr txBox="1"/>
          <p:nvPr/>
        </p:nvSpPr>
        <p:spPr>
          <a:xfrm>
            <a:off x="733349" y="7704734"/>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Sourcing Model column tells the panel how I scale capacity - internal FTE for permanent capability, mixed sourcing for surge capability.</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Training Requirement is the column that proves the function can grow into Tier 1 capability without external hire at peak.</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FORM - Resource Planning.</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"RES-001 has High single-point dependency - that is the panel probe. The mitigation is named deputy, succession plan and handover artefacts - the discipline that keeps the function alive when the AI Security Manager is unavailable."</a:t>
            </a:r>
            <a:endParaRPr lang="en-US" sz="1013" dirty="0"/>
          </a:p>
        </p:txBody>
      </p:sp>
      <p:sp>
        <p:nvSpPr>
          <p:cNvPr id="42" name="Text 36"/>
          <p:cNvSpPr txBox="1"/>
          <p:nvPr/>
        </p:nvSpPr>
        <p:spPr>
          <a:xfrm>
            <a:off x="533095" y="171907"/>
            <a:ext cx="364205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27 / 57 - Resource Planning</a:t>
            </a:r>
            <a:endParaRPr lang="en-US" sz="900" dirty="0"/>
          </a:p>
        </p:txBody>
      </p:sp>
      <p:sp>
        <p:nvSpPr>
          <p:cNvPr id="43" name="Text 37"/>
          <p:cNvSpPr txBox="1"/>
          <p:nvPr/>
        </p:nvSpPr>
        <p:spPr>
          <a:xfrm>
            <a:off x="533095" y="362102"/>
            <a:ext cx="72868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Resource Planning - AI Security Function Workforce Plan</a:t>
            </a:r>
            <a:endParaRPr lang="en-US" sz="1950" dirty="0"/>
          </a:p>
        </p:txBody>
      </p:sp>
      <p:sp>
        <p:nvSpPr>
          <p:cNvPr id="44" name="Text 38"/>
          <p:cNvSpPr txBox="1"/>
          <p:nvPr/>
        </p:nvSpPr>
        <p:spPr>
          <a:xfrm>
            <a:off x="16187623" y="342900"/>
            <a:ext cx="15718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27 - Workforce Plan</a:t>
            </a:r>
            <a:endParaRPr lang="en-US" sz="900" dirty="0"/>
          </a:p>
        </p:txBody>
      </p:sp>
      <p:sp>
        <p:nvSpPr>
          <p:cNvPr id="45" name="Text 39"/>
          <p:cNvSpPr txBox="1"/>
          <p:nvPr/>
        </p:nvSpPr>
        <p:spPr>
          <a:xfrm>
            <a:off x="533095" y="1047902"/>
            <a:ext cx="5343754"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Half-yearly with HR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30 of 61 - Worksheet 27 / 57</a:t>
            </a:r>
            <a:endParaRPr lang="en-US" sz="825"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301009"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28</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Run, change and contingency budget for the AI Security function. Owner AI Security Manager and Finance Business Partner. All values in GBP thousands.</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Budget Line ID, Budget Line, Category, Run/Change, Annual Cost, Monthly Equivalent, Owner, Variance, Commentary, Budget Summary.</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Run is salaries, licences, audit fees. Change is funded projects. Stable Run, visible Change.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No FORM tab in reduced template. Supported by FORM - Financial Analysis.</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FIN-001 AI Security Manager Salary on-costs Staff Run GBP 145k annual. FIN-002 model assurance. FIN-003 tooling. FIN-004 training. FIN-005 audit and assurance.</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Run vs Change justified externally, and what conversations with Finance BP does that drive?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941564" y="5171846"/>
            <a:ext cx="4584802"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External reviewers want Run growing slower than Change - proof of investment efficiency.</a:t>
            </a:r>
            <a:endParaRPr lang="en-US" sz="1050" dirty="0"/>
          </a:p>
        </p:txBody>
      </p:sp>
      <p:sp>
        <p:nvSpPr>
          <p:cNvPr id="30" name="Text 24"/>
          <p:cNvSpPr txBox="1"/>
          <p:nvPr/>
        </p:nvSpPr>
        <p:spPr>
          <a:xfrm>
            <a:off x="6829654" y="5693969"/>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Variance column is the in-year discipline - actual vs plan, owner narrative, full year forecast.</a:t>
            </a:r>
            <a:endParaRPr lang="en-US" sz="1050" dirty="0"/>
          </a:p>
        </p:txBody>
      </p:sp>
      <p:sp>
        <p:nvSpPr>
          <p:cNvPr id="31" name="Shape 25"/>
          <p:cNvSpPr/>
          <p:nvPr/>
        </p:nvSpPr>
        <p:spPr>
          <a:xfrm>
            <a:off x="6829654" y="5171846"/>
            <a:ext cx="10195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0195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RUN/CHANGE</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Financial Analysis splits Run and Change for external readers. Run is salaries, licences, audit fees. Change is funded projects. Stable Run, visible Change - the discipline of explaining investment efficiency.</a:t>
            </a:r>
            <a:endParaRPr lang="en-US" sz="1088" dirty="0"/>
          </a:p>
        </p:txBody>
      </p:sp>
      <p:sp>
        <p:nvSpPr>
          <p:cNvPr id="36" name="Text 30"/>
          <p:cNvSpPr txBox="1"/>
          <p:nvPr/>
        </p:nvSpPr>
        <p:spPr>
          <a:xfrm>
            <a:off x="733349" y="7704734"/>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GBP 145k on the AI Security Manager salary is the named anchor - everything else sits around it, and the Finance BP joins in the Quarterly Variance review.</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Contingency budget covers incident surge, third-party deep dives and audit response. The contingency line reduces Risk Committee nervousness.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No FORM tab in reduced template. Supported by FORM - Financial Analysis.</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"Run is salaries and licences, Change is funded projects. Stable Run, visible Change - that is how I prove investment efficiency to the Finance BP and Risk Committee in one quarterly variance review."</a:t>
            </a:r>
            <a:endParaRPr lang="en-US" sz="1013" dirty="0"/>
          </a:p>
        </p:txBody>
      </p:sp>
      <p:sp>
        <p:nvSpPr>
          <p:cNvPr id="42" name="Text 36"/>
          <p:cNvSpPr txBox="1"/>
          <p:nvPr/>
        </p:nvSpPr>
        <p:spPr>
          <a:xfrm>
            <a:off x="533095" y="171907"/>
            <a:ext cx="373806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28 / 57 - Financial Analysis</a:t>
            </a:r>
            <a:endParaRPr lang="en-US" sz="900" dirty="0"/>
          </a:p>
        </p:txBody>
      </p:sp>
      <p:sp>
        <p:nvSpPr>
          <p:cNvPr id="43" name="Text 37"/>
          <p:cNvSpPr txBox="1"/>
          <p:nvPr/>
        </p:nvSpPr>
        <p:spPr>
          <a:xfrm>
            <a:off x="533095" y="362102"/>
            <a:ext cx="754380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Financial Analysis - AI Security Function FY2026/27 Budget</a:t>
            </a:r>
            <a:endParaRPr lang="en-US" sz="1950" dirty="0"/>
          </a:p>
        </p:txBody>
      </p:sp>
      <p:sp>
        <p:nvSpPr>
          <p:cNvPr id="44" name="Text 38"/>
          <p:cNvSpPr txBox="1"/>
          <p:nvPr/>
        </p:nvSpPr>
        <p:spPr>
          <a:xfrm>
            <a:off x="16590874" y="342900"/>
            <a:ext cx="11722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28 - Budget</a:t>
            </a:r>
            <a:endParaRPr lang="en-US" sz="900" dirty="0"/>
          </a:p>
        </p:txBody>
      </p:sp>
      <p:sp>
        <p:nvSpPr>
          <p:cNvPr id="45" name="Text 39"/>
          <p:cNvSpPr txBox="1"/>
          <p:nvPr/>
        </p:nvSpPr>
        <p:spPr>
          <a:xfrm>
            <a:off x="533095" y="1047902"/>
            <a:ext cx="596280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 and Finance BP</a:t>
            </a:r>
            <a:pPr algn="l" indent="0" marL="0">
              <a:buNone/>
            </a:pPr>
            <a:r>
              <a:rPr lang="en-US" sz="900" b="1" dirty="0">
                <a:solidFill>
                  <a:srgbClr val="0E1A2B"/>
                </a:solidFill>
                <a:latin typeface="Inter" pitchFamily="34" charset="0"/>
                <a:ea typeface="Inter" pitchFamily="34" charset="-122"/>
                <a:cs typeface="Inter" pitchFamily="34" charset="-120"/>
              </a:rPr>
              <a:t>Currency:</a:t>
            </a:r>
            <a:pPr algn="l" indent="0" marL="0">
              <a:buNone/>
            </a:pPr>
            <a:r>
              <a:rPr lang="en-US" sz="900" dirty="0">
                <a:solidFill>
                  <a:srgbClr val="5B6B82"/>
                </a:solidFill>
                <a:latin typeface="Inter" pitchFamily="34" charset="0"/>
                <a:ea typeface="Inter" pitchFamily="34" charset="-122"/>
                <a:cs typeface="Inter" pitchFamily="34" charset="-120"/>
              </a:rPr>
              <a:t> GBP thousands</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Derived / authored</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31 of 61 - Worksheet 28 / 57</a:t>
            </a:r>
            <a:endParaRPr lang="en-US" sz="825"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32</a:t>
            </a:r>
            <a:pPr algn="l" indent="0" marL="0">
              <a:buNone/>
            </a:pPr>
            <a:r>
              <a:rPr lang="en-US" sz="825" b="1" spc="149" kern="0" dirty="0">
                <a:solidFill>
                  <a:srgbClr val="5B6B82"/>
                </a:solidFill>
                <a:latin typeface="Inter" pitchFamily="34" charset="0"/>
                <a:ea typeface="Inter" pitchFamily="34" charset="-122"/>
                <a:cs typeface="Inter" pitchFamily="34" charset="-120"/>
              </a:rPr>
              <a:t> Worksheet 29</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Phased delivery plan addressing maturity gaps, control improvements and strategic outcomes. Owner AI Security Manager. Cadence quarterly steering review.</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Roadmap ID, Workstream, Milestone, Linked Maturity/Risk/Control, Owner, Start Date, End Date, Status, % Complete, Phase, Dependency, Commentary, Days to End, Roadmap Summary.</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Sequences workstreams by dependency, % complete and Days to End. Steering-grade detail.</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Implementation Roadmap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RDM-001 Customer-Facing AI Uplift - output filter, hallucination QA, complaint linkage - RSK-005 CTL-010 MAT-09 - Olivia Bennett - 15/01/2026 to 30/09/2026 - In Progress.</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sequence workstreams on dependencies, and how do you show steering committees progress?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918704" y="5171846"/>
            <a:ext cx="4607662"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roadmap item has Dependency owner and Days to End - sequencing visible and auditable.</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Linked Maturity plus Risk plus Control columns map each roadmap item to Maturity Assessment gap - maturity into delivery.</a:t>
            </a:r>
            <a:endParaRPr lang="en-US" sz="1050" dirty="0"/>
          </a:p>
        </p:txBody>
      </p:sp>
      <p:sp>
        <p:nvSpPr>
          <p:cNvPr id="31" name="Shape 25"/>
          <p:cNvSpPr/>
          <p:nvPr/>
        </p:nvSpPr>
        <p:spPr>
          <a:xfrm>
            <a:off x="6829654" y="5171846"/>
            <a:ext cx="100035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000354"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DEPENDENCY</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428854"/>
          </a:xfrm>
          <a:prstGeom prst="rect">
            <a:avLst/>
          </a:prstGeom>
          <a:noFill/>
          <a:ln/>
        </p:spPr>
        <p:txBody>
          <a:bodyPr wrap="square" lIns="0" tIns="0" rIns="0" bIns="0" rtlCol="0" anchor="ctr"/>
          <a:lstStyle/>
          <a:p>
            <a:pPr algn="l" indent="0" marL="0">
              <a:lnSpc>
                <a:spcPts val="1686"/>
              </a:lnSpc>
              <a:buNone/>
            </a:pPr>
            <a:r>
              <a:rPr lang="en-US" sz="1088" dirty="0">
                <a:solidFill>
                  <a:srgbClr val="2A3A55"/>
                </a:solidFill>
                <a:latin typeface="Inter" pitchFamily="34" charset="0"/>
                <a:ea typeface="Inter" pitchFamily="34" charset="-122"/>
                <a:cs typeface="Inter" pitchFamily="34" charset="-120"/>
              </a:rPr>
              <a:t>Implementation Roadmap sequences workstreams by dependency and % complete. Days to End gives the tempo. Quarterly steering review - the discipline that keeps the change programme honest.</a:t>
            </a:r>
            <a:endParaRPr lang="en-US" sz="1088" dirty="0"/>
          </a:p>
        </p:txBody>
      </p:sp>
      <p:sp>
        <p:nvSpPr>
          <p:cNvPr id="36" name="Text 30"/>
          <p:cNvSpPr txBox="1"/>
          <p:nvPr/>
        </p:nvSpPr>
        <p:spPr>
          <a:xfrm>
            <a:off x="733349" y="7704734"/>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item links to Maturity Assessment and Risk Quantification - the panel can read which gap the roadmap closes and which residual score drops next quarter.</a:t>
            </a:r>
            <a:endParaRPr lang="en-US" sz="1088" dirty="0"/>
          </a:p>
        </p:txBody>
      </p:sp>
      <p:sp>
        <p:nvSpPr>
          <p:cNvPr id="37" name="Text 31"/>
          <p:cNvSpPr txBox="1"/>
          <p:nvPr/>
        </p:nvSpPr>
        <p:spPr>
          <a:xfrm>
            <a:off x="733349" y="7976311"/>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Phase and Dependency columns prevent churn between programmes - sequencing is visible before steering sign-off.</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Implementation Roadmap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"Implementation Roadmap sequences workstreams by dependency, % Complete and Days to End. Quarterly steering review - that is the discipline a panel expects when the question is 'how do you deliver'."</a:t>
            </a:r>
            <a:endParaRPr lang="en-US" sz="1013" dirty="0"/>
          </a:p>
        </p:txBody>
      </p:sp>
      <p:sp>
        <p:nvSpPr>
          <p:cNvPr id="42" name="Text 36"/>
          <p:cNvSpPr txBox="1"/>
          <p:nvPr/>
        </p:nvSpPr>
        <p:spPr>
          <a:xfrm>
            <a:off x="533095" y="171907"/>
            <a:ext cx="412211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29 / 57 - Implementation Roadmap</a:t>
            </a:r>
            <a:endParaRPr lang="en-US" sz="900" dirty="0"/>
          </a:p>
        </p:txBody>
      </p:sp>
      <p:sp>
        <p:nvSpPr>
          <p:cNvPr id="43" name="Text 37"/>
          <p:cNvSpPr txBox="1"/>
          <p:nvPr/>
        </p:nvSpPr>
        <p:spPr>
          <a:xfrm>
            <a:off x="533095" y="362102"/>
            <a:ext cx="96112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Implementation Roadmap - AI Security Programme FY2026/27 to FY2027/28</a:t>
            </a:r>
            <a:endParaRPr lang="en-US" sz="1950" dirty="0"/>
          </a:p>
        </p:txBody>
      </p:sp>
      <p:sp>
        <p:nvSpPr>
          <p:cNvPr id="44" name="Text 38"/>
          <p:cNvSpPr txBox="1"/>
          <p:nvPr/>
        </p:nvSpPr>
        <p:spPr>
          <a:xfrm>
            <a:off x="16472916" y="342900"/>
            <a:ext cx="12865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29 - Roadmap</a:t>
            </a:r>
            <a:endParaRPr lang="en-US" sz="900" dirty="0"/>
          </a:p>
        </p:txBody>
      </p:sp>
      <p:sp>
        <p:nvSpPr>
          <p:cNvPr id="45" name="Text 39"/>
          <p:cNvSpPr txBox="1"/>
          <p:nvPr/>
        </p:nvSpPr>
        <p:spPr>
          <a:xfrm>
            <a:off x="533095" y="1047902"/>
            <a:ext cx="5324551"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Quarterly steering review</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32 of 61 - Worksheet 29 / 57</a:t>
            </a:r>
            <a:endParaRPr lang="en-US" sz="825"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33</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30</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Continuity profile for material AI services. Owner Operational Resilience Committee (COM-009). Cadence half-yearly exercises, quarterly attestation.</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Critical Service/Use Case, Criticality Tier, RTO, RPO, Fallback Mode, Manual Workaround, Dependency, Test Cadence, Last Test, Next Test, Owner.</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RTO and RPO per critical service. Last Test and Next Test columns are the FCA op-resilience evidence.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Business Continuity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AUC-001 Underwriting Decision Support Mission Critical 4 hours RTO 15 min RPO Champion-challenger Databricks Annual 18/03/2026 18/03/2027. AUC-002 Claims Triage FNOL Mission Critical 2 hours RTO 15 min RPO Rule-based triage half-yearly.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evidence recovery, and what if Last Test is more than 6 months old?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10298" y="5171846"/>
            <a:ext cx="5116068"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Half-yearly exercises plus quarterly attestation. Last Test and Next Test prove recovery capability.</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Fallback Mode and Manual Workaround columns are paired - the "what comes back" and the "what humans do in the meantime" - both shown.</a:t>
            </a:r>
            <a:endParaRPr lang="en-US" sz="1050" dirty="0"/>
          </a:p>
        </p:txBody>
      </p:sp>
      <p:sp>
        <p:nvSpPr>
          <p:cNvPr id="31" name="Shape 25"/>
          <p:cNvSpPr/>
          <p:nvPr/>
        </p:nvSpPr>
        <p:spPr>
          <a:xfrm>
            <a:off x="6829654" y="5171846"/>
            <a:ext cx="4956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956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TEST</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Business Continuity sets RTO and RPO per critical service. Half-yearly exercises plus quarterly attestation are the evidence. That is the discipline that survives FCA op-resilience challenge.</a:t>
            </a:r>
            <a:endParaRPr lang="en-US" sz="1088" dirty="0"/>
          </a:p>
        </p:txBody>
      </p:sp>
      <p:sp>
        <p:nvSpPr>
          <p:cNvPr id="36" name="Text 30"/>
          <p:cNvSpPr txBox="1"/>
          <p:nvPr/>
        </p:nvSpPr>
        <p:spPr>
          <a:xfrm>
            <a:off x="733349" y="7490765"/>
            <a:ext cx="1204722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Fallback Mode and Manual Workaround on the same row - the "what comes back" plus the "what humans do in the meantime" - both named, not implied.</a:t>
            </a:r>
            <a:endParaRPr lang="en-US" sz="1088" dirty="0"/>
          </a:p>
        </p:txBody>
      </p:sp>
      <p:sp>
        <p:nvSpPr>
          <p:cNvPr id="37" name="Text 31"/>
          <p:cNvSpPr txBox="1"/>
          <p:nvPr/>
        </p:nvSpPr>
        <p:spPr>
          <a:xfrm>
            <a:off x="733349" y="7762342"/>
            <a:ext cx="1229593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AUC-001 last tested 18/03/2026 next test 18/03/2027 is the row that survives op-resilience sample - and that is why the half-yearly cadence exists.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Business Continuity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"RTO and RPO per critical service. Half-yearly exercises plus quarterly attestation. Last Test 18/03/2026, Next Test 18/03/2027 - that is the row that survives an FCA op-resilience sample."</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30 / 57 - Business Continuity</a:t>
            </a:r>
            <a:endParaRPr lang="en-US" sz="900" dirty="0"/>
          </a:p>
        </p:txBody>
      </p:sp>
      <p:sp>
        <p:nvSpPr>
          <p:cNvPr id="43" name="Text 37"/>
          <p:cNvSpPr txBox="1"/>
          <p:nvPr/>
        </p:nvSpPr>
        <p:spPr>
          <a:xfrm>
            <a:off x="533095" y="362102"/>
            <a:ext cx="66010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Business Continuity - AI Service Resilience Register</a:t>
            </a:r>
            <a:endParaRPr lang="en-US" sz="1950" dirty="0"/>
          </a:p>
        </p:txBody>
      </p:sp>
      <p:sp>
        <p:nvSpPr>
          <p:cNvPr id="44" name="Text 38"/>
          <p:cNvSpPr txBox="1"/>
          <p:nvPr/>
        </p:nvSpPr>
        <p:spPr>
          <a:xfrm>
            <a:off x="16461029" y="342900"/>
            <a:ext cx="12957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30 - Resilience</a:t>
            </a:r>
            <a:endParaRPr lang="en-US" sz="900" dirty="0"/>
          </a:p>
        </p:txBody>
      </p:sp>
      <p:sp>
        <p:nvSpPr>
          <p:cNvPr id="45" name="Text 39"/>
          <p:cNvSpPr txBox="1"/>
          <p:nvPr/>
        </p:nvSpPr>
        <p:spPr>
          <a:xfrm>
            <a:off x="533095" y="1047902"/>
            <a:ext cx="7372807"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Operational Resilience Committee COM-009</a:t>
            </a:r>
            <a:pPr algn="l" indent="0" marL="0">
              <a:buNone/>
            </a:pPr>
            <a:r>
              <a:rPr lang="en-US" sz="900" b="1" dirty="0">
                <a:solidFill>
                  <a:srgbClr val="0E1A2B"/>
                </a:solidFill>
                <a:latin typeface="Inter" pitchFamily="34" charset="0"/>
                <a:ea typeface="Inter" pitchFamily="34" charset="-122"/>
                <a:cs typeface="Inter" pitchFamily="34" charset="-120"/>
              </a:rPr>
              <a:t>Cadence:</a:t>
            </a:r>
            <a:pPr algn="l" indent="0" marL="0">
              <a:buNone/>
            </a:pPr>
            <a:r>
              <a:rPr lang="en-US" sz="900" dirty="0">
                <a:solidFill>
                  <a:srgbClr val="5B6B82"/>
                </a:solidFill>
                <a:latin typeface="Inter" pitchFamily="34" charset="0"/>
                <a:ea typeface="Inter" pitchFamily="34" charset="-122"/>
                <a:cs typeface="Inter" pitchFamily="34" charset="-120"/>
              </a:rPr>
              <a:t> Half-yearly exercises, quarterly attestation</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33 of 61 - Worksheet 30 / 57</a:t>
            </a:r>
            <a:endParaRPr lang="en-US" sz="825"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99180"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34</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31</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Centralised controlled vocabulary referenced by data validation across the workbook. Owner AI Governance Office. Last reviewed 02/05/2026.</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Status, RAG, Priority, Severity, Criticality Tier, Approval Status, Assurance Status, Hosting Model, Environment, Data Classification, Personal Data Flag, Risk Treatment, Maturity Level, Trend Direction.</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Controlled vocabulary is the integrity layer. Without it the workbook drifts.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Reference Data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28 columns of controlled vocabulary - Status, RAG, Priority, Severity, Criticality Tier, Approval Status, Assurance Status, Hosting Model, Environment, Data Classification, Personal Data Flag, Risk Treatment, Maturity Level, Trend Direction.</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centralise dropdowns, and who owns the vocabulary when new terms are needed?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40142" y="5171846"/>
            <a:ext cx="4986223"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Without Reference Data, Sev 1 means different things in different tabs. With it, validation enforces consistency.</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Data Validation tab-by-tab is what gives the join keys their meaning - AUC-001 means the same thing in Risk Quantification, KRI Tracking, Incident Analysis and Roadmap.</a:t>
            </a:r>
            <a:endParaRPr lang="en-US" sz="1050" dirty="0"/>
          </a:p>
        </p:txBody>
      </p:sp>
      <p:sp>
        <p:nvSpPr>
          <p:cNvPr id="31" name="Shape 25"/>
          <p:cNvSpPr/>
          <p:nvPr/>
        </p:nvSpPr>
        <p:spPr>
          <a:xfrm>
            <a:off x="6829654" y="5171846"/>
            <a:ext cx="619049"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19963"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VOCAB</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Reference Data is the controlled vocabulary. Without it, Sev 1 means different things in different tabs. With it, validation enforces one vocabulary across the workbook.</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AI Governance Office owns the vocabulary; new terms go through data validation and half-yearly review - that is the discipline that keeps join keys honest.</a:t>
            </a:r>
            <a:endParaRPr lang="en-US" sz="1088" dirty="0"/>
          </a:p>
        </p:txBody>
      </p:sp>
      <p:sp>
        <p:nvSpPr>
          <p:cNvPr id="37" name="Text 31"/>
          <p:cNvSpPr txBox="1"/>
          <p:nvPr/>
        </p:nvSpPr>
        <p:spPr>
          <a:xfrm>
            <a:off x="733349" y="776234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 treat the sheet as the integrity layer - if a dropdown is needed the term lands here first, then into the form tabs. That pre-empts vocabulary drift.</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Reference Data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"Reference Data is the controlled vocabulary. Without it, Sev 1 means different things in different tabs. With it, validation enforces one vocabulary across the workbook - the integrity layer the panel will probe."</a:t>
            </a:r>
            <a:endParaRPr lang="en-US" sz="1013" dirty="0"/>
          </a:p>
        </p:txBody>
      </p:sp>
      <p:sp>
        <p:nvSpPr>
          <p:cNvPr id="42" name="Text 36"/>
          <p:cNvSpPr txBox="1"/>
          <p:nvPr/>
        </p:nvSpPr>
        <p:spPr>
          <a:xfrm>
            <a:off x="533095" y="171907"/>
            <a:ext cx="335401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31 / 57 - Reference Data</a:t>
            </a:r>
            <a:endParaRPr lang="en-US" sz="900" dirty="0"/>
          </a:p>
        </p:txBody>
      </p:sp>
      <p:sp>
        <p:nvSpPr>
          <p:cNvPr id="43" name="Text 37"/>
          <p:cNvSpPr txBox="1"/>
          <p:nvPr/>
        </p:nvSpPr>
        <p:spPr>
          <a:xfrm>
            <a:off x="533095" y="362102"/>
            <a:ext cx="695401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Reference Data - Dropdown Lists and Validation Rules</a:t>
            </a:r>
            <a:endParaRPr lang="en-US" sz="1950" dirty="0"/>
          </a:p>
        </p:txBody>
      </p:sp>
      <p:sp>
        <p:nvSpPr>
          <p:cNvPr id="44" name="Text 38"/>
          <p:cNvSpPr txBox="1"/>
          <p:nvPr/>
        </p:nvSpPr>
        <p:spPr>
          <a:xfrm>
            <a:off x="16190366" y="342900"/>
            <a:ext cx="15718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31 - Reference Data</a:t>
            </a:r>
            <a:endParaRPr lang="en-US" sz="900" dirty="0"/>
          </a:p>
        </p:txBody>
      </p:sp>
      <p:sp>
        <p:nvSpPr>
          <p:cNvPr id="45" name="Text 39"/>
          <p:cNvSpPr txBox="1"/>
          <p:nvPr/>
        </p:nvSpPr>
        <p:spPr>
          <a:xfrm>
            <a:off x="533095" y="1047902"/>
            <a:ext cx="4972507"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Governance Office</a:t>
            </a:r>
            <a:pPr algn="l" indent="0" marL="0">
              <a:buNone/>
            </a:pPr>
            <a:r>
              <a:rPr lang="en-US" sz="900" b="1" dirty="0">
                <a:solidFill>
                  <a:srgbClr val="0E1A2B"/>
                </a:solidFill>
                <a:latin typeface="Inter" pitchFamily="34" charset="0"/>
                <a:ea typeface="Inter" pitchFamily="34" charset="-122"/>
                <a:cs typeface="Inter" pitchFamily="34" charset="-120"/>
              </a:rPr>
              <a:t>Last reviewed:</a:t>
            </a:r>
            <a:pPr algn="l" indent="0" marL="0">
              <a:buNone/>
            </a:pPr>
            <a:r>
              <a:rPr lang="en-US" sz="900" dirty="0">
                <a:solidFill>
                  <a:srgbClr val="5B6B82"/>
                </a:solidFill>
                <a:latin typeface="Inter" pitchFamily="34" charset="0"/>
                <a:ea typeface="Inter" pitchFamily="34" charset="-122"/>
                <a:cs typeface="Inter" pitchFamily="34" charset="-120"/>
              </a:rPr>
              <a:t> 02/05/2026</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34 of 61 - Worksheet 31 / 57</a:t>
            </a:r>
            <a:endParaRPr lang="en-US" sz="825"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35</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32</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Centralised glossary of every ID prefix used in this workbook plus a live register of actual IDs with hyperlinks back to the owning sheet. Owner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ID Prefix, Entity Type, Definition, Examples, Owning Sheet, Open Sheet, Count, Notes on Use.</a:t>
            </a:r>
            <a:endParaRPr lang="en-US" sz="1050" dirty="0"/>
          </a:p>
        </p:txBody>
      </p:sp>
      <p:sp>
        <p:nvSpPr>
          <p:cNvPr id="15" name="Text 9"/>
          <p:cNvSpPr txBox="1"/>
          <p:nvPr/>
        </p:nvSpPr>
        <p:spPr>
          <a:xfrm>
            <a:off x="733349" y="3880714"/>
            <a:ext cx="55056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prefix holds live count. Hyperlinks open the owning sheet.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ID Glossary and Navigation Index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 22 actual IDs Owning Sheet AI Use Case Register. RSK 17. SVC. VEN 20. INC 12. KRI 13. KPI 15. RDM 16.</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prevent orphan IDs and how does the live register help when you onboard a new use case mid-quarter?</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845552" y="5171846"/>
            <a:ext cx="4680814"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prefix lives with its count - if any drops to the wrong total, the live count flags it.</a:t>
            </a:r>
            <a:endParaRPr lang="en-US" sz="1050" dirty="0"/>
          </a:p>
        </p:txBody>
      </p:sp>
      <p:sp>
        <p:nvSpPr>
          <p:cNvPr id="30" name="Text 24"/>
          <p:cNvSpPr txBox="1"/>
          <p:nvPr/>
        </p:nvSpPr>
        <p:spPr>
          <a:xfrm>
            <a:off x="6829654" y="5693969"/>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Examples column anchors every prefix to real rows - AUC-001 Underwriting, AUC-004 Voice Agent, AUC-019 Image Damage - so a panel can read in minutes.</a:t>
            </a:r>
            <a:endParaRPr lang="en-US" sz="1050" dirty="0"/>
          </a:p>
        </p:txBody>
      </p:sp>
      <p:sp>
        <p:nvSpPr>
          <p:cNvPr id="31" name="Shape 25"/>
          <p:cNvSpPr/>
          <p:nvPr/>
        </p:nvSpPr>
        <p:spPr>
          <a:xfrm>
            <a:off x="6829654" y="5171846"/>
            <a:ext cx="9235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9244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LIVE COUNT</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ID Glossary is the integrity layer. Each prefix lives with its count. AUC 22, RSK 17, INC 12, KRI 13, KPI 15 - the live count flags drops and additions before the panel asks.</a:t>
            </a:r>
            <a:endParaRPr lang="en-US" sz="1088" dirty="0"/>
          </a:p>
        </p:txBody>
      </p:sp>
      <p:sp>
        <p:nvSpPr>
          <p:cNvPr id="36" name="Text 30"/>
          <p:cNvSpPr txBox="1"/>
          <p:nvPr/>
        </p:nvSpPr>
        <p:spPr>
          <a:xfrm>
            <a:off x="733349" y="7490765"/>
            <a:ext cx="1229593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Hyperlinks open the owning sheet - so a panel member can see RSK-001 right where it lives, then jump to its KRI, its Control and its Incident rows.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Notes on Use explains each prefix's discipline - AUC "anchor entity", RSK "rolled up to Board Dashboard", CTL "ISO 42001 plus Annex A".</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ID Glossary and Navigation Index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"AUC 22, RSK 17, INC 12, KRI 13, KPI 15 - the live count flags drops and additions. The ID Glossary is the integrity layer - if an ID is orphaned, the count is wrong."</a:t>
            </a:r>
            <a:endParaRPr lang="en-US" sz="1013" dirty="0"/>
          </a:p>
        </p:txBody>
      </p:sp>
      <p:sp>
        <p:nvSpPr>
          <p:cNvPr id="42" name="Text 36"/>
          <p:cNvSpPr txBox="1"/>
          <p:nvPr/>
        </p:nvSpPr>
        <p:spPr>
          <a:xfrm>
            <a:off x="533095" y="171907"/>
            <a:ext cx="508223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32 / 57 - ID Glossary and Navigation Index</a:t>
            </a:r>
            <a:endParaRPr lang="en-US" sz="900" dirty="0"/>
          </a:p>
        </p:txBody>
      </p:sp>
      <p:sp>
        <p:nvSpPr>
          <p:cNvPr id="43" name="Text 37"/>
          <p:cNvSpPr txBox="1"/>
          <p:nvPr/>
        </p:nvSpPr>
        <p:spPr>
          <a:xfrm>
            <a:off x="533095" y="362102"/>
            <a:ext cx="9430207"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ID Glossary and Navigation Index - Workbook ID Prefixes and Live Register</a:t>
            </a:r>
            <a:endParaRPr lang="en-US" sz="1950" dirty="0"/>
          </a:p>
        </p:txBody>
      </p:sp>
      <p:sp>
        <p:nvSpPr>
          <p:cNvPr id="44" name="Text 38"/>
          <p:cNvSpPr txBox="1"/>
          <p:nvPr/>
        </p:nvSpPr>
        <p:spPr>
          <a:xfrm>
            <a:off x="16389706" y="342900"/>
            <a:ext cx="13716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Worksheet 32 - ID Glossary</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35 of 61 - Worksheet 32 / 57</a:t>
            </a:r>
            <a:endParaRPr lang="en-US" sz="825"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36</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33</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Pages through the 17 form tabs in the reduced template in workbook order. The auditable spine of the skeleton workbook that drops into a new firm, business unit or regulated subsidiary.</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Key columns:</a:t>
            </a:r>
            <a:pPr algn="l" indent="0" marL="0">
              <a:buNone/>
            </a:pPr>
            <a:r>
              <a:rPr lang="en-US" sz="1050" dirty="0">
                <a:solidFill>
                  <a:srgbClr val="2A3A55"/>
                </a:solidFill>
                <a:latin typeface="Inter" pitchFamily="34" charset="0"/>
                <a:ea typeface="Inter" pitchFamily="34" charset="-122"/>
                <a:cs typeface="Inter" pitchFamily="34" charset="-120"/>
              </a:rPr>
              <a:t> Sheet Number, Sheet Name, Workbook Section, Live URL.</a:t>
            </a:r>
            <a:endParaRPr lang="en-US" sz="1050" dirty="0"/>
          </a:p>
        </p:txBody>
      </p:sp>
      <p:sp>
        <p:nvSpPr>
          <p:cNvPr id="15" name="Text 9"/>
          <p:cNvSpPr txBox="1"/>
          <p:nvPr/>
        </p:nvSpPr>
        <p:spPr>
          <a:xfrm>
            <a:off x="733349" y="3674059"/>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Same header schema and ID prefixes as the populated workbook. Index drives navigation and integrity layer.</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275527"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Index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Lists 17 form tabs in workbook order. Each tab paired by name to an operational sheet in the populated workbook.</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a FORM - Index, and how does it help a new firm or business unit start with a defensible baseline?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03566" y="5171846"/>
            <a:ext cx="5022799"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Pages through 17 form tabs in workbook order - auditable entries for control questions.</a:t>
            </a:r>
            <a:endParaRPr lang="en-US" sz="1050" dirty="0"/>
          </a:p>
        </p:txBody>
      </p:sp>
      <p:sp>
        <p:nvSpPr>
          <p:cNvPr id="30" name="Text 24"/>
          <p:cNvSpPr txBox="1"/>
          <p:nvPr/>
        </p:nvSpPr>
        <p:spPr>
          <a:xfrm>
            <a:off x="6829654" y="5693969"/>
            <a:ext cx="6195060"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Index worksheet is the row that maintains identification through deployment.</a:t>
            </a:r>
            <a:endParaRPr lang="en-US" sz="1050" dirty="0"/>
          </a:p>
        </p:txBody>
      </p:sp>
      <p:sp>
        <p:nvSpPr>
          <p:cNvPr id="31" name="Shape 25"/>
          <p:cNvSpPr/>
          <p:nvPr/>
        </p:nvSpPr>
        <p:spPr>
          <a:xfrm>
            <a:off x="6829654" y="5171846"/>
            <a:ext cx="5806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815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PAGES</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Index is the row of the workbook - 17 form tabs mapped to operational sheets. The auditable spine of the reduced template.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Same header schema and ID prefixes as the populated workbook - so dropping the template into a new firm or regulated subsidiary skips the design step.</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Live URL column makes the workbook portable - the panel can see how the form tabs reach populated workbook rows.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Index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Index is the row of the workbook - 17 form tabs mapped to operational sheets. Auditable spine of the reduced template - drop it into a new firm, business unit or regulated subsidiary and the design is done."</a:t>
            </a:r>
            <a:endParaRPr lang="en-US" sz="1013" dirty="0"/>
          </a:p>
        </p:txBody>
      </p:sp>
      <p:sp>
        <p:nvSpPr>
          <p:cNvPr id="42" name="Text 36"/>
          <p:cNvSpPr txBox="1"/>
          <p:nvPr/>
        </p:nvSpPr>
        <p:spPr>
          <a:xfrm>
            <a:off x="533095" y="171907"/>
            <a:ext cx="315742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33 / 57 - FORM - Index</a:t>
            </a:r>
            <a:endParaRPr lang="en-US" sz="900" dirty="0"/>
          </a:p>
        </p:txBody>
      </p:sp>
      <p:sp>
        <p:nvSpPr>
          <p:cNvPr id="43" name="Text 37"/>
          <p:cNvSpPr txBox="1"/>
          <p:nvPr/>
        </p:nvSpPr>
        <p:spPr>
          <a:xfrm>
            <a:off x="533095" y="362102"/>
            <a:ext cx="6848856"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Index - 17-Skeleton Reduced Template Index</a:t>
            </a:r>
            <a:endParaRPr lang="en-US" sz="1950" dirty="0"/>
          </a:p>
        </p:txBody>
      </p:sp>
      <p:sp>
        <p:nvSpPr>
          <p:cNvPr id="44" name="Text 38"/>
          <p:cNvSpPr txBox="1"/>
          <p:nvPr/>
        </p:nvSpPr>
        <p:spPr>
          <a:xfrm>
            <a:off x="16221456" y="342900"/>
            <a:ext cx="15343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33 - Template index</a:t>
            </a:r>
            <a:endParaRPr lang="en-US" sz="900" dirty="0"/>
          </a:p>
        </p:txBody>
      </p:sp>
      <p:sp>
        <p:nvSpPr>
          <p:cNvPr id="45" name="Text 39"/>
          <p:cNvSpPr txBox="1"/>
          <p:nvPr/>
        </p:nvSpPr>
        <p:spPr>
          <a:xfrm>
            <a:off x="533095" y="1047902"/>
            <a:ext cx="319674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Governance Office</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36 of 61 - Worksheet 33 / 57</a:t>
            </a:r>
            <a:endParaRPr lang="en-US" sz="825"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34</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the AI Use Case Register. Same header schema and ID prefixes as the populated Register. Submit a row, the join key discipline accepts it.</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Use Case ID, Use Case Name, Business Unit, Description, Objective, AI Type, Model Service Type, Deployment, Vendor ID, Service ID, Business Owner, Technical Owner, Risk Owner, Data Classification.</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Same schema and ID prefixes as the populated Register - the submission contract.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AI Use Case Register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AUC-001 Underwriting Decision Support Commercial Property. AUC-004 Customer Service Copilot Voice Agent Assist. Vendor ID, Service ID, Risk Owner columns enforced.</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does the FORM stay in step with the populated Register, and what happens when a use case moves from draft to approved?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14870" y="5171846"/>
            <a:ext cx="511149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Same header schema and ID prefixes - copy a populated row into the FORM and the schema accepts it.</a:t>
            </a:r>
            <a:endParaRPr lang="en-US" sz="1050" dirty="0"/>
          </a:p>
        </p:txBody>
      </p:sp>
      <p:sp>
        <p:nvSpPr>
          <p:cNvPr id="30" name="Text 24"/>
          <p:cNvSpPr txBox="1"/>
          <p:nvPr/>
        </p:nvSpPr>
        <p:spPr>
          <a:xfrm>
            <a:off x="6829654" y="5693969"/>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Vendor, Service and Risk Owner columns enforced - no use case approved without all three.</a:t>
            </a:r>
            <a:endParaRPr lang="en-US" sz="1050" dirty="0"/>
          </a:p>
        </p:txBody>
      </p:sp>
      <p:sp>
        <p:nvSpPr>
          <p:cNvPr id="31" name="Shape 25"/>
          <p:cNvSpPr/>
          <p:nvPr/>
        </p:nvSpPr>
        <p:spPr>
          <a:xfrm>
            <a:off x="6829654" y="5171846"/>
            <a:ext cx="4956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956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JOIN</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29593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AI Use Case Register is the reusable submission sheet. Same schema, same IDs as the populated register - the join key copy-paste discipline.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When a use case moves from draft to approved the populated workbook grows by one row and the FORM still validates - no schema regression.</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FORM is what a new business unit delivers first - Intake row by Intake row it becomes the live register.</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AI Use Case Register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AI Use Case Register is the reusable submission sheet. Same schema, same IDs - copy a populated row and the FORM accepts it. The join key copy-paste discipline that makes the template portable."</a:t>
            </a:r>
            <a:endParaRPr lang="en-US" sz="1013" dirty="0"/>
          </a:p>
        </p:txBody>
      </p:sp>
      <p:sp>
        <p:nvSpPr>
          <p:cNvPr id="42" name="Text 36"/>
          <p:cNvSpPr txBox="1"/>
          <p:nvPr/>
        </p:nvSpPr>
        <p:spPr>
          <a:xfrm>
            <a:off x="533095" y="171907"/>
            <a:ext cx="460217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34 / 57 - FORM - AI Use Case Register</a:t>
            </a:r>
            <a:endParaRPr lang="en-US" sz="900" dirty="0"/>
          </a:p>
        </p:txBody>
      </p:sp>
      <p:sp>
        <p:nvSpPr>
          <p:cNvPr id="43" name="Text 37"/>
          <p:cNvSpPr txBox="1"/>
          <p:nvPr/>
        </p:nvSpPr>
        <p:spPr>
          <a:xfrm>
            <a:off x="533095" y="362102"/>
            <a:ext cx="74011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AI Use Case Register - Reusable Submission Sheet</a:t>
            </a:r>
            <a:endParaRPr lang="en-US" sz="1950" dirty="0"/>
          </a:p>
        </p:txBody>
      </p:sp>
      <p:sp>
        <p:nvSpPr>
          <p:cNvPr id="44" name="Text 38"/>
          <p:cNvSpPr txBox="1"/>
          <p:nvPr/>
        </p:nvSpPr>
        <p:spPr>
          <a:xfrm>
            <a:off x="16273577" y="342900"/>
            <a:ext cx="14859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34 - Use case form</a:t>
            </a:r>
            <a:endParaRPr lang="en-US" sz="900" dirty="0"/>
          </a:p>
        </p:txBody>
      </p:sp>
      <p:sp>
        <p:nvSpPr>
          <p:cNvPr id="45" name="Text 39"/>
          <p:cNvSpPr txBox="1"/>
          <p:nvPr/>
        </p:nvSpPr>
        <p:spPr>
          <a:xfrm>
            <a:off x="533095" y="1047902"/>
            <a:ext cx="319674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Governance Office</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37 of 61 - Worksheet 34 / 57</a:t>
            </a:r>
            <a:endParaRPr lang="en-US" sz="825"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35</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Risk Quantification. Likelihood and Impact on 1-5 scale. Residual scoring and quantified exposure in GBP M. Owner CRO and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Risk ID, Risk Title, Linked Use Case IDs, Linked Vendor IDs, Inherent Likelihood, Inherent Impact, Inherent Score, Control Environment Summary, Residual Likelihood, Residual Impact, Residual Score, Quantified Exposure, Risk Treatment, Treatment Action ID.</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Inherent minus control strength equals residual. Same math as the populated sheet it pairs with.</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Risk Quantification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Inherent Likelihood, Inherent Impact, Inherent Score columns reproduce the math. Quantified Exposure in GBP M. Treatment Action ID closes the loop.</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residual calculated on the FORM and how do you defend exposure assumptions?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12964" y="5171846"/>
            <a:ext cx="549920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Inherent minus control strength = Residual. Quantified exposure is GBP M.</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Control Environment Summary column forces the reasoning - readers can see why Mitigation lowered likelihood.</a:t>
            </a:r>
            <a:endParaRPr lang="en-US" sz="1050" dirty="0"/>
          </a:p>
        </p:txBody>
      </p:sp>
      <p:sp>
        <p:nvSpPr>
          <p:cNvPr id="31" name="Shape 25"/>
          <p:cNvSpPr/>
          <p:nvPr/>
        </p:nvSpPr>
        <p:spPr>
          <a:xfrm>
            <a:off x="6829654" y="5171846"/>
            <a:ext cx="7909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909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FORMULA</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29593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Risk Quantification uses the same likelihood-impact math as the populated sheet. Inherent minus controls equals residual; exposure is GBP M.</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Control Environment Summary column forces the reasoning - the row tells the panel why mitigation reduced each score, not just that it did.</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Treatment Action ID closes the loop - residual paired to roadmap or assurance task, no orphan residual sits on the register.</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Risk Quantification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Risk Quantification uses the same likelihood-impact math. Inherent minus control strength equals residual. Quantified exposure is GBP M - the panel-probe-defensible math is on the form, not hidden in the populated workbook."</a:t>
            </a:r>
            <a:endParaRPr lang="en-US" sz="1013" dirty="0"/>
          </a:p>
        </p:txBody>
      </p:sp>
      <p:sp>
        <p:nvSpPr>
          <p:cNvPr id="42" name="Text 36"/>
          <p:cNvSpPr txBox="1"/>
          <p:nvPr/>
        </p:nvSpPr>
        <p:spPr>
          <a:xfrm>
            <a:off x="533095" y="171907"/>
            <a:ext cx="450616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35 / 57 - FORM - Risk Quantification</a:t>
            </a:r>
            <a:endParaRPr lang="en-US" sz="900" dirty="0"/>
          </a:p>
        </p:txBody>
      </p:sp>
      <p:sp>
        <p:nvSpPr>
          <p:cNvPr id="43" name="Text 37"/>
          <p:cNvSpPr txBox="1"/>
          <p:nvPr/>
        </p:nvSpPr>
        <p:spPr>
          <a:xfrm>
            <a:off x="533095" y="362102"/>
            <a:ext cx="670621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Risk Quantification - Reusable Risk Register</a:t>
            </a:r>
            <a:endParaRPr lang="en-US" sz="1950" dirty="0"/>
          </a:p>
        </p:txBody>
      </p:sp>
      <p:sp>
        <p:nvSpPr>
          <p:cNvPr id="44" name="Text 38"/>
          <p:cNvSpPr txBox="1"/>
          <p:nvPr/>
        </p:nvSpPr>
        <p:spPr>
          <a:xfrm>
            <a:off x="16509492" y="342900"/>
            <a:ext cx="1248156"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35 - Risk form</a:t>
            </a:r>
            <a:endParaRPr lang="en-US" sz="900" dirty="0"/>
          </a:p>
        </p:txBody>
      </p:sp>
      <p:sp>
        <p:nvSpPr>
          <p:cNvPr id="45" name="Text 39"/>
          <p:cNvSpPr txBox="1"/>
          <p:nvPr/>
        </p:nvSpPr>
        <p:spPr>
          <a:xfrm>
            <a:off x="533095" y="1047902"/>
            <a:ext cx="369691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CRO and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38 of 61 - Worksheet 35 / 57</a:t>
            </a:r>
            <a:endParaRPr lang="en-US" sz="825"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39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36</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KRI Tracking. Each indicator has amber/red thresholds. Owner drives the AI Governance Forum agenda.</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Key columns:</a:t>
            </a:r>
            <a:pPr algn="l" indent="0" marL="0">
              <a:buNone/>
            </a:pPr>
            <a:r>
              <a:rPr lang="en-US" sz="1050" dirty="0">
                <a:solidFill>
                  <a:srgbClr val="2A3A55"/>
                </a:solidFill>
                <a:latin typeface="Inter" pitchFamily="34" charset="0"/>
                <a:ea typeface="Inter" pitchFamily="34" charset="-122"/>
                <a:cs typeface="Inter" pitchFamily="34" charset="-120"/>
              </a:rPr>
              <a:t> KRI ID, KRI Name, Linked Risk, Amber, Red, Current, Trend, Owner.</a:t>
            </a:r>
            <a:endParaRPr lang="en-US" sz="1050" dirty="0"/>
          </a:p>
        </p:txBody>
      </p:sp>
      <p:sp>
        <p:nvSpPr>
          <p:cNvPr id="15" name="Text 9"/>
          <p:cNvSpPr txBox="1"/>
          <p:nvPr/>
        </p:nvSpPr>
        <p:spPr>
          <a:xfrm>
            <a:off x="733349" y="3674059"/>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KRI pairs owner and amber/red threshold. Same discipline as the populated sheet.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KRI Tracking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Threshold Amber, Threshold Red columns are the panel-defensible thresholds. Linked Risk makes KRI navigation auditable.</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every KRI has an owner and how do you decide the linked risk?</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75804" y="5171846"/>
            <a:ext cx="5075834"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Without owner no one is accountable when the threshold breaks.</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Linked Risk column answers "which risk is this KRI warning me about" - one click to Risk Quantification.</a:t>
            </a:r>
            <a:endParaRPr lang="en-US" sz="1050" dirty="0"/>
          </a:p>
        </p:txBody>
      </p:sp>
      <p:sp>
        <p:nvSpPr>
          <p:cNvPr id="31" name="Shape 25"/>
          <p:cNvSpPr/>
          <p:nvPr/>
        </p:nvSpPr>
        <p:spPr>
          <a:xfrm>
            <a:off x="6829654" y="5171846"/>
            <a:ext cx="65745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57454"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OWNER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KRI Tracking is the reusable version. Each indicator has owner and amber/red threshold. Without owner no one is accountable when the threshold breaks.</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Risk makes KRI navigation auditable - panel can click from KRI-001 to RSK-001 to CTL-005.</a:t>
            </a:r>
            <a:endParaRPr lang="en-US" sz="1088" dirty="0"/>
          </a:p>
        </p:txBody>
      </p:sp>
      <p:sp>
        <p:nvSpPr>
          <p:cNvPr id="37" name="Text 31"/>
          <p:cNvSpPr txBox="1"/>
          <p:nvPr/>
        </p:nvSpPr>
        <p:spPr>
          <a:xfrm>
            <a:off x="733349" y="7762342"/>
            <a:ext cx="11964924"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Trend column gives the direction signal - amber threshold may be intact but trend if the right direction matters more than the headline number.</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KRI Tracking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KRI Tracking is reusable. Each indicator has owner and amber/red threshold - the same KRI ownership discipline the panel will probe when they ask 'what happens when the threshold breaks'."</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36 / 57 - FORM - KRI Tracking</a:t>
            </a:r>
            <a:endParaRPr lang="en-US" sz="900" dirty="0"/>
          </a:p>
        </p:txBody>
      </p:sp>
      <p:sp>
        <p:nvSpPr>
          <p:cNvPr id="43" name="Text 37"/>
          <p:cNvSpPr txBox="1"/>
          <p:nvPr/>
        </p:nvSpPr>
        <p:spPr>
          <a:xfrm>
            <a:off x="533095" y="362102"/>
            <a:ext cx="754380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KRI Tracking - Reusable Monthly KPI/KRI Template</a:t>
            </a:r>
            <a:endParaRPr lang="en-US" sz="1950" dirty="0"/>
          </a:p>
        </p:txBody>
      </p:sp>
      <p:sp>
        <p:nvSpPr>
          <p:cNvPr id="44" name="Text 38"/>
          <p:cNvSpPr txBox="1"/>
          <p:nvPr/>
        </p:nvSpPr>
        <p:spPr>
          <a:xfrm>
            <a:off x="16546068" y="342900"/>
            <a:ext cx="120975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36 - KRI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39 of 61 - Worksheet 36 / 57</a:t>
            </a:r>
            <a:endParaRPr lang="en-US" sz="825"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37</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185294"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KPI Tracking. Status formula gives On Track, At Risk, Off Track. KPI pairs target and actual to service and owner.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619140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Key columns:</a:t>
            </a:r>
            <a:pPr algn="l" indent="0" marL="0">
              <a:buNone/>
            </a:pPr>
            <a:r>
              <a:rPr lang="en-US" sz="1050" dirty="0">
                <a:solidFill>
                  <a:srgbClr val="2A3A55"/>
                </a:solidFill>
                <a:latin typeface="Inter" pitchFamily="34" charset="0"/>
                <a:ea typeface="Inter" pitchFamily="34" charset="-122"/>
                <a:cs typeface="Inter" pitchFamily="34" charset="-120"/>
              </a:rPr>
              <a:t> KPI ID, KPI Name, Linked Service, Target, Actual, Status, Owner.</a:t>
            </a:r>
            <a:endParaRPr lang="en-US" sz="1050" dirty="0"/>
          </a:p>
        </p:txBody>
      </p:sp>
      <p:sp>
        <p:nvSpPr>
          <p:cNvPr id="15" name="Text 9"/>
          <p:cNvSpPr txBox="1"/>
          <p:nvPr/>
        </p:nvSpPr>
        <p:spPr>
          <a:xfrm>
            <a:off x="733349" y="3674059"/>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Status formula: IF(actual&gt;=target "On Track"; IF(actual&gt;=0.9*target "At Risk"; "Off Track")). Same as the populated sheet.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KPI Tracking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Target and Actual columns carry the IF formula. KPI-002 target 0.98 actual 0.96 - At Risk on the populated row.</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On Track defined and how do you handle tied metrics?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78294" y="5171846"/>
            <a:ext cx="5148072"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Status formula pair of conditions: target met means On Track, 90% to 100% of target means At Risk, below 90% means Off Track.</a:t>
            </a:r>
            <a:endParaRPr lang="en-US" sz="1050" dirty="0"/>
          </a:p>
        </p:txBody>
      </p:sp>
      <p:sp>
        <p:nvSpPr>
          <p:cNvPr id="30" name="Text 24"/>
          <p:cNvSpPr txBox="1"/>
          <p:nvPr/>
        </p:nvSpPr>
        <p:spPr>
          <a:xfrm>
            <a:off x="6829654" y="5693969"/>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Tied metrics - actual equals target - resolve to On Track under "&gt;=" convention.</a:t>
            </a:r>
            <a:endParaRPr lang="en-US" sz="1050" dirty="0"/>
          </a:p>
        </p:txBody>
      </p:sp>
      <p:sp>
        <p:nvSpPr>
          <p:cNvPr id="31" name="Shape 25"/>
          <p:cNvSpPr/>
          <p:nvPr/>
        </p:nvSpPr>
        <p:spPr>
          <a:xfrm>
            <a:off x="6829654" y="5171846"/>
            <a:ext cx="457200"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5720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RAG</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KPI Tracking uses an IF formula for status: On Track, At Risk, Off Track. Pair the bands with service and owner and the regulator reads a contract.</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IF formula reaches into Target and Actual columns - empty cells are Off Track, that is the panel's first test.</a:t>
            </a:r>
            <a:endParaRPr lang="en-US" sz="1088" dirty="0"/>
          </a:p>
        </p:txBody>
      </p:sp>
      <p:sp>
        <p:nvSpPr>
          <p:cNvPr id="37" name="Text 31"/>
          <p:cNvSpPr txBox="1"/>
          <p:nvPr/>
        </p:nvSpPr>
        <p:spPr>
          <a:xfrm>
            <a:off x="733349" y="7762342"/>
            <a:ext cx="12213641"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Service column ties every KPI to the catalog - panel can see, for example, that KPI-002 belongs to SVC-002 and that Mohammed Iqbal owns it.</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KPI Tracking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KPI Tracking uses an IF formula for status: On Track, At Risk, Off Track. Pair the bands with service and owner and the regulator reads a contract - the panel will probe the bands."</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37 / 57 - FORM - KPI Tracking</a:t>
            </a:r>
            <a:endParaRPr lang="en-US" sz="900" dirty="0"/>
          </a:p>
        </p:txBody>
      </p:sp>
      <p:sp>
        <p:nvSpPr>
          <p:cNvPr id="43" name="Text 37"/>
          <p:cNvSpPr txBox="1"/>
          <p:nvPr/>
        </p:nvSpPr>
        <p:spPr>
          <a:xfrm>
            <a:off x="533095" y="362102"/>
            <a:ext cx="7020763"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KPI Tracking - Reusable Monthly KPI Template</a:t>
            </a:r>
            <a:endParaRPr lang="en-US" sz="1950" dirty="0"/>
          </a:p>
        </p:txBody>
      </p:sp>
      <p:sp>
        <p:nvSpPr>
          <p:cNvPr id="44" name="Text 38"/>
          <p:cNvSpPr txBox="1"/>
          <p:nvPr/>
        </p:nvSpPr>
        <p:spPr>
          <a:xfrm>
            <a:off x="16550640" y="342900"/>
            <a:ext cx="120975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37 - KPI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40 of 61 - Worksheet 37 / 57</a:t>
            </a:r>
            <a:endParaRPr lang="en-US" sz="825"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99180"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38</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Incident Analysis. PIR reference plus Lessons Learned converts data into organisational learning. Same header schema and ID prefixes as the populated sheet.</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Incident ID, Date, Category, Severity, Linked Use Case/Vendor/Risk, Summary, Root Cause, Impact, Containment, Remediation, Owner, Lessons, Closure, PIR.</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incident has a name, a category, a severity, a root cause, a containment and remediation action, an owner, lessons learned, closure status and PIR reference.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Incident Analysis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PIR Reference column makes closure discipline visible to a panel and regulator. INC-001 to INC-004 carry PIR closure in the populated workbook.</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does each incident need a PIR and how do you evidence effectiveness reviews?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28002" y="5171846"/>
            <a:ext cx="5198364"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Post-Incident Review turns data into learning.</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Lessons Learned column turns the audit trail into control updates - the closure loop that pulls back into Compliance Mapping.</a:t>
            </a:r>
            <a:endParaRPr lang="en-US" sz="1050" dirty="0"/>
          </a:p>
        </p:txBody>
      </p:sp>
      <p:sp>
        <p:nvSpPr>
          <p:cNvPr id="31" name="Shape 25"/>
          <p:cNvSpPr/>
          <p:nvPr/>
        </p:nvSpPr>
        <p:spPr>
          <a:xfrm>
            <a:off x="6829654" y="5171846"/>
            <a:ext cx="4096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096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PIR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Incident Analysis requires PIR reference per row. That converts incidents into organisational learning - the discipline that surfaces as evidence-effectiveness review on Clause 10.1.</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Use Case/Vendor/Risk columns make the Form a navigable incident graph, not a flat list.</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Closure Status is the regulator's question - the form column enforces "are your Sev 2 incidents closed" before panel pressure.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Incident Analysis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Incident Analysis requires PIR reference per row. That converts incidents into organisational learning - the discipline that surfaces as Closure Status under regulator sample."</a:t>
            </a:r>
            <a:endParaRPr lang="en-US" sz="1013" dirty="0"/>
          </a:p>
        </p:txBody>
      </p:sp>
      <p:sp>
        <p:nvSpPr>
          <p:cNvPr id="42" name="Text 36"/>
          <p:cNvSpPr txBox="1"/>
          <p:nvPr/>
        </p:nvSpPr>
        <p:spPr>
          <a:xfrm>
            <a:off x="533095" y="171907"/>
            <a:ext cx="431413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38 / 57 - FORM - Incident Analysis</a:t>
            </a:r>
            <a:endParaRPr lang="en-US" sz="900" dirty="0"/>
          </a:p>
        </p:txBody>
      </p:sp>
      <p:sp>
        <p:nvSpPr>
          <p:cNvPr id="43" name="Text 37"/>
          <p:cNvSpPr txBox="1"/>
          <p:nvPr/>
        </p:nvSpPr>
        <p:spPr>
          <a:xfrm>
            <a:off x="533095" y="362102"/>
            <a:ext cx="69247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Incident Analysis - Reusable Incident Register</a:t>
            </a:r>
            <a:endParaRPr lang="en-US" sz="1950" dirty="0"/>
          </a:p>
        </p:txBody>
      </p:sp>
      <p:sp>
        <p:nvSpPr>
          <p:cNvPr id="44" name="Text 38"/>
          <p:cNvSpPr txBox="1"/>
          <p:nvPr/>
        </p:nvSpPr>
        <p:spPr>
          <a:xfrm>
            <a:off x="16304666" y="342900"/>
            <a:ext cx="14575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38 - Incident form</a:t>
            </a:r>
            <a:endParaRPr lang="en-US" sz="900" dirty="0"/>
          </a:p>
        </p:txBody>
      </p:sp>
      <p:sp>
        <p:nvSpPr>
          <p:cNvPr id="45" name="Text 39"/>
          <p:cNvSpPr txBox="1"/>
          <p:nvPr/>
        </p:nvSpPr>
        <p:spPr>
          <a:xfrm>
            <a:off x="533095" y="1047902"/>
            <a:ext cx="448513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 and Incident Response</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41 of 61 - Worksheet 38 / 57</a:t>
            </a:r>
            <a:endParaRPr lang="en-US" sz="825"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2721"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42</a:t>
            </a:r>
            <a:pPr algn="l" indent="0" marL="0">
              <a:buNone/>
            </a:pPr>
            <a:r>
              <a:rPr lang="en-US" sz="825" b="1" spc="149" kern="0" dirty="0">
                <a:solidFill>
                  <a:srgbClr val="5B6B82"/>
                </a:solidFill>
                <a:latin typeface="Inter" pitchFamily="34" charset="0"/>
                <a:ea typeface="Inter" pitchFamily="34" charset="-122"/>
                <a:cs typeface="Inter" pitchFamily="34" charset="-120"/>
              </a:rPr>
              <a:t> Worksheet 39</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Third-Party Risk. Hosting Model and Exit Dependency drive review cadence. Owner Third-Party Risk Lead Sarah Mitchell.</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Vendor ID, Supplier, Service, Use Cases, Hosting, Data Class, Due Diligence, Security Review, Privacy Review, Renewal, Residual, Key Findings, Action, Exit Dependency.</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Same header schema and ID prefixes as the populated sheet. The submission contract for procurement.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Third-Party Risk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Hosting Model column decides whether data sits inside or outside the regulatory perimeter. Data Class decides review cadence. Exit Dependency is the resilience lens.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is Hosting Model mandatory and how do you handle sub-contractor data flows?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76388" y="5171846"/>
            <a:ext cx="5535778"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Hosting decides whether data sits inside or outside the regulatory perimeter.</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Sub-contractor data flows are handled via the Use Cases Linked column - the form makes sub-processing visible through the use case trail.</a:t>
            </a:r>
            <a:endParaRPr lang="en-US" sz="1050" dirty="0"/>
          </a:p>
        </p:txBody>
      </p:sp>
      <p:sp>
        <p:nvSpPr>
          <p:cNvPr id="31" name="Shape 25"/>
          <p:cNvSpPr/>
          <p:nvPr/>
        </p:nvSpPr>
        <p:spPr>
          <a:xfrm>
            <a:off x="6829654" y="5171846"/>
            <a:ext cx="76169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6261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HOSTING</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Third-Party Risk tags Hosting Model on every vendor. SaaS outside, IaaS inside, Hybrid shared - the label drives review cadence.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Tier 1 vendors processing restricted data are quarterly. Exit Dependency named explicitly - the discipline that survives supplier concentration challenge.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form travels with the supplier into Procurement, Risk and Compliance - same schema means same conversation.</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Third-Party Risk in the reduced template.</a:t>
            </a:r>
            <a:endParaRPr lang="en-US" sz="900" dirty="0"/>
          </a:p>
        </p:txBody>
      </p:sp>
      <p:sp>
        <p:nvSpPr>
          <p:cNvPr id="39" name="Shape 33"/>
          <p:cNvSpPr/>
          <p:nvPr/>
        </p:nvSpPr>
        <p:spPr>
          <a:xfrm>
            <a:off x="533095" y="9334195"/>
            <a:ext cx="12191695" cy="857707"/>
          </a:xfrm>
          <a:prstGeom prst="rect">
            <a:avLst/>
          </a:prstGeom>
          <a:solidFill>
            <a:srgbClr val="F4F6FA"/>
          </a:solidFill>
          <a:ln/>
        </p:spPr>
      </p:sp>
      <p:sp>
        <p:nvSpPr>
          <p:cNvPr id="40" name="Shape 34"/>
          <p:cNvSpPr/>
          <p:nvPr/>
        </p:nvSpPr>
        <p:spPr>
          <a:xfrm>
            <a:off x="533095" y="9334195"/>
            <a:ext cx="38405" cy="857707"/>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857707"/>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Third-Party Risk tags Hosting Model on every vendor - SaaS outside, IaaS inside, Hybrid shared. The label drives review cadence: Tier 1 vendors processing restricted data are quarterly, the rest annual."</a:t>
            </a:r>
            <a:endParaRPr lang="en-US" sz="1013" dirty="0"/>
          </a:p>
        </p:txBody>
      </p:sp>
      <p:sp>
        <p:nvSpPr>
          <p:cNvPr id="42" name="Text 36"/>
          <p:cNvSpPr txBox="1"/>
          <p:nvPr/>
        </p:nvSpPr>
        <p:spPr>
          <a:xfrm>
            <a:off x="533095" y="171907"/>
            <a:ext cx="421812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39 / 57 - FORM - Third-Party Risk</a:t>
            </a:r>
            <a:endParaRPr lang="en-US" sz="900" dirty="0"/>
          </a:p>
        </p:txBody>
      </p:sp>
      <p:sp>
        <p:nvSpPr>
          <p:cNvPr id="43" name="Text 37"/>
          <p:cNvSpPr txBox="1"/>
          <p:nvPr/>
        </p:nvSpPr>
        <p:spPr>
          <a:xfrm>
            <a:off x="533095" y="362102"/>
            <a:ext cx="67153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Third-Party Risk - Reusable Vendor Register</a:t>
            </a:r>
            <a:endParaRPr lang="en-US" sz="1950" dirty="0"/>
          </a:p>
        </p:txBody>
      </p:sp>
      <p:sp>
        <p:nvSpPr>
          <p:cNvPr id="44" name="Text 38"/>
          <p:cNvSpPr txBox="1"/>
          <p:nvPr/>
        </p:nvSpPr>
        <p:spPr>
          <a:xfrm>
            <a:off x="16348558" y="342900"/>
            <a:ext cx="14100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39 - Vendor form</a:t>
            </a:r>
            <a:endParaRPr lang="en-US" sz="900" dirty="0"/>
          </a:p>
        </p:txBody>
      </p:sp>
      <p:sp>
        <p:nvSpPr>
          <p:cNvPr id="45" name="Text 39"/>
          <p:cNvSpPr txBox="1"/>
          <p:nvPr/>
        </p:nvSpPr>
        <p:spPr>
          <a:xfrm>
            <a:off x="533095" y="1047902"/>
            <a:ext cx="3576218"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Sarah Mitchell - TPRM Lead</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42 of 61 - Worksheet 39 / 57</a:t>
            </a:r>
            <a:endParaRPr lang="en-US" sz="825"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0892"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43</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40</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27582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Compliance Mapping. ISO 42001 clause, Annex A reference, NIST AI RMF and FCA on one row. Owner AI Security Manager.</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ID, Control Statement, ISO 42001 Clause, Annex A, Other Frameworks, Owner, Implementation Status, Evidence, Review Frequency, Audit Test Focus.</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AIMS audit-ready spine. Same header schema and ID prefixes as the populated sheet.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Compliance Mapping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CTL-001 Intake Clause 6.1 A.6.2.2. CTL-002 Independent challenge Clause 9.1, 9.2. CTL-003 Consumer Duty A.6.2.7 POL-002. CTL-004 Document AI extraction QA POL-006.</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map ISO 42001, NIST AI RMF and FCA on the same row, and how do you keep Evidence ID fresh?</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08392" y="5171846"/>
            <a:ext cx="5503774"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One control, one row, multiple frameworks - the only efficient audit posture.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Review Frequency column prevents the audit from re-validating on an old cadence - the assessor reads frequency off the row.</a:t>
            </a:r>
            <a:endParaRPr lang="en-US" sz="1050" dirty="0"/>
          </a:p>
        </p:txBody>
      </p:sp>
      <p:sp>
        <p:nvSpPr>
          <p:cNvPr id="31" name="Shape 25"/>
          <p:cNvSpPr/>
          <p:nvPr/>
        </p:nvSpPr>
        <p:spPr>
          <a:xfrm>
            <a:off x="6829654" y="5171846"/>
            <a:ext cx="7909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909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ONE ROW</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Compliance Mapping keeps ISO 42001, NIST AI RMF and FCA on the same row. One control, one row - the only efficient audit posture.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Policy and Evidence ID are the auditable companions - regulator pulls evidence from one row, no documents scattered.</a:t>
            </a:r>
            <a:endParaRPr lang="en-US" sz="1088" dirty="0"/>
          </a:p>
        </p:txBody>
      </p:sp>
      <p:sp>
        <p:nvSpPr>
          <p:cNvPr id="37" name="Text 31"/>
          <p:cNvSpPr txBox="1"/>
          <p:nvPr/>
        </p:nvSpPr>
        <p:spPr>
          <a:xfrm>
            <a:off x="733349" y="7762342"/>
            <a:ext cx="12130430"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Audit Test Focus column lets an external assessor pick rows in minutes - 38 items cover the full AIMS, the denominator the Board Pack Notes uses.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Compliance Mapping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Compliance Mapping keeps ISO 42001, NIST AI RMF and FCA on the same row. One control, one row - that's the only efficient audit posture the panel will probe."</a:t>
            </a:r>
            <a:endParaRPr lang="en-US" sz="1013" dirty="0"/>
          </a:p>
        </p:txBody>
      </p:sp>
      <p:sp>
        <p:nvSpPr>
          <p:cNvPr id="42" name="Text 36"/>
          <p:cNvSpPr txBox="1"/>
          <p:nvPr/>
        </p:nvSpPr>
        <p:spPr>
          <a:xfrm>
            <a:off x="533095" y="171907"/>
            <a:ext cx="441015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40 / 57 - FORM - Compliance Mapping</a:t>
            </a:r>
            <a:endParaRPr lang="en-US" sz="900" dirty="0"/>
          </a:p>
        </p:txBody>
      </p:sp>
      <p:sp>
        <p:nvSpPr>
          <p:cNvPr id="43" name="Text 37"/>
          <p:cNvSpPr txBox="1"/>
          <p:nvPr/>
        </p:nvSpPr>
        <p:spPr>
          <a:xfrm>
            <a:off x="533095" y="362102"/>
            <a:ext cx="72301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Compliance Mapping - Reusable Control Library</a:t>
            </a:r>
            <a:endParaRPr lang="en-US" sz="1950" dirty="0"/>
          </a:p>
        </p:txBody>
      </p:sp>
      <p:sp>
        <p:nvSpPr>
          <p:cNvPr id="44" name="Text 38"/>
          <p:cNvSpPr txBox="1"/>
          <p:nvPr/>
        </p:nvSpPr>
        <p:spPr>
          <a:xfrm>
            <a:off x="16117214" y="342900"/>
            <a:ext cx="1638605"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40 - Compliance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43 of 61 - Worksheet 40 / 57</a:t>
            </a:r>
            <a:endParaRPr lang="en-US" sz="825"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94608" y="1047902"/>
            <a:ext cx="1467612"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44</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41</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Service Catalog. Each service has owner, intake route and customer group.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Service ID, Service Name, Category, Description, Intake Route, Service Owner, Customer Group, Use Cases, Controls, KPIs, Outputs, Dependency Notes, Assurance Relevance.</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Intake Route sets the operational discipline - usually ServiceNow - and Service Owner names the function-side accountable.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Service Catalog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SVC-001 Intake and Triage Governance, ServiceNow intake, Daniel O Reilly. SVC-002 UW Model Assurance Mohammed Iqbal. SVC-003 Claims AI Ops.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catalog services and how do you keep customer groups distinct?</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69987" y="5171846"/>
            <a:ext cx="4856378"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A catalog stops ad-hoc requests bleeding into the function.</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Customer Group name is what makes the service list defensible - the same service cannot have two customer groups.</a:t>
            </a:r>
            <a:endParaRPr lang="en-US" sz="1050" dirty="0"/>
          </a:p>
        </p:txBody>
      </p:sp>
      <p:sp>
        <p:nvSpPr>
          <p:cNvPr id="31" name="Shape 25"/>
          <p:cNvSpPr/>
          <p:nvPr/>
        </p:nvSpPr>
        <p:spPr>
          <a:xfrm>
            <a:off x="6829654" y="5171846"/>
            <a:ext cx="752551"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CATALOG</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Service Catalog is the contract between the function and the rest of the firm. Each service has owner, intake and customer group.</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Half-yearly review is the discipline point - retire or merge services and the workbook reflects it.</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ServiceNow is the single intake route. Free-text emails do not start services - the catalog and intake are tied, and the form is the contract.</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Service Catalog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Service Catalog is the contract. Each service has owner, intake and customer group - that is what stops the function sprawling. Half-yearly review is the discipline point."</a:t>
            </a:r>
            <a:endParaRPr lang="en-US" sz="1013" dirty="0"/>
          </a:p>
        </p:txBody>
      </p:sp>
      <p:sp>
        <p:nvSpPr>
          <p:cNvPr id="42" name="Text 36"/>
          <p:cNvSpPr txBox="1"/>
          <p:nvPr/>
        </p:nvSpPr>
        <p:spPr>
          <a:xfrm>
            <a:off x="533095" y="171907"/>
            <a:ext cx="412211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41 / 57 - FORM - Service Catalog</a:t>
            </a:r>
            <a:endParaRPr lang="en-US" sz="900" dirty="0"/>
          </a:p>
        </p:txBody>
      </p:sp>
      <p:sp>
        <p:nvSpPr>
          <p:cNvPr id="43" name="Text 37"/>
          <p:cNvSpPr txBox="1"/>
          <p:nvPr/>
        </p:nvSpPr>
        <p:spPr>
          <a:xfrm>
            <a:off x="533095" y="362102"/>
            <a:ext cx="68296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Service Catalog - Reusable Service Inventory</a:t>
            </a:r>
            <a:endParaRPr lang="en-US" sz="1950" dirty="0"/>
          </a:p>
        </p:txBody>
      </p:sp>
      <p:sp>
        <p:nvSpPr>
          <p:cNvPr id="44" name="Text 38"/>
          <p:cNvSpPr txBox="1"/>
          <p:nvPr/>
        </p:nvSpPr>
        <p:spPr>
          <a:xfrm>
            <a:off x="16355873" y="342900"/>
            <a:ext cx="14008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41 - Service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44 of 61 - Worksheet 41 / 57</a:t>
            </a:r>
            <a:endParaRPr lang="en-US" sz="825"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0892"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45</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42</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SLA-SLO Definitions. Pairs response time with quality band.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Service ID, Service Name, SLA Response, SLA Resolution, SLO Quality, Measurement, Breach Rule, Exclusions, Severity Treatment, Cadence.</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SLA Response, SLA Resolution, SLO Quality Measure all on one row - the regulator reads response and quality together.</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SLA-SLO Definitions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Breach Rule column makes failure explicit. Exclusions column protects against false breach claims - regulator-grade honesty.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handle SLAs the regulator will see, and what about Quality bands under Consumer Duty?</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827264" y="5171846"/>
            <a:ext cx="469910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SLA is contractual. SLO is quality. Pair them.</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Consumer Duty band is paired in here - quality measure, threshold and cadence tie into the monthly KRI-004 review.</a:t>
            </a:r>
            <a:endParaRPr lang="en-US" sz="1050" dirty="0"/>
          </a:p>
        </p:txBody>
      </p:sp>
      <p:sp>
        <p:nvSpPr>
          <p:cNvPr id="31" name="Shape 25"/>
          <p:cNvSpPr/>
          <p:nvPr/>
        </p:nvSpPr>
        <p:spPr>
          <a:xfrm>
            <a:off x="6829654" y="5171846"/>
            <a:ext cx="9052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9052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REGULATOR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SLA-SLO Definitions pairs response with quality. Required by regulator for outsourced material activities under FCA and PRA.</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Breach Rule column defines an explicit trigger - "two consecutive months below 90%" - not a vague notion of failure.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Exclusions and Severity Treatment protect against false breach claims during planned maintenance or one-off DPIA extensions.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SLA-SLO Definitions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"SLA is contractual efficiency, SLO is quality band. Pair them and the regulator sees a contract, not a sticker. Breach Rule column defines the trigger - that is the discipline a panel will probe."</a:t>
            </a:r>
            <a:endParaRPr lang="en-US" sz="1013" dirty="0"/>
          </a:p>
        </p:txBody>
      </p:sp>
      <p:sp>
        <p:nvSpPr>
          <p:cNvPr id="42" name="Text 36"/>
          <p:cNvSpPr txBox="1"/>
          <p:nvPr/>
        </p:nvSpPr>
        <p:spPr>
          <a:xfrm>
            <a:off x="533095" y="171907"/>
            <a:ext cx="450616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42 / 57 - FORM - SLA-SLO Definitions</a:t>
            </a:r>
            <a:endParaRPr lang="en-US" sz="900" dirty="0"/>
          </a:p>
        </p:txBody>
      </p:sp>
      <p:sp>
        <p:nvSpPr>
          <p:cNvPr id="43" name="Text 37"/>
          <p:cNvSpPr txBox="1"/>
          <p:nvPr/>
        </p:nvSpPr>
        <p:spPr>
          <a:xfrm>
            <a:off x="533095" y="362102"/>
            <a:ext cx="78967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SLA-SLO Definitions - Reusable Service Level Contract</a:t>
            </a:r>
            <a:endParaRPr lang="en-US" sz="1950" dirty="0"/>
          </a:p>
        </p:txBody>
      </p:sp>
      <p:sp>
        <p:nvSpPr>
          <p:cNvPr id="44" name="Text 38"/>
          <p:cNvSpPr txBox="1"/>
          <p:nvPr/>
        </p:nvSpPr>
        <p:spPr>
          <a:xfrm>
            <a:off x="16277234" y="342900"/>
            <a:ext cx="14859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42 - SLA-SLO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45 of 61 - Worksheet 42 / 57</a:t>
            </a:r>
            <a:endParaRPr lang="en-US" sz="825"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0892"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46</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43</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Service Request Log. Weekly ServiceNow extract is the source of freshness.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Request ID, Date Raised, Service ID, Request Category, Requestor BU, Priority, Owner, Status, Target Date, Completion Date, Ageing, SLA Met, Linked Use Case, Comments.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Weekly ServiceNow extract removes manual reconciliation. The form is the structure, ServiceNow is the engine.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Service Request Log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Ageing column is the early-warning lens - long-aged requests expose backlog and capacity tension before SLA breach.</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weekly freshness maintained and how do you avoid manual reconciliation?</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913218" y="5171846"/>
            <a:ext cx="4613148"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Weekly extract from ServiceNow removes manual entry.</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SLA Met column provides the audit-grade answer to "are we meeting commitments" - sample evidence on the regulator's request.</a:t>
            </a:r>
            <a:endParaRPr lang="en-US" sz="1050" dirty="0"/>
          </a:p>
        </p:txBody>
      </p:sp>
      <p:sp>
        <p:nvSpPr>
          <p:cNvPr id="31" name="Shape 25"/>
          <p:cNvSpPr/>
          <p:nvPr/>
        </p:nvSpPr>
        <p:spPr>
          <a:xfrm>
            <a:off x="6829654" y="5171846"/>
            <a:ext cx="99029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99121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SERVICENOW</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Service Request Log pulls from ServiceNow weekly. The form is the structure, ServiceNow is the engine - no manual reconciliation, no orphan rows.</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Ageing column is the early-warning lens - long-aged requests expose backlog and capacity tension before SLA breach.</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form lives in the reduced template so a new business unit starts the log from the same structure - capacity conversation starts honest.</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Service Request Log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Service Request Log pulls from ServiceNow weekly. The form is the structure, ServiceNow is the engine - no manual reconciliation, no orphan rows. That is the discipline the panel will probe."</a:t>
            </a:r>
            <a:endParaRPr lang="en-US" sz="1013" dirty="0"/>
          </a:p>
        </p:txBody>
      </p:sp>
      <p:sp>
        <p:nvSpPr>
          <p:cNvPr id="42" name="Text 36"/>
          <p:cNvSpPr txBox="1"/>
          <p:nvPr/>
        </p:nvSpPr>
        <p:spPr>
          <a:xfrm>
            <a:off x="533095" y="171907"/>
            <a:ext cx="450616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43 / 57 - FORM - Service Request Log</a:t>
            </a:r>
            <a:endParaRPr lang="en-US" sz="900" dirty="0"/>
          </a:p>
        </p:txBody>
      </p:sp>
      <p:sp>
        <p:nvSpPr>
          <p:cNvPr id="43" name="Text 37"/>
          <p:cNvSpPr txBox="1"/>
          <p:nvPr/>
        </p:nvSpPr>
        <p:spPr>
          <a:xfrm>
            <a:off x="533095" y="362102"/>
            <a:ext cx="82588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Service Request Log - Reusable ServiceNow Demand Log</a:t>
            </a:r>
            <a:endParaRPr lang="en-US" sz="1950" dirty="0"/>
          </a:p>
        </p:txBody>
      </p:sp>
      <p:sp>
        <p:nvSpPr>
          <p:cNvPr id="44" name="Text 38"/>
          <p:cNvSpPr txBox="1"/>
          <p:nvPr/>
        </p:nvSpPr>
        <p:spPr>
          <a:xfrm>
            <a:off x="16113557" y="342900"/>
            <a:ext cx="16486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43 - Request log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46 of 61 - Worksheet 43 / 57</a:t>
            </a:r>
            <a:endParaRPr lang="en-US" sz="825"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0892"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44</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Governance Framework. Each forum has Chair, Cadence and Escalation Route.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Committee ID, Name, Purpose, Mandate, Chair, Membership, Cadence, Escalation, Reporting Outputs, Decisions, Linked Policies.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Defines who decides what, at what cadence, and via what escalation route. SMCR accountability visible here.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Governance Framework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COM-001 AI Governance Forum chaired by CDO Andrew Pollard, monthly, Risk Committee then ExCo. COM-002 Model Risk Committee CRO Geoffrey Sanders.</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does the form ensure SMCR mapping and where does the Chair sit?</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03566" y="5171846"/>
            <a:ext cx="5022799"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forum has a named Chair and Escalation Route.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Linked Policies column keeps the form tied to POL-001 to POL-009 - the discipline that no policy becomes orphan.</a:t>
            </a:r>
            <a:endParaRPr lang="en-US" sz="1050" dirty="0"/>
          </a:p>
        </p:txBody>
      </p:sp>
      <p:sp>
        <p:nvSpPr>
          <p:cNvPr id="31" name="Shape 25"/>
          <p:cNvSpPr/>
          <p:nvPr/>
        </p:nvSpPr>
        <p:spPr>
          <a:xfrm>
            <a:off x="6829654" y="5171846"/>
            <a:ext cx="580644"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581558"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CHAIR</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964924"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Governance Framework names Chair and escalation per forum. SMF accountability is in the Chair column - the discipline the panel expects.</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Escalation Route column makes the chain explicit - AI Governance Forum escalates to Risk Committee then ExCo.</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form carries the populated firm's forum structure without copy-paste error - SMCR mapping is preserved.</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Governance Framework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Governance Framework names Chair and escalation per forum. SMF accountability is in the Chair column - that is the discipline that survives Senior Managers and Certification Regime review."</a:t>
            </a:r>
            <a:endParaRPr lang="en-US" sz="1013" dirty="0"/>
          </a:p>
        </p:txBody>
      </p:sp>
      <p:sp>
        <p:nvSpPr>
          <p:cNvPr id="42" name="Text 36"/>
          <p:cNvSpPr txBox="1"/>
          <p:nvPr/>
        </p:nvSpPr>
        <p:spPr>
          <a:xfrm>
            <a:off x="533095" y="171907"/>
            <a:ext cx="4602175"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44 / 57 - FORM - Governance Framework</a:t>
            </a:r>
            <a:endParaRPr lang="en-US" sz="900" dirty="0"/>
          </a:p>
        </p:txBody>
      </p:sp>
      <p:sp>
        <p:nvSpPr>
          <p:cNvPr id="43" name="Text 37"/>
          <p:cNvSpPr txBox="1"/>
          <p:nvPr/>
        </p:nvSpPr>
        <p:spPr>
          <a:xfrm>
            <a:off x="533095" y="362102"/>
            <a:ext cx="7696505"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Governance Framework - Reusable Forum Inventory</a:t>
            </a:r>
            <a:endParaRPr lang="en-US" sz="1950" dirty="0"/>
          </a:p>
        </p:txBody>
      </p:sp>
      <p:sp>
        <p:nvSpPr>
          <p:cNvPr id="44" name="Text 38"/>
          <p:cNvSpPr txBox="1"/>
          <p:nvPr/>
        </p:nvSpPr>
        <p:spPr>
          <a:xfrm>
            <a:off x="16110814" y="342900"/>
            <a:ext cx="16486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44 - Governance form</a:t>
            </a:r>
            <a:endParaRPr lang="en-US" sz="900" dirty="0"/>
          </a:p>
        </p:txBody>
      </p:sp>
      <p:sp>
        <p:nvSpPr>
          <p:cNvPr id="45" name="Text 39"/>
          <p:cNvSpPr txBox="1"/>
          <p:nvPr/>
        </p:nvSpPr>
        <p:spPr>
          <a:xfrm>
            <a:off x="533095" y="1047902"/>
            <a:ext cx="3696919"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Company Secretariat and Risk</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47 of 61 - Worksheet 44 / 57</a:t>
            </a:r>
            <a:endParaRPr lang="en-US" sz="825"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0892"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45</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RACI Matrix. One Accountable per activity prevents accountability diffusion.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Activity ID, Activity, Business Owner, AI Security Manager, CISO, CRO/Risk, DPO/Compliance, Data Science, Internal Audit, Procurement, Tech/Cloud, Linked Policies.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Activity-level responsibilities across the AI lifecycle. Responsible, Accountable, Consulted, Informed.</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RACI Matrix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One A per activity column discipline. ACT-RACI-01 Intake Triage - A Business Owner R AI Security Manager. ACT-RACI-04 DPIA - A,R Data Science/MLOps.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one A per activity and how do you resist pressure to add a second A?</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79131" y="5171846"/>
            <a:ext cx="499536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Single accountability avoids diffusion - the SMCR discipline.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AI Security Manager R across ACT-RACI-01 to ACT-RACI-09 - consistent backbone across intake, due diligence and risk assessment.</a:t>
            </a:r>
            <a:endParaRPr lang="en-US" sz="1050" dirty="0"/>
          </a:p>
        </p:txBody>
      </p:sp>
      <p:sp>
        <p:nvSpPr>
          <p:cNvPr id="31" name="Shape 25"/>
          <p:cNvSpPr/>
          <p:nvPr/>
        </p:nvSpPr>
        <p:spPr>
          <a:xfrm>
            <a:off x="6829654" y="5171846"/>
            <a:ext cx="76169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6261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SINGLE A</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RACI Matrix enforces one A per activity. That is the SMCR defence - if two As appear on a row neither is the accountable executive.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Policies column connects each activity to POL-001 to POL-009 - no activity sits orphan from the policy library.</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form is the contract entered into during intake - and the discipline the panel will probe.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RACI Matrix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RACI Matrix enforces one A per activity. SMCR defence - if two As appear on a row, neither is the accountable executive. That is the discipline a panel will probe first."</a:t>
            </a:r>
            <a:endParaRPr lang="en-US" sz="1013" dirty="0"/>
          </a:p>
        </p:txBody>
      </p:sp>
      <p:sp>
        <p:nvSpPr>
          <p:cNvPr id="42" name="Text 36"/>
          <p:cNvSpPr txBox="1"/>
          <p:nvPr/>
        </p:nvSpPr>
        <p:spPr>
          <a:xfrm>
            <a:off x="533095" y="171907"/>
            <a:ext cx="373806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45 / 57 - FORM - RACI Matrix</a:t>
            </a:r>
            <a:endParaRPr lang="en-US" sz="900" dirty="0"/>
          </a:p>
        </p:txBody>
      </p:sp>
      <p:sp>
        <p:nvSpPr>
          <p:cNvPr id="43" name="Text 37"/>
          <p:cNvSpPr txBox="1"/>
          <p:nvPr/>
        </p:nvSpPr>
        <p:spPr>
          <a:xfrm>
            <a:off x="533095" y="362102"/>
            <a:ext cx="661111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RACI Matrix - Reusable Activity Ownership</a:t>
            </a:r>
            <a:endParaRPr lang="en-US" sz="1950" dirty="0"/>
          </a:p>
        </p:txBody>
      </p:sp>
      <p:sp>
        <p:nvSpPr>
          <p:cNvPr id="44" name="Text 38"/>
          <p:cNvSpPr txBox="1"/>
          <p:nvPr/>
        </p:nvSpPr>
        <p:spPr>
          <a:xfrm>
            <a:off x="16470173" y="342900"/>
            <a:ext cx="1286561"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45 - RACI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48 of 61 - Worksheet 45 / 57</a:t>
            </a:r>
            <a:endParaRPr lang="en-US" sz="825"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79978"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49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46</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Maturity Assessment. Current vs Target plus Gap is what the roadmap is built to close.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Domain ID, Domain, Description, Current Maturity, Current Level, Target Maturity, Target Level, Gap, Narrative Rationale, Linked Roadmap, Owner, Maturity Summary.</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1 Initial, 2 Developing, 3 Defined, 4 Managed, 5 Optimised. CHOOSE formula shows the textual level.</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Maturity Assessment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Narrative Rationale column justifies the score - auditors will ask. MAT-01 to MAT-13 domains.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split Current vs Target and how do you justify the maturity level?</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75550" y="5171846"/>
            <a:ext cx="5150815"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Gap gives the change programme its targets.</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CHOOSE formula shows the textual level - reading off the row tells the assessor the level, not the score alone.</a:t>
            </a:r>
            <a:endParaRPr lang="en-US" sz="1050" dirty="0"/>
          </a:p>
        </p:txBody>
      </p:sp>
      <p:sp>
        <p:nvSpPr>
          <p:cNvPr id="31" name="Shape 25"/>
          <p:cNvSpPr/>
          <p:nvPr/>
        </p:nvSpPr>
        <p:spPr>
          <a:xfrm>
            <a:off x="6829654" y="5171846"/>
            <a:ext cx="457200"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5720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GAP</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Maturity Assessment has Current and Target plus Gap. The roadmap closes the gap - the discipline that ties maturity into delivery.</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Narrative Rationale column - the assessor reads the level and reads the why on the same row. MAT-02 at 3 Defined because risk quantification is consistent but not yet predictive.</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Roadmap IDs close the gap into action - the form carries the action plan into the populated workbook.</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Maturity Assessment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Maturity Assessment has Current, Target and Gap. The roadmap closes the gap - that is the discipline that survives an assessor reading one row cold."</a:t>
            </a:r>
            <a:endParaRPr lang="en-US" sz="1013" dirty="0"/>
          </a:p>
        </p:txBody>
      </p:sp>
      <p:sp>
        <p:nvSpPr>
          <p:cNvPr id="42" name="Text 36"/>
          <p:cNvSpPr txBox="1"/>
          <p:nvPr/>
        </p:nvSpPr>
        <p:spPr>
          <a:xfrm>
            <a:off x="533095" y="171907"/>
            <a:ext cx="450616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46 / 57 - FORM - Maturity Assessment</a:t>
            </a:r>
            <a:endParaRPr lang="en-US" sz="900" dirty="0"/>
          </a:p>
        </p:txBody>
      </p:sp>
      <p:sp>
        <p:nvSpPr>
          <p:cNvPr id="43" name="Text 37"/>
          <p:cNvSpPr txBox="1"/>
          <p:nvPr/>
        </p:nvSpPr>
        <p:spPr>
          <a:xfrm>
            <a:off x="533095" y="362102"/>
            <a:ext cx="8011058"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Maturity Assessment - Reusable Capability Self-Review</a:t>
            </a:r>
            <a:endParaRPr lang="en-US" sz="1950" dirty="0"/>
          </a:p>
        </p:txBody>
      </p:sp>
      <p:sp>
        <p:nvSpPr>
          <p:cNvPr id="44" name="Text 38"/>
          <p:cNvSpPr txBox="1"/>
          <p:nvPr/>
        </p:nvSpPr>
        <p:spPr>
          <a:xfrm>
            <a:off x="16285464" y="342900"/>
            <a:ext cx="1476756"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46 - Maturity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49 of 61 - Worksheet 46 / 57</a:t>
            </a:r>
            <a:endParaRPr lang="en-US" sz="825"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47</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Implementation Roadmap. Same header schema and ID prefixes as the populated instance it pairs with. Steering-grade detail with % Complete and Days to End.</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Roadmap ID, Workstream, Milestone, Linked Maturity/Risk/Control, Owner, Start, End, Status, % Complete, Phase, Dependency, Commentary, Days to End, Roadmap Summary.</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Phased delivery plan addressing maturity gaps, control improvements and strategic outcomes.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Implementation Roadmap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RDM-001 Customer-Facing AI Uplift 15/01/2026 to 30/09/2026 In Progress. Each roadmap item links to a maturity domain and a risk.</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track %, not only Status, and how do you sequence milestones on dependencies?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58100" y="5171846"/>
            <a:ext cx="499536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Percent complete is the steering signal; status is the label.</a:t>
            </a:r>
            <a:endParaRPr lang="en-US" sz="1050" dirty="0"/>
          </a:p>
        </p:txBody>
      </p:sp>
      <p:sp>
        <p:nvSpPr>
          <p:cNvPr id="30" name="Text 24"/>
          <p:cNvSpPr txBox="1"/>
          <p:nvPr/>
        </p:nvSpPr>
        <p:spPr>
          <a:xfrm>
            <a:off x="6829654" y="5486400"/>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Days to End column gives the tempo - panel can read the timeline as well as the milestone list.</a:t>
            </a:r>
            <a:endParaRPr lang="en-US" sz="1050" dirty="0"/>
          </a:p>
        </p:txBody>
      </p:sp>
      <p:sp>
        <p:nvSpPr>
          <p:cNvPr id="31" name="Shape 25"/>
          <p:cNvSpPr/>
          <p:nvPr/>
        </p:nvSpPr>
        <p:spPr>
          <a:xfrm>
            <a:off x="6829654" y="5171846"/>
            <a:ext cx="743407"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43407"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PERCENT</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Implementation Roadmap carries % Complete and Days to End. Steering-grade detail - panel reads momentum, not milestones alone.</a:t>
            </a:r>
            <a:endParaRPr lang="en-US" sz="1088" dirty="0"/>
          </a:p>
        </p:txBody>
      </p:sp>
      <p:sp>
        <p:nvSpPr>
          <p:cNvPr id="36" name="Text 30"/>
          <p:cNvSpPr txBox="1"/>
          <p:nvPr/>
        </p:nvSpPr>
        <p:spPr>
          <a:xfrm>
            <a:off x="733349" y="7490765"/>
            <a:ext cx="1237914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item links to Maturity Assessment and Risk Quantification - maturity and risk roll forward into delivery, and back into the populated workbook.</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Quarterly steering review cadence - the discipline that converts roadmap rows into actual change.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Implementation Roadmap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Implementation Roadmap carries % Complete and Days to End. Steering-grade detail - quarter on quarter the panel can read the tempo."</a:t>
            </a:r>
            <a:endParaRPr lang="en-US" sz="1013" dirty="0"/>
          </a:p>
        </p:txBody>
      </p:sp>
      <p:sp>
        <p:nvSpPr>
          <p:cNvPr id="42" name="Text 36"/>
          <p:cNvSpPr txBox="1"/>
          <p:nvPr/>
        </p:nvSpPr>
        <p:spPr>
          <a:xfrm>
            <a:off x="533095" y="171907"/>
            <a:ext cx="479419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47 / 57 - FORM - Implementation Roadmap</a:t>
            </a:r>
            <a:endParaRPr lang="en-US" sz="900" dirty="0"/>
          </a:p>
        </p:txBody>
      </p:sp>
      <p:sp>
        <p:nvSpPr>
          <p:cNvPr id="43" name="Text 37"/>
          <p:cNvSpPr txBox="1"/>
          <p:nvPr/>
        </p:nvSpPr>
        <p:spPr>
          <a:xfrm>
            <a:off x="533095" y="362102"/>
            <a:ext cx="75730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Implementation Roadmap - Reusable Delivery Plan</a:t>
            </a:r>
            <a:endParaRPr lang="en-US" sz="1950" dirty="0"/>
          </a:p>
        </p:txBody>
      </p:sp>
      <p:sp>
        <p:nvSpPr>
          <p:cNvPr id="44" name="Text 38"/>
          <p:cNvSpPr txBox="1"/>
          <p:nvPr/>
        </p:nvSpPr>
        <p:spPr>
          <a:xfrm>
            <a:off x="16229686" y="342900"/>
            <a:ext cx="15343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47 - Roadmap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50 of 61 - Worksheet 47 / 57</a:t>
            </a:r>
            <a:endParaRPr lang="en-US" sz="825"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99180"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51</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48</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Resource Planning. Roles, FTE, sourcing model and skills mix for the AI Security function.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Role ID, Role Title, FTE Current, FTE Target, Sourcing Model, Core Skills, Coverage Area, Dependency Risk, Training Requirement, Hiring Need, Timeline, Resource Summary.</a:t>
            </a:r>
            <a:endParaRPr lang="en-US" sz="1050" dirty="0"/>
          </a:p>
        </p:txBody>
      </p:sp>
      <p:sp>
        <p:nvSpPr>
          <p:cNvPr id="15" name="Text 9"/>
          <p:cNvSpPr txBox="1"/>
          <p:nvPr/>
        </p:nvSpPr>
        <p:spPr>
          <a:xfrm>
            <a:off x="733349" y="4087368"/>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Dependency Risk column is the test the panel will ask - form locks in High, Medium, Low against every role.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Resource Planning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RES-001 AI Security Manager 1 FTE Internal FTE High single-point dependency. RES-002 model assurance, RES-003 cloud security, RES-004 third-party risk.</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avoid single-point dependency on the AI Security Manager role and what does succession look like?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592263" y="5171846"/>
            <a:ext cx="493410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Named deputy plus succession plan plus handover artefacts.</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Hiring Need and Timeline columns are the change signals - half-yearly review with HR is the cadence.</a:t>
            </a:r>
            <a:endParaRPr lang="en-US" sz="1050" dirty="0"/>
          </a:p>
        </p:txBody>
      </p:sp>
      <p:sp>
        <p:nvSpPr>
          <p:cNvPr id="31" name="Shape 25"/>
          <p:cNvSpPr/>
          <p:nvPr/>
        </p:nvSpPr>
        <p:spPr>
          <a:xfrm>
            <a:off x="6829654" y="5171846"/>
            <a:ext cx="6766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6766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DEPUTY</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Resource Planning names each role and single-point dependency. Mitigation is deputy and handover artefacts.</a:t>
            </a:r>
            <a:endParaRPr lang="en-US" sz="1088" dirty="0"/>
          </a:p>
        </p:txBody>
      </p:sp>
      <p:sp>
        <p:nvSpPr>
          <p:cNvPr id="36" name="Text 30"/>
          <p:cNvSpPr txBox="1"/>
          <p:nvPr/>
        </p:nvSpPr>
        <p:spPr>
          <a:xfrm>
            <a:off x="733349" y="7490765"/>
            <a:ext cx="11964924"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The Sourcing Model column mixes internal FTE for permanent capability, mixed sourcing for surge capability - that's the panel's capacity story.</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Half-yearly with HR cadence - the discipline that keeps RES-001 succession plan and the wider function in step.</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Resource Planning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Resource Planning names each role and single-point dependency. Mitigation is deputy and handover artefacts - that is the resilience discipline that survives succession challenge."</a:t>
            </a:r>
            <a:endParaRPr lang="en-US" sz="1013" dirty="0"/>
          </a:p>
        </p:txBody>
      </p:sp>
      <p:sp>
        <p:nvSpPr>
          <p:cNvPr id="42" name="Text 36"/>
          <p:cNvSpPr txBox="1"/>
          <p:nvPr/>
        </p:nvSpPr>
        <p:spPr>
          <a:xfrm>
            <a:off x="533095" y="171907"/>
            <a:ext cx="431413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48 / 57 - FORM - Resource Planning</a:t>
            </a:r>
            <a:endParaRPr lang="en-US" sz="900" dirty="0"/>
          </a:p>
        </p:txBody>
      </p:sp>
      <p:sp>
        <p:nvSpPr>
          <p:cNvPr id="43" name="Text 37"/>
          <p:cNvSpPr txBox="1"/>
          <p:nvPr/>
        </p:nvSpPr>
        <p:spPr>
          <a:xfrm>
            <a:off x="533095" y="362102"/>
            <a:ext cx="693481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Resource Planning - Reusable Workforce Plan</a:t>
            </a:r>
            <a:endParaRPr lang="en-US" sz="1950" dirty="0"/>
          </a:p>
        </p:txBody>
      </p:sp>
      <p:sp>
        <p:nvSpPr>
          <p:cNvPr id="44" name="Text 38"/>
          <p:cNvSpPr txBox="1"/>
          <p:nvPr/>
        </p:nvSpPr>
        <p:spPr>
          <a:xfrm>
            <a:off x="16253460" y="342900"/>
            <a:ext cx="150510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48 - Resource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51 of 61 - Worksheet 48 / 57</a:t>
            </a:r>
            <a:endParaRPr lang="en-US" sz="825"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2721"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52</a:t>
            </a:r>
            <a:pPr algn="l" indent="0" marL="0">
              <a:buNone/>
            </a:pPr>
            <a:r>
              <a:rPr lang="en-US" sz="825" b="1" spc="149" kern="0" dirty="0">
                <a:solidFill>
                  <a:srgbClr val="5B6B82"/>
                </a:solidFill>
                <a:latin typeface="Inter" pitchFamily="34" charset="0"/>
                <a:ea typeface="Inter" pitchFamily="34" charset="-122"/>
                <a:cs typeface="Inter" pitchFamily="34" charset="-120"/>
              </a:rPr>
              <a:t> Worksheet 49</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Financial Analysis. Run, change and contingency budget. All values in GBP thousands.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Budget Line ID, Budget Line, Category, Run/Change, Annual Cost, Monthly, Owner, Variance, Commentary, Budget Summary.</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Stable Run, visible Change - the discipline that proves investment efficiency to external readers.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Financial Analysis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FIN-001 AI Security Manager Salary on-costs Staff Run GBP 145k annual. FIN-002 model assurance, FIN-003 tooling, FIN-004 training, FIN-005 audit and assurance. Variance column carries the in-year narrative.</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is Run vs Change justified externally, and what does the contingency line cover?</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34910" y="5171846"/>
            <a:ext cx="4791456"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External reviewers want stable Run and visible Change.</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Variance column tracks the in-year discipline - actual vs plan plus the owner narrative for the difference.</a:t>
            </a:r>
            <a:endParaRPr lang="en-US" sz="1050" dirty="0"/>
          </a:p>
        </p:txBody>
      </p:sp>
      <p:sp>
        <p:nvSpPr>
          <p:cNvPr id="31" name="Shape 25"/>
          <p:cNvSpPr/>
          <p:nvPr/>
        </p:nvSpPr>
        <p:spPr>
          <a:xfrm>
            <a:off x="6829654" y="5171846"/>
            <a:ext cx="819302"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8193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EXTERNAL</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Financial Analysis splits Run vs Change for external readers. Stable Run, visible Change - the investment-efficiency discipline.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GBP 145k on the AI Security Manager salary is the named anchor - everything else sits around it.</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Contingency covers incident surge, third-party deep dives and audit response. The form carries the contingency discipline across subsidiaries.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Financial Analysis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Financial Analysis splits Run vs Change for external readers. Stable Run, visible Change - the investment-efficiency discipline that survives Finance BP and Risk Committee challenge."</a:t>
            </a:r>
            <a:endParaRPr lang="en-US" sz="1013" dirty="0"/>
          </a:p>
        </p:txBody>
      </p:sp>
      <p:sp>
        <p:nvSpPr>
          <p:cNvPr id="42" name="Text 36"/>
          <p:cNvSpPr txBox="1"/>
          <p:nvPr/>
        </p:nvSpPr>
        <p:spPr>
          <a:xfrm>
            <a:off x="533095" y="171907"/>
            <a:ext cx="441015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49 / 57 - FORM - Financial Analysis</a:t>
            </a:r>
            <a:endParaRPr lang="en-US" sz="900" dirty="0"/>
          </a:p>
        </p:txBody>
      </p:sp>
      <p:sp>
        <p:nvSpPr>
          <p:cNvPr id="43" name="Text 37"/>
          <p:cNvSpPr txBox="1"/>
          <p:nvPr/>
        </p:nvSpPr>
        <p:spPr>
          <a:xfrm>
            <a:off x="533095" y="362102"/>
            <a:ext cx="6943954"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Financial Analysis - Reusable FY Budget Sheet</a:t>
            </a:r>
            <a:endParaRPr lang="en-US" sz="1950" dirty="0"/>
          </a:p>
        </p:txBody>
      </p:sp>
      <p:sp>
        <p:nvSpPr>
          <p:cNvPr id="44" name="Text 38"/>
          <p:cNvSpPr txBox="1"/>
          <p:nvPr/>
        </p:nvSpPr>
        <p:spPr>
          <a:xfrm>
            <a:off x="16273577" y="342900"/>
            <a:ext cx="14859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49 - Financial form</a:t>
            </a:r>
            <a:endParaRPr lang="en-US" sz="900" dirty="0"/>
          </a:p>
        </p:txBody>
      </p:sp>
      <p:sp>
        <p:nvSpPr>
          <p:cNvPr id="45" name="Text 39"/>
          <p:cNvSpPr txBox="1"/>
          <p:nvPr/>
        </p:nvSpPr>
        <p:spPr>
          <a:xfrm>
            <a:off x="533095" y="1047902"/>
            <a:ext cx="4058107"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 and Finance BP</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52 of 61 - Worksheet 49 / 57</a:t>
            </a:r>
            <a:endParaRPr lang="en-US" sz="825"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53</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50</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Cloud Security. Each control has coverage percentage and last test date.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Area, Control/Service Description, Linked Control ID, Linked Use Cases/Services, Implementation Status, Tooling, Owner, Coverage, Last Test, Evidence, Notes.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Architecture assurance, environment segregation, encryption in transit and at rest - the four pillars for AI workloads on Azure.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Cloud Security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Coverage column answers "what percentage of new AI workloads are covered" - 100% is the entry control. Karen Holloway owns four pillars quarterly.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What about a new AI workload introduced today and how do you evidence 100% coverage?</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8044891" y="5171846"/>
            <a:ext cx="483534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100% of new AI workloads get architecture assurance review.</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Encryption at rest uses customer-managed keys for AI training and feature stores - the regulator-grade data classification answer.</a:t>
            </a:r>
            <a:endParaRPr lang="en-US" sz="1050" dirty="0"/>
          </a:p>
        </p:txBody>
      </p:sp>
      <p:sp>
        <p:nvSpPr>
          <p:cNvPr id="31" name="Shape 25"/>
          <p:cNvSpPr/>
          <p:nvPr/>
        </p:nvSpPr>
        <p:spPr>
          <a:xfrm>
            <a:off x="6829654" y="5171846"/>
            <a:ext cx="1123798"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12471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THREAT MODEL</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Cloud Security tags coverage to scope - architecture assurance, environment segregation, encryption in transit, encryption at rest.</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Karen Holloway owns the cloud coverage span - panel can read quarterly review cadence in the Last Test Date column.</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CMK at rest is the answer to "how do you protect AI training data" - the panel probe the form is built to survive.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Cloud Security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Cloud Security tags coverage to scope. 100% of new AI workloads get architecture assurance review - that is the entry control the panel will probe under threat-modelling discipline."</a:t>
            </a:r>
            <a:endParaRPr lang="en-US" sz="1013" dirty="0"/>
          </a:p>
        </p:txBody>
      </p:sp>
      <p:sp>
        <p:nvSpPr>
          <p:cNvPr id="42" name="Text 36"/>
          <p:cNvSpPr txBox="1"/>
          <p:nvPr/>
        </p:nvSpPr>
        <p:spPr>
          <a:xfrm>
            <a:off x="533095" y="171907"/>
            <a:ext cx="402610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50 / 57 - FORM - Cloud Security</a:t>
            </a:r>
            <a:endParaRPr lang="en-US" sz="900" dirty="0"/>
          </a:p>
        </p:txBody>
      </p:sp>
      <p:sp>
        <p:nvSpPr>
          <p:cNvPr id="43" name="Text 37"/>
          <p:cNvSpPr txBox="1"/>
          <p:nvPr/>
        </p:nvSpPr>
        <p:spPr>
          <a:xfrm>
            <a:off x="533095" y="362102"/>
            <a:ext cx="74962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Cloud Security - Reusable Cloud Control Inventory</a:t>
            </a:r>
            <a:endParaRPr lang="en-US" sz="1950" dirty="0"/>
          </a:p>
        </p:txBody>
      </p:sp>
      <p:sp>
        <p:nvSpPr>
          <p:cNvPr id="44" name="Text 38"/>
          <p:cNvSpPr txBox="1"/>
          <p:nvPr/>
        </p:nvSpPr>
        <p:spPr>
          <a:xfrm>
            <a:off x="15995599" y="342900"/>
            <a:ext cx="17629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50 - Cloud security form</a:t>
            </a:r>
            <a:endParaRPr lang="en-US" sz="900" dirty="0"/>
          </a:p>
        </p:txBody>
      </p:sp>
      <p:sp>
        <p:nvSpPr>
          <p:cNvPr id="45" name="Text 39"/>
          <p:cNvSpPr txBox="1"/>
          <p:nvPr/>
        </p:nvSpPr>
        <p:spPr>
          <a:xfrm>
            <a:off x="533095" y="1047902"/>
            <a:ext cx="3389681"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CISO and Head of Cloud</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53 of 61 - Worksheet 50 / 57</a:t>
            </a:r>
            <a:endParaRPr lang="en-US" sz="825"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99180" y="1047902"/>
            <a:ext cx="1457554"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54</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51</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IAM Services. PAM, RBAC, workload identity, JML - four controls, quarterly cadence, named owner.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Control Area, Control/Service Description, Linked Control ID, Scope, Implementation Status, Tooling, Owner, Recertification Cadence, Last Recert, Evidence, Notes.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Each control carries recertification cadence and last recert date - the panel-defensible cadence.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IAM Services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Privileged Access CyberArk Karen Holloway Quarterly. RBAC Entra ID Databricks Unity Catalog Quarterly. Workload Identity Managed Identities Half-yearly. JML Entra ID plus ServiceNow HR feed Continuous plus quarterly.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What happens when a privileged user does not use PAM, and how do you evidence JIT and session recording?</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392010" y="5171846"/>
            <a:ext cx="5820156"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Privileged access enforced for all production AI - JIT and session recording Tier 1.</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Workload Identity row makes the managed-vs-secret distinction explicit - the panel can spot drift between identities.</a:t>
            </a:r>
            <a:endParaRPr lang="en-US" sz="1050" dirty="0"/>
          </a:p>
        </p:txBody>
      </p:sp>
      <p:sp>
        <p:nvSpPr>
          <p:cNvPr id="31" name="Shape 25"/>
          <p:cNvSpPr/>
          <p:nvPr/>
        </p:nvSpPr>
        <p:spPr>
          <a:xfrm>
            <a:off x="6829654" y="5171846"/>
            <a:ext cx="476402"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764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PAM</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IAM Services uses quarterly recertification plus continuous JML. Two cadences, one discipline - the answer survives FCA op-resilience challenge.</a:t>
            </a:r>
            <a:endParaRPr lang="en-US" sz="1088" dirty="0"/>
          </a:p>
        </p:txBody>
      </p:sp>
      <p:sp>
        <p:nvSpPr>
          <p:cNvPr id="36" name="Text 30"/>
          <p:cNvSpPr txBox="1"/>
          <p:nvPr/>
        </p:nvSpPr>
        <p:spPr>
          <a:xfrm>
            <a:off x="733349" y="7490765"/>
            <a:ext cx="12295937"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CyberArk PAM with JIT and Tier-1 session recording is the answer to "how do you prevent privileged abuse" - the panel will probe first on this row.</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Managed identities preferred over secrets - Workload Identity row makes that explicit.</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IAM Services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IAM Services uses quarterly recertification plus continuous JML. Two cadences, one discipline - that is the answer to 'how do you prevent privileged abuse' the panel will probe."</a:t>
            </a:r>
            <a:endParaRPr lang="en-US" sz="1013" dirty="0"/>
          </a:p>
        </p:txBody>
      </p:sp>
      <p:sp>
        <p:nvSpPr>
          <p:cNvPr id="42" name="Text 36"/>
          <p:cNvSpPr txBox="1"/>
          <p:nvPr/>
        </p:nvSpPr>
        <p:spPr>
          <a:xfrm>
            <a:off x="533095" y="171907"/>
            <a:ext cx="3834079"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51 / 57 - FORM - IAM Services</a:t>
            </a:r>
            <a:endParaRPr lang="en-US" sz="900" dirty="0"/>
          </a:p>
        </p:txBody>
      </p:sp>
      <p:sp>
        <p:nvSpPr>
          <p:cNvPr id="43" name="Text 37"/>
          <p:cNvSpPr txBox="1"/>
          <p:nvPr/>
        </p:nvSpPr>
        <p:spPr>
          <a:xfrm>
            <a:off x="533095" y="362102"/>
            <a:ext cx="7543800"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IAM Services - Reusable Identity Control Inventory</a:t>
            </a:r>
            <a:endParaRPr lang="en-US" sz="1950" dirty="0"/>
          </a:p>
        </p:txBody>
      </p:sp>
      <p:sp>
        <p:nvSpPr>
          <p:cNvPr id="44" name="Text 38"/>
          <p:cNvSpPr txBox="1"/>
          <p:nvPr/>
        </p:nvSpPr>
        <p:spPr>
          <a:xfrm>
            <a:off x="16504006" y="342900"/>
            <a:ext cx="125730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51 - IAM form</a:t>
            </a:r>
            <a:endParaRPr lang="en-US" sz="900" dirty="0"/>
          </a:p>
        </p:txBody>
      </p:sp>
      <p:sp>
        <p:nvSpPr>
          <p:cNvPr id="45" name="Text 39"/>
          <p:cNvSpPr txBox="1"/>
          <p:nvPr/>
        </p:nvSpPr>
        <p:spPr>
          <a:xfrm>
            <a:off x="533095" y="1047902"/>
            <a:ext cx="2132381"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CISO</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54 of 61 - Worksheet 51 / 57</a:t>
            </a:r>
            <a:endParaRPr lang="en-US" sz="825"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55</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52</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Technology Stack. Inventory of platforms, tools and integrations supporting the AI estate.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Technology/Tool, Category, Vendor, Purpose, Lifecycle State, Owner, Environment, Linked Services/Use Cases, Security Relevance, Hosting Model, Notes.</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Inventory layer - each tool linked to service and use case. Lifecycle State shows Strategic, Operational or Retiring.</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Technology Stack in the reduced template.</a:t>
            </a:r>
            <a:endParaRPr lang="en-US" sz="1050" dirty="0"/>
          </a:p>
        </p:txBody>
      </p:sp>
      <p:sp>
        <p:nvSpPr>
          <p:cNvPr id="19" name="Text 13"/>
          <p:cNvSpPr txBox="1"/>
          <p:nvPr/>
        </p:nvSpPr>
        <p:spPr>
          <a:xfrm>
            <a:off x="7666330" y="3674059"/>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Microsoft Azure UK South Cloud Platform Microsoft Production Strategic. Databricks MLOps. Snowflake data warehouse. Featurespace Fraud analytics SaaS.</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link tool to service and what does Lifecycle State tell the panel?</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09383" y="5171846"/>
            <a:ext cx="5116982"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Tool linked to service is the change-impact lens.</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Lifecycle State column - Strategic, Operational, Retiring - is the change-impact discipline a panel will probe.</a:t>
            </a:r>
            <a:endParaRPr lang="en-US" sz="1050" dirty="0"/>
          </a:p>
        </p:txBody>
      </p:sp>
      <p:sp>
        <p:nvSpPr>
          <p:cNvPr id="31" name="Shape 25"/>
          <p:cNvSpPr/>
          <p:nvPr/>
        </p:nvSpPr>
        <p:spPr>
          <a:xfrm>
            <a:off x="6829654" y="5171846"/>
            <a:ext cx="4956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956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LINK</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Technology Stack links each tool to service and use case. Change-impact lens - retiring Databricks touches many use cases and many services at once.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Lifecycle State column shows Strategic versus Operational versus Retiring - tells the panel what is moving in and what is moving out.</a:t>
            </a:r>
            <a:endParaRPr lang="en-US" sz="1088" dirty="0"/>
          </a:p>
        </p:txBody>
      </p:sp>
      <p:sp>
        <p:nvSpPr>
          <p:cNvPr id="37" name="Text 31"/>
          <p:cNvSpPr txBox="1"/>
          <p:nvPr/>
        </p:nvSpPr>
        <p:spPr>
          <a:xfrm>
            <a:off x="733349" y="7762342"/>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Linked Services and Use Cases columns give me the impact radius for every tooling change - the form carries the change-impact discipline across subsidiaries.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Technology Stack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Technology Stack links each tool to service and use case. Lifecycle State shows Strategic versus Operational versus Retiring - that's the change-impact discipline the panel will probe."</a:t>
            </a:r>
            <a:endParaRPr lang="en-US" sz="1013" dirty="0"/>
          </a:p>
        </p:txBody>
      </p:sp>
      <p:sp>
        <p:nvSpPr>
          <p:cNvPr id="42" name="Text 36"/>
          <p:cNvSpPr txBox="1"/>
          <p:nvPr/>
        </p:nvSpPr>
        <p:spPr>
          <a:xfrm>
            <a:off x="533095" y="171907"/>
            <a:ext cx="421812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52 / 57 - FORM - Technology Stack</a:t>
            </a:r>
            <a:endParaRPr lang="en-US" sz="900" dirty="0"/>
          </a:p>
        </p:txBody>
      </p:sp>
      <p:sp>
        <p:nvSpPr>
          <p:cNvPr id="43" name="Text 37"/>
          <p:cNvSpPr txBox="1"/>
          <p:nvPr/>
        </p:nvSpPr>
        <p:spPr>
          <a:xfrm>
            <a:off x="533095" y="362102"/>
            <a:ext cx="7077456"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Technology Stack - Reusable Tooling Inventory</a:t>
            </a:r>
            <a:endParaRPr lang="en-US" sz="1950" dirty="0"/>
          </a:p>
        </p:txBody>
      </p:sp>
      <p:sp>
        <p:nvSpPr>
          <p:cNvPr id="44" name="Text 38"/>
          <p:cNvSpPr txBox="1"/>
          <p:nvPr/>
        </p:nvSpPr>
        <p:spPr>
          <a:xfrm>
            <a:off x="15850210" y="342900"/>
            <a:ext cx="1905610"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52 - Technology stack form</a:t>
            </a:r>
            <a:endParaRPr lang="en-US" sz="900" dirty="0"/>
          </a:p>
        </p:txBody>
      </p:sp>
      <p:sp>
        <p:nvSpPr>
          <p:cNvPr id="45" name="Text 39"/>
          <p:cNvSpPr txBox="1"/>
          <p:nvPr/>
        </p:nvSpPr>
        <p:spPr>
          <a:xfrm>
            <a:off x="533095" y="1047902"/>
            <a:ext cx="4277563"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Head of Cloud and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55 of 61 - Worksheet 52 / 57</a:t>
            </a:r>
            <a:endParaRPr lang="en-US" sz="825"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56</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53</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Automation Hub. Catalogue of automations supporting controls, evidence and operational workflows.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Automation ID, Automation Name, Purpose, Trigger, Tool/Platform, Owner, Linked Control, Linked Service, Review Cadence, Failure Handling, Fallback Manual Control, Last Test Date.</a:t>
            </a:r>
            <a:endParaRPr lang="en-US" sz="1050" dirty="0"/>
          </a:p>
        </p:txBody>
      </p:sp>
      <p:sp>
        <p:nvSpPr>
          <p:cNvPr id="15" name="Text 9"/>
          <p:cNvSpPr txBox="1"/>
          <p:nvPr/>
        </p:nvSpPr>
        <p:spPr>
          <a:xfrm>
            <a:off x="733349" y="4087368"/>
            <a:ext cx="5955487"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Each automation carries a Fallback Manual Control - the resilience proof.</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Automation Hub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AUT-001 Drift alert to SIEM and ServiceNow Drift threshold breach Databricks plus Sentinel plus ServiceNow Mohammed Iqbal CTL-005 SVC-010 Monthly manual drift investigation.</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a Fallback Manual Control, and how do you evidence the failure path?</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713878" y="5171846"/>
            <a:ext cx="4812487"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Manual fallback is the resilience proof.</a:t>
            </a:r>
            <a:endParaRPr lang="en-US" sz="1050" dirty="0"/>
          </a:p>
        </p:txBody>
      </p:sp>
      <p:sp>
        <p:nvSpPr>
          <p:cNvPr id="30" name="Text 24"/>
          <p:cNvSpPr txBox="1"/>
          <p:nvPr/>
        </p:nvSpPr>
        <p:spPr>
          <a:xfrm>
            <a:off x="6829654" y="5486400"/>
            <a:ext cx="638251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Last Test Date column is the audit-grade evidence the automation still works on demand.</a:t>
            </a:r>
            <a:endParaRPr lang="en-US" sz="1050" dirty="0"/>
          </a:p>
        </p:txBody>
      </p:sp>
      <p:sp>
        <p:nvSpPr>
          <p:cNvPr id="31" name="Shape 25"/>
          <p:cNvSpPr/>
          <p:nvPr/>
        </p:nvSpPr>
        <p:spPr>
          <a:xfrm>
            <a:off x="6829654" y="5171846"/>
            <a:ext cx="790956"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90956"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FALLBACK</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Automation Hub requires a Fallback Manual Control column. The resilience proof - the form makes the failure path explicit.</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automation links to a Control and a Service - that is the join key to Compliance Mapping and Service Catalog.</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Failure Handling column tells the panel what happens when the trigger does not fire - manual rollback or ticket escalation, named explicitly.</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Automation Hub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Automation Hub requires a Fallback Manual Control. AUT-001 pairs drift alert automation with manual drift investigation - that's the resilience proof the panel will probe."</a:t>
            </a:r>
            <a:endParaRPr lang="en-US" sz="1013" dirty="0"/>
          </a:p>
        </p:txBody>
      </p:sp>
      <p:sp>
        <p:nvSpPr>
          <p:cNvPr id="42" name="Text 36"/>
          <p:cNvSpPr txBox="1"/>
          <p:nvPr/>
        </p:nvSpPr>
        <p:spPr>
          <a:xfrm>
            <a:off x="533095" y="171907"/>
            <a:ext cx="402610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53 / 57 - FORM - Automation Hub</a:t>
            </a:r>
            <a:endParaRPr lang="en-US" sz="900" dirty="0"/>
          </a:p>
        </p:txBody>
      </p:sp>
      <p:sp>
        <p:nvSpPr>
          <p:cNvPr id="43" name="Text 37"/>
          <p:cNvSpPr txBox="1"/>
          <p:nvPr/>
        </p:nvSpPr>
        <p:spPr>
          <a:xfrm>
            <a:off x="533095" y="362102"/>
            <a:ext cx="848746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Automation Hub - Reusable Control Automation Inventory</a:t>
            </a:r>
            <a:endParaRPr lang="en-US" sz="1950" dirty="0"/>
          </a:p>
        </p:txBody>
      </p:sp>
      <p:sp>
        <p:nvSpPr>
          <p:cNvPr id="44" name="Text 38"/>
          <p:cNvSpPr txBox="1"/>
          <p:nvPr/>
        </p:nvSpPr>
        <p:spPr>
          <a:xfrm>
            <a:off x="16112642" y="342900"/>
            <a:ext cx="16486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53 - Automation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56 of 61 - Worksheet 53 / 57</a:t>
            </a:r>
            <a:endParaRPr lang="en-US" sz="825"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57</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54</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Business Continuity. RTO and RPO per critical service, with Fallback Mode and Manual Workaround.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Critical Service/Use Case, Criticality, RTO, RPO, Fallback Mode, Manual Workaround, Dependency, Test Cadence, Last Test, Next Test, Owner.</a:t>
            </a:r>
            <a:endParaRPr lang="en-US" sz="1050" dirty="0"/>
          </a:p>
        </p:txBody>
      </p:sp>
      <p:sp>
        <p:nvSpPr>
          <p:cNvPr id="15" name="Text 9"/>
          <p:cNvSpPr txBox="1"/>
          <p:nvPr/>
        </p:nvSpPr>
        <p:spPr>
          <a:xfrm>
            <a:off x="733349" y="3880714"/>
            <a:ext cx="550560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RTO and RPO per critical service. Last Test and Next Test columns are the FCA op-resilience evidence.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Business Continuity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AUC-001 Mission Critical 4 hours RTO 15 minutes RPO Champion-challenger fallback Underwriter manual scoring Databricks Annual 18/03/2026 18/03/2027. AUC-002 Mission Critical 2 hours RTO 15 minutes RPO Rule-based triage half-yearly.</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evidence recovery, and what if Last Test is more than 6 months old?</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410298" y="5171846"/>
            <a:ext cx="5116068"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Half-yearly exercise plus quarterly attestation.</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Fallback Mode and Manual Workaround on the same row - the "what comes back" plus the "what humans do in the meantime" - both named.</a:t>
            </a:r>
            <a:endParaRPr lang="en-US" sz="1050" dirty="0"/>
          </a:p>
        </p:txBody>
      </p:sp>
      <p:sp>
        <p:nvSpPr>
          <p:cNvPr id="31" name="Shape 25"/>
          <p:cNvSpPr/>
          <p:nvPr/>
        </p:nvSpPr>
        <p:spPr>
          <a:xfrm>
            <a:off x="6829654" y="5171846"/>
            <a:ext cx="4956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4956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TEST</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Business Continuity sets RTO and RPO per critical service. Half-yearly exercises plus quarterly attestation are the evidence.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Fallback Mode and Manual Workaround on the same row - both named, not implied. The "what comes back" plus the "what humans do".</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AUC-001 last tested 18/03/2026 next test 18/03/2027 is the row that survives op-resilience sample.</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Business Continuity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Business Continuity carries Last Test and Next Test. Half-yearly exercises plus quarterly attestation - that is the row that survives FCA op-resilience sample."</a:t>
            </a:r>
            <a:endParaRPr lang="en-US" sz="1013" dirty="0"/>
          </a:p>
        </p:txBody>
      </p:sp>
      <p:sp>
        <p:nvSpPr>
          <p:cNvPr id="42" name="Text 36"/>
          <p:cNvSpPr txBox="1"/>
          <p:nvPr/>
        </p:nvSpPr>
        <p:spPr>
          <a:xfrm>
            <a:off x="533095" y="171907"/>
            <a:ext cx="450616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54 / 57 - FORM - Business Continuity</a:t>
            </a:r>
            <a:endParaRPr lang="en-US" sz="900" dirty="0"/>
          </a:p>
        </p:txBody>
      </p:sp>
      <p:sp>
        <p:nvSpPr>
          <p:cNvPr id="43" name="Text 37"/>
          <p:cNvSpPr txBox="1"/>
          <p:nvPr/>
        </p:nvSpPr>
        <p:spPr>
          <a:xfrm>
            <a:off x="533095" y="362102"/>
            <a:ext cx="7639812"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Business Continuity - Reusable AI Service Resilience</a:t>
            </a:r>
            <a:endParaRPr lang="en-US" sz="1950" dirty="0"/>
          </a:p>
        </p:txBody>
      </p:sp>
      <p:sp>
        <p:nvSpPr>
          <p:cNvPr id="44" name="Text 38"/>
          <p:cNvSpPr txBox="1"/>
          <p:nvPr/>
        </p:nvSpPr>
        <p:spPr>
          <a:xfrm>
            <a:off x="16510406" y="342900"/>
            <a:ext cx="1248156"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54 - BCP form</a:t>
            </a:r>
            <a:endParaRPr lang="en-US" sz="900" dirty="0"/>
          </a:p>
        </p:txBody>
      </p:sp>
      <p:sp>
        <p:nvSpPr>
          <p:cNvPr id="45" name="Text 39"/>
          <p:cNvSpPr txBox="1"/>
          <p:nvPr/>
        </p:nvSpPr>
        <p:spPr>
          <a:xfrm>
            <a:off x="533095" y="1047902"/>
            <a:ext cx="453451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Operational Resilience Committee COM-009</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57 of 61 - Worksheet 54 / 57</a:t>
            </a:r>
            <a:endParaRPr lang="en-US" sz="825" dirty="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58</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55</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Management Review and Audit. AIMS internal audits, management reviews, corrective actions and effectiveness reviews.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Audit ID, Audit Title, Clause, Lead Auditor, Status, Date, Findings, Major NCs, Minor NCs, Observations, Key Finding Summary, Linked CA.</a:t>
            </a:r>
            <a:endParaRPr lang="en-US" sz="1050" dirty="0"/>
          </a:p>
        </p:txBody>
      </p:sp>
      <p:sp>
        <p:nvSpPr>
          <p:cNvPr id="15" name="Text 9"/>
          <p:cNvSpPr txBox="1"/>
          <p:nvPr/>
        </p:nvSpPr>
        <p:spPr>
          <a:xfrm>
            <a:off x="733349" y="3880714"/>
            <a:ext cx="55056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Clauses 9.2, 9.3, 10.1, 10.2 - the AIMS effectiveness evidence base.</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569671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Template mapping:</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1:1 form pairing with FORM - Mgmt Review and Audit in the reduced template.</a:t>
            </a:r>
            <a:endParaRPr lang="en-US" sz="1050" dirty="0"/>
          </a:p>
        </p:txBody>
      </p:sp>
      <p:sp>
        <p:nvSpPr>
          <p:cNvPr id="19" name="Text 13"/>
          <p:cNvSpPr txBox="1"/>
          <p:nvPr/>
        </p:nvSpPr>
        <p:spPr>
          <a:xfrm>
            <a:off x="7666330" y="3880714"/>
            <a:ext cx="4860036" cy="467258"/>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AUDIT-001 AIMS Governance Clauses 4.1-5.3, 6.1 Liam Carmichael CAE Closed 15/01/2026 4 findings 1 major. AUDIT-004 Cloud and IAM by KPMG external.</a:t>
            </a:r>
            <a:endParaRPr lang="en-US" sz="1050" dirty="0"/>
          </a:p>
        </p:txBody>
      </p:sp>
      <p:sp>
        <p:nvSpPr>
          <p:cNvPr id="20" name="Shape 14"/>
          <p:cNvSpPr/>
          <p:nvPr/>
        </p:nvSpPr>
        <p:spPr>
          <a:xfrm>
            <a:off x="6829654" y="3880714"/>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880714"/>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790956"/>
          </a:xfrm>
          <a:prstGeom prst="rect">
            <a:avLst/>
          </a:prstGeom>
          <a:noFill/>
          <a:ln/>
        </p:spPr>
        <p:txBody>
          <a:bodyPr wrap="squar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How do you close a major NC on time and what evidence shows effectiveness?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40726" y="5171846"/>
            <a:ext cx="4885639"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4-week closure window for major NCs, monthly tracking.</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Clause column ensures Clause 9.2 + 9.3 + 10.1 + 10.2 coverage in the same register, no orphan standard.</a:t>
            </a:r>
            <a:endParaRPr lang="en-US" sz="1050" dirty="0"/>
          </a:p>
        </p:txBody>
      </p:sp>
      <p:sp>
        <p:nvSpPr>
          <p:cNvPr id="31" name="Shape 25"/>
          <p:cNvSpPr/>
          <p:nvPr/>
        </p:nvSpPr>
        <p:spPr>
          <a:xfrm>
            <a:off x="6829654" y="5171846"/>
            <a:ext cx="724205"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24205"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4 WEEKS</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Mgmt Review and Audit has Major NCs and Linked CA columns - the closure loop that the panel will probe.</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Major non-conformities close in 4 weeks. CAE function tracks and report back to Forum monthly - the discipline the panel expects.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External assurance like AUDIT-004 KPMG brings independent evidence that the AIMS reaches Clause 9.2 effectiveness.</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Mgmt Review and Audit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Mgmt Review and Audit has Major NCs and Linked CA columns. Major NCs close in 4 weeks - the discipline that survives Clause 10.1 review."</a:t>
            </a:r>
            <a:endParaRPr lang="en-US" sz="1013" dirty="0"/>
          </a:p>
        </p:txBody>
      </p:sp>
      <p:sp>
        <p:nvSpPr>
          <p:cNvPr id="42" name="Text 36"/>
          <p:cNvSpPr txBox="1"/>
          <p:nvPr/>
        </p:nvSpPr>
        <p:spPr>
          <a:xfrm>
            <a:off x="533095" y="171907"/>
            <a:ext cx="4698187"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55 / 57 - FORM - Mgmt Review and Audit</a:t>
            </a:r>
            <a:endParaRPr lang="en-US" sz="900" dirty="0"/>
          </a:p>
        </p:txBody>
      </p:sp>
      <p:sp>
        <p:nvSpPr>
          <p:cNvPr id="43" name="Text 37"/>
          <p:cNvSpPr txBox="1"/>
          <p:nvPr/>
        </p:nvSpPr>
        <p:spPr>
          <a:xfrm>
            <a:off x="533095" y="362102"/>
            <a:ext cx="8849563"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Management Review and Audit - Reusable AIMS Effectiveness</a:t>
            </a:r>
            <a:endParaRPr lang="en-US" sz="1950" dirty="0"/>
          </a:p>
        </p:txBody>
      </p:sp>
      <p:sp>
        <p:nvSpPr>
          <p:cNvPr id="44" name="Text 38"/>
          <p:cNvSpPr txBox="1"/>
          <p:nvPr/>
        </p:nvSpPr>
        <p:spPr>
          <a:xfrm>
            <a:off x="16023031" y="342900"/>
            <a:ext cx="1733702"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55 - Mgmt Review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58 of 61 - Worksheet 55 / 57</a:t>
            </a:r>
            <a:endParaRPr lang="en-US" sz="825"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4550"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59</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56</a:t>
            </a:r>
            <a:endParaRPr lang="en-US" sz="825" dirty="0"/>
          </a:p>
        </p:txBody>
      </p:sp>
      <p:sp>
        <p:nvSpPr>
          <p:cNvPr id="8" name="Shape 2"/>
          <p:cNvSpPr/>
          <p:nvPr/>
        </p:nvSpPr>
        <p:spPr>
          <a:xfrm>
            <a:off x="533095" y="1429207"/>
            <a:ext cx="12191695" cy="771754"/>
          </a:xfrm>
          <a:prstGeom prst="rect">
            <a:avLst/>
          </a:prstGeom>
          <a:solidFill>
            <a:srgbClr val="F4F6FA"/>
          </a:solidFill>
          <a:ln/>
        </p:spPr>
      </p:sp>
      <p:sp>
        <p:nvSpPr>
          <p:cNvPr id="9" name="Shape 3"/>
          <p:cNvSpPr/>
          <p:nvPr/>
        </p:nvSpPr>
        <p:spPr>
          <a:xfrm>
            <a:off x="533095" y="1429207"/>
            <a:ext cx="38405" cy="7717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2421210" cy="228600"/>
          </a:xfrm>
          <a:prstGeom prst="rect">
            <a:avLst/>
          </a:prstGeom>
          <a:noFill/>
          <a:ln/>
        </p:spPr>
        <p:txBody>
          <a:bodyPr wrap="none" lIns="0" tIns="0" rIns="0" bIns="0" rtlCol="0" anchor="ctr"/>
          <a:lstStyle/>
          <a:p>
            <a:pPr algn="l" indent="0" marL="0">
              <a:buNone/>
            </a:pPr>
            <a:r>
              <a:rPr lang="en-US" sz="1200" dirty="0">
                <a:solidFill>
                  <a:srgbClr val="2A3A55"/>
                </a:solidFill>
                <a:latin typeface="Inter" pitchFamily="34" charset="0"/>
                <a:ea typeface="Inter" pitchFamily="34" charset="-122"/>
                <a:cs typeface="Inter" pitchFamily="34" charset="-120"/>
              </a:rPr>
              <a:t>Reusable form for Metrics Calculation Guide. Formula, source, threshold and caveat on one row. Same header schema and ID prefixes as the populated instance it pairs with.</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419710"/>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Metric ID, Metric Name, Formula Logic, Source Sheets, Threshold/RAG, Assumptions, Caveats, Interpretation.</a:t>
            </a:r>
            <a:endParaRPr lang="en-US" sz="1050" dirty="0"/>
          </a:p>
        </p:txBody>
      </p:sp>
      <p:sp>
        <p:nvSpPr>
          <p:cNvPr id="15" name="Text 9"/>
          <p:cNvSpPr txBox="1"/>
          <p:nvPr/>
        </p:nvSpPr>
        <p:spPr>
          <a:xfrm>
            <a:off x="733349" y="3880714"/>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Formula, source, threshold and caveat on one row - the panel-defensible metric contract.</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FORM - Metrics Calc Guide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KPI-001 formula COUNTIFS(target_met) divided by COUNTA(intakes) source Service Request Log Threshold 95% Green 90-95% Amber &lt;90% Red. Caveat trend over 3 months more meaningful than monthly point estimate.</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Why document caveats explicitly and what changes if you ignored them?</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650785" y="5171846"/>
            <a:ext cx="4875581"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A trend caveat is the difference between noise and signal.</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Source Sheet column is the audit-grade answer for "where does the data come from" - ServiceNow for service, Databricks or Sentinel for technical.</a:t>
            </a:r>
            <a:endParaRPr lang="en-US" sz="1050" dirty="0"/>
          </a:p>
        </p:txBody>
      </p:sp>
      <p:sp>
        <p:nvSpPr>
          <p:cNvPr id="31" name="Shape 25"/>
          <p:cNvSpPr/>
          <p:nvPr/>
        </p:nvSpPr>
        <p:spPr>
          <a:xfrm>
            <a:off x="6829654" y="5171846"/>
            <a:ext cx="733349"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734263"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CAVEATS</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Metrics Calc Guide documents Formula, Source, Threshold and Caveats per metric - the discipline that prevents chasing monthly noise.</a:t>
            </a:r>
            <a:endParaRPr lang="en-US" sz="1088" dirty="0"/>
          </a:p>
        </p:txBody>
      </p:sp>
      <p:sp>
        <p:nvSpPr>
          <p:cNvPr id="36" name="Text 30"/>
          <p:cNvSpPr txBox="1"/>
          <p:nvPr/>
        </p:nvSpPr>
        <p:spPr>
          <a:xfrm>
            <a:off x="733349" y="7490765"/>
            <a:ext cx="124779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Each metric row pairs to a Source Sheet name. ServiceNow for volumes, ServiceNow report for service data, Databricks and Sentinel for technical metrics.</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Interpretation Notes is the panel handout - I quote it when asked to defend a metric cold, and the answer lands in one paragraph.</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FORM - Metrics Calc Guide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Metrics Calc Guide documents Formula, Source, Threshold and Caveats per metric. The trend caveat is what prevents chasing monthly noise - that is the discipline a panel will probe."</a:t>
            </a:r>
            <a:endParaRPr lang="en-US" sz="1013" dirty="0"/>
          </a:p>
        </p:txBody>
      </p:sp>
      <p:sp>
        <p:nvSpPr>
          <p:cNvPr id="42" name="Text 36"/>
          <p:cNvSpPr txBox="1"/>
          <p:nvPr/>
        </p:nvSpPr>
        <p:spPr>
          <a:xfrm>
            <a:off x="533095" y="171907"/>
            <a:ext cx="4410151"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56 / 57 - FORM - Metrics Calc Guide</a:t>
            </a:r>
            <a:endParaRPr lang="en-US" sz="900" dirty="0"/>
          </a:p>
        </p:txBody>
      </p:sp>
      <p:sp>
        <p:nvSpPr>
          <p:cNvPr id="43" name="Text 37"/>
          <p:cNvSpPr txBox="1"/>
          <p:nvPr/>
        </p:nvSpPr>
        <p:spPr>
          <a:xfrm>
            <a:off x="533095" y="362102"/>
            <a:ext cx="8067751"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Metrics Calc Guide - Reusable Formula and Source Map</a:t>
            </a:r>
            <a:endParaRPr lang="en-US" sz="1950" dirty="0"/>
          </a:p>
        </p:txBody>
      </p:sp>
      <p:sp>
        <p:nvSpPr>
          <p:cNvPr id="44" name="Text 38"/>
          <p:cNvSpPr txBox="1"/>
          <p:nvPr/>
        </p:nvSpPr>
        <p:spPr>
          <a:xfrm>
            <a:off x="16341242" y="342900"/>
            <a:ext cx="1420063"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56 - Metrics form</a:t>
            </a:r>
            <a:endParaRPr lang="en-US" sz="900" dirty="0"/>
          </a:p>
        </p:txBody>
      </p:sp>
      <p:sp>
        <p:nvSpPr>
          <p:cNvPr id="45" name="Text 39"/>
          <p:cNvSpPr txBox="1"/>
          <p:nvPr/>
        </p:nvSpPr>
        <p:spPr>
          <a:xfrm>
            <a:off x="533095" y="1047902"/>
            <a:ext cx="3140050"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Security Manager</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59 of 61 - Worksheet 56 / 57</a:t>
            </a:r>
            <a:endParaRPr lang="en-US" sz="825"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0"/>
          <p:cNvSpPr/>
          <p:nvPr/>
        </p:nvSpPr>
        <p:spPr>
          <a:xfrm>
            <a:off x="0" y="0"/>
            <a:ext cx="18288000" cy="875995"/>
          </a:xfrm>
          <a:prstGeom prst="rect">
            <a:avLst/>
          </a:prstGeom>
          <a:solidFill>
            <a:srgbClr val="0E1A2B"/>
          </a:solidFill>
          <a:ln w="12700">
            <a:solidFill>
              <a:srgbClr val="FFFFFF">
                <a:alpha val="0"/>
              </a:srgbClr>
            </a:solidFill>
            <a:prstDash val="solid"/>
          </a:ln>
        </p:spPr>
      </p:sp>
      <p:pic>
        <p:nvPicPr>
          <p:cNvPr id="3" name="Image 0" descr="gen-dedup-9d119e7dd72feb27e33215e403c0bb9c.png">    </p:cNvPr>
          <p:cNvPicPr>
            <a:picLocks noChangeAspect="1"/>
          </p:cNvPicPr>
          <p:nvPr/>
        </p:nvPicPr>
        <p:blipFill>
          <a:blip r:embed="rId2"/>
          <a:srcRect l="-404" r="-404" t="0" b="0"/>
          <a:stretch/>
        </p:blipFill>
        <p:spPr>
          <a:xfrm>
            <a:off x="533095" y="875995"/>
            <a:ext cx="685800" cy="28346"/>
          </a:xfrm>
          <a:prstGeom prst="rect">
            <a:avLst/>
          </a:prstGeom>
        </p:spPr>
      </p:pic>
      <p:pic>
        <p:nvPicPr>
          <p:cNvPr id="4" name="Image 1" descr="gen-dedup-f15a3a633ce43d17130263a908f3386d.png">    </p:cNvPr>
          <p:cNvPicPr>
            <a:picLocks noChangeAspect="1"/>
          </p:cNvPicPr>
          <p:nvPr/>
        </p:nvPicPr>
        <p:blipFill>
          <a:blip r:embed="rId3"/>
          <a:srcRect l="0" r="0" t="-199" b="-199"/>
          <a:stretch/>
        </p:blipFill>
        <p:spPr>
          <a:xfrm>
            <a:off x="0" y="905256"/>
            <a:ext cx="75895" cy="9381744"/>
          </a:xfrm>
          <a:prstGeom prst="rect">
            <a:avLst/>
          </a:prstGeom>
        </p:spPr>
      </p:pic>
      <p:pic>
        <p:nvPicPr>
          <p:cNvPr id="5" name="Image 2" descr="gen-dedup-77f05638e17e2382e0b71162195b41ff.png">    </p:cNvPr>
          <p:cNvPicPr>
            <a:picLocks noChangeAspect="1"/>
          </p:cNvPicPr>
          <p:nvPr/>
        </p:nvPicPr>
        <p:blipFill>
          <a:blip r:embed="rId4"/>
          <a:srcRect l="0" r="0" t="-400" b="-400"/>
          <a:stretch/>
        </p:blipFill>
        <p:spPr>
          <a:xfrm>
            <a:off x="0" y="10230307"/>
            <a:ext cx="18288000" cy="57607"/>
          </a:xfrm>
          <a:prstGeom prst="rect">
            <a:avLst/>
          </a:prstGeom>
        </p:spPr>
      </p:pic>
      <p:pic>
        <p:nvPicPr>
          <p:cNvPr id="6" name="Image 3" descr="gen-dedup-628a2c7aba8895c65d3ea1ef1d154a4f.png">    </p:cNvPr>
          <p:cNvPicPr>
            <a:picLocks noChangeAspect="1"/>
          </p:cNvPicPr>
          <p:nvPr/>
        </p:nvPicPr>
        <p:blipFill>
          <a:blip r:embed="rId5"/>
          <a:srcRect l="0" r="0" t="-393" b="-393"/>
          <a:stretch/>
        </p:blipFill>
        <p:spPr>
          <a:xfrm>
            <a:off x="0" y="10211105"/>
            <a:ext cx="2095805" cy="19202"/>
          </a:xfrm>
          <a:prstGeom prst="rect">
            <a:avLst/>
          </a:prstGeom>
        </p:spPr>
      </p:pic>
      <p:sp>
        <p:nvSpPr>
          <p:cNvPr id="7" name="Text 1"/>
          <p:cNvSpPr txBox="1"/>
          <p:nvPr/>
        </p:nvSpPr>
        <p:spPr>
          <a:xfrm>
            <a:off x="16286378" y="1047902"/>
            <a:ext cx="1476756" cy="314554"/>
          </a:xfrm>
          <a:prstGeom prst="rect">
            <a:avLst/>
          </a:prstGeom>
          <a:solidFill>
            <a:srgbClr val="F4F6FA"/>
          </a:solidFill>
          <a:ln w="12700">
            <a:solidFill>
              <a:srgbClr val="D5DDE6"/>
            </a:solidFill>
          </a:ln>
        </p:spPr>
        <p:txBody>
          <a:bodyPr wrap="none" lIns="139700" tIns="76200" rIns="139700" bIns="76200" rtlCol="0" anchor="ctr"/>
          <a:lstStyle/>
          <a:p>
            <a:pPr algn="l" indent="0" marL="0">
              <a:buNone/>
            </a:pPr>
            <a:r>
              <a:rPr lang="en-US" sz="825" b="1" spc="149" kern="0" dirty="0">
                <a:solidFill>
                  <a:srgbClr val="0E7C7B"/>
                </a:solidFill>
                <a:latin typeface="Inter" pitchFamily="34" charset="0"/>
                <a:ea typeface="Inter" pitchFamily="34" charset="-122"/>
                <a:cs typeface="Inter" pitchFamily="34" charset="-120"/>
              </a:rPr>
              <a:t>60</a:t>
            </a:r>
            <a:pPr algn="l" indent="0" marL="0">
              <a:buNone/>
            </a:pPr>
            <a:r>
              <a:rPr lang="en-US" sz="825" b="1" spc="149" kern="0" dirty="0">
                <a:solidFill>
                  <a:srgbClr val="5B6B82"/>
                </a:solidFill>
                <a:latin typeface="Inter" pitchFamily="34" charset="0"/>
                <a:ea typeface="Inter" pitchFamily="34" charset="-122"/>
                <a:cs typeface="Inter" pitchFamily="34" charset="-120"/>
              </a:rPr>
              <a:t> Worksheet 57</a:t>
            </a:r>
            <a:endParaRPr lang="en-US" sz="825" dirty="0"/>
          </a:p>
        </p:txBody>
      </p:sp>
      <p:sp>
        <p:nvSpPr>
          <p:cNvPr id="8" name="Shape 2"/>
          <p:cNvSpPr/>
          <p:nvPr/>
        </p:nvSpPr>
        <p:spPr>
          <a:xfrm>
            <a:off x="533095" y="1429207"/>
            <a:ext cx="12191695" cy="1000354"/>
          </a:xfrm>
          <a:prstGeom prst="rect">
            <a:avLst/>
          </a:prstGeom>
          <a:solidFill>
            <a:srgbClr val="F4F6FA"/>
          </a:solidFill>
          <a:ln/>
        </p:spPr>
      </p:sp>
      <p:sp>
        <p:nvSpPr>
          <p:cNvPr id="9" name="Shape 3"/>
          <p:cNvSpPr/>
          <p:nvPr/>
        </p:nvSpPr>
        <p:spPr>
          <a:xfrm>
            <a:off x="533095" y="1429207"/>
            <a:ext cx="38405" cy="1000354"/>
          </a:xfrm>
          <a:prstGeom prst="rect">
            <a:avLst/>
          </a:prstGeom>
          <a:solidFill>
            <a:srgbClr val="0E7C7B"/>
          </a:solidFill>
          <a:ln w="12700">
            <a:solidFill>
              <a:srgbClr val="0E7C7B">
                <a:alpha val="0"/>
              </a:srgbClr>
            </a:solidFill>
            <a:prstDash val="solid"/>
          </a:ln>
        </p:spPr>
      </p:sp>
      <p:sp>
        <p:nvSpPr>
          <p:cNvPr id="10" name="Text 4"/>
          <p:cNvSpPr txBox="1"/>
          <p:nvPr/>
        </p:nvSpPr>
        <p:spPr>
          <a:xfrm>
            <a:off x="780898" y="1600200"/>
            <a:ext cx="11735410" cy="143561"/>
          </a:xfrm>
          <a:prstGeom prst="rect">
            <a:avLst/>
          </a:prstGeom>
          <a:noFill/>
          <a:ln/>
        </p:spPr>
        <p:txBody>
          <a:bodyPr wrap="none" lIns="0" tIns="0" rIns="0" bIns="0" rtlCol="0" anchor="ctr"/>
          <a:lstStyle/>
          <a:p>
            <a:pPr algn="l" indent="0" marL="0">
              <a:buNone/>
            </a:pPr>
            <a:r>
              <a:rPr lang="en-US" sz="825" b="1" spc="165" kern="0" dirty="0">
                <a:solidFill>
                  <a:srgbClr val="0E7C7B"/>
                </a:solidFill>
                <a:latin typeface="Inter" pitchFamily="34" charset="0"/>
                <a:ea typeface="Inter" pitchFamily="34" charset="-122"/>
                <a:cs typeface="Inter" pitchFamily="34" charset="-120"/>
              </a:rPr>
              <a:t>Purpose</a:t>
            </a:r>
            <a:endParaRPr lang="en-US" sz="825" dirty="0"/>
          </a:p>
        </p:txBody>
      </p:sp>
      <p:sp>
        <p:nvSpPr>
          <p:cNvPr id="11" name="Text 5"/>
          <p:cNvSpPr txBox="1"/>
          <p:nvPr/>
        </p:nvSpPr>
        <p:spPr>
          <a:xfrm>
            <a:off x="780898" y="1800454"/>
            <a:ext cx="11735410" cy="457200"/>
          </a:xfrm>
          <a:prstGeom prst="rect">
            <a:avLst/>
          </a:prstGeom>
          <a:noFill/>
          <a:ln/>
        </p:spPr>
        <p:txBody>
          <a:bodyPr wrap="square" lIns="0" tIns="0" rIns="0" bIns="0" rtlCol="0" anchor="ctr"/>
          <a:lstStyle/>
          <a:p>
            <a:pPr algn="l" indent="0" marL="0">
              <a:lnSpc>
                <a:spcPts val="1800"/>
              </a:lnSpc>
              <a:buNone/>
            </a:pPr>
            <a:r>
              <a:rPr lang="en-US" sz="1200" dirty="0">
                <a:solidFill>
                  <a:srgbClr val="2A3A55"/>
                </a:solidFill>
                <a:latin typeface="Inter" pitchFamily="34" charset="0"/>
                <a:ea typeface="Inter" pitchFamily="34" charset="-122"/>
                <a:cs typeface="Inter" pitchFamily="34" charset="-120"/>
              </a:rPr>
              <a:t>Reusable form for Reference Data. Centralised controlled vocabulary referenced by data validation across the workbook. Owner AI Governance Office. Last reviewed 02/05/2026.</a:t>
            </a:r>
            <a:endParaRPr lang="en-US" sz="1200" dirty="0"/>
          </a:p>
        </p:txBody>
      </p:sp>
      <p:sp>
        <p:nvSpPr>
          <p:cNvPr id="12" name="Shape 6"/>
          <p:cNvSpPr/>
          <p:nvPr/>
        </p:nvSpPr>
        <p:spPr>
          <a:xfrm>
            <a:off x="533095" y="2857500"/>
            <a:ext cx="5905195" cy="1619402"/>
          </a:xfrm>
          <a:prstGeom prst="rect">
            <a:avLst/>
          </a:prstGeom>
          <a:solidFill>
            <a:srgbClr val="FFFFFF"/>
          </a:solidFill>
          <a:ln w="12700">
            <a:solidFill>
              <a:srgbClr val="D5DDE6"/>
            </a:solidFill>
            <a:prstDash val="solid"/>
          </a:ln>
        </p:spPr>
      </p:sp>
      <p:sp>
        <p:nvSpPr>
          <p:cNvPr id="13" name="Text 7"/>
          <p:cNvSpPr txBox="1"/>
          <p:nvPr/>
        </p:nvSpPr>
        <p:spPr>
          <a:xfrm>
            <a:off x="543154" y="2866644"/>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Security Relevance and Key Sections</a:t>
            </a:r>
            <a:endParaRPr lang="en-US" sz="975" dirty="0"/>
          </a:p>
        </p:txBody>
      </p:sp>
      <p:sp>
        <p:nvSpPr>
          <p:cNvPr id="14" name="Text 8"/>
          <p:cNvSpPr txBox="1"/>
          <p:nvPr/>
        </p:nvSpPr>
        <p:spPr>
          <a:xfrm>
            <a:off x="733349" y="3409798"/>
            <a:ext cx="5505602" cy="629107"/>
          </a:xfrm>
          <a:prstGeom prst="rect">
            <a:avLst/>
          </a:prstGeom>
          <a:noFill/>
          <a:ln/>
        </p:spPr>
        <p:txBody>
          <a:bodyPr wrap="square" lIns="0" tIns="0" rIns="0" bIns="0" rtlCol="0" anchor="ctr"/>
          <a:lstStyle/>
          <a:p>
            <a:pPr algn="l" indent="0" marL="0">
              <a:lnSpc>
                <a:spcPts val="1627"/>
              </a:lnSpc>
              <a:buNone/>
            </a:pPr>
            <a:r>
              <a:rPr lang="en-US" sz="1050" b="1" dirty="0">
                <a:solidFill>
                  <a:srgbClr val="0E1A2B"/>
                </a:solidFill>
                <a:latin typeface="Inter" pitchFamily="34" charset="0"/>
                <a:ea typeface="Inter" pitchFamily="34" charset="-122"/>
                <a:cs typeface="Inter" pitchFamily="34" charset="-120"/>
              </a:rPr>
              <a:t>Key columns:</a:t>
            </a:r>
            <a:pPr algn="l" indent="0" marL="0">
              <a:lnSpc>
                <a:spcPts val="1627"/>
              </a:lnSpc>
              <a:buNone/>
            </a:pPr>
            <a:r>
              <a:rPr lang="en-US" sz="1050" dirty="0">
                <a:solidFill>
                  <a:srgbClr val="2A3A55"/>
                </a:solidFill>
                <a:latin typeface="Inter" pitchFamily="34" charset="0"/>
                <a:ea typeface="Inter" pitchFamily="34" charset="-122"/>
                <a:cs typeface="Inter" pitchFamily="34" charset="-120"/>
              </a:rPr>
              <a:t> Status, RAG, Priority, Severity, Criticality Tier, Approval Status, Assurance Status, Hosting Model, Environment, Data Classification, Personal Data Flag, Risk Treatment, Maturity Level, Trend Direction.</a:t>
            </a:r>
            <a:endParaRPr lang="en-US" sz="1050" dirty="0"/>
          </a:p>
        </p:txBody>
      </p:sp>
      <p:sp>
        <p:nvSpPr>
          <p:cNvPr id="15" name="Text 9"/>
          <p:cNvSpPr txBox="1"/>
          <p:nvPr/>
        </p:nvSpPr>
        <p:spPr>
          <a:xfrm>
            <a:off x="733349" y="4087368"/>
            <a:ext cx="6191402" cy="210312"/>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Controlled vocabulary is the integrity layer. Without it the workbook drifts.</a:t>
            </a:r>
            <a:endParaRPr lang="en-US" sz="1050" dirty="0"/>
          </a:p>
        </p:txBody>
      </p:sp>
      <p:sp>
        <p:nvSpPr>
          <p:cNvPr id="16" name="Shape 10"/>
          <p:cNvSpPr/>
          <p:nvPr/>
        </p:nvSpPr>
        <p:spPr>
          <a:xfrm>
            <a:off x="6629400" y="2857500"/>
            <a:ext cx="6096305" cy="1619402"/>
          </a:xfrm>
          <a:prstGeom prst="rect">
            <a:avLst/>
          </a:prstGeom>
          <a:solidFill>
            <a:srgbClr val="FFFFFF"/>
          </a:solidFill>
          <a:ln w="12700">
            <a:solidFill>
              <a:srgbClr val="D5DDE6"/>
            </a:solidFill>
            <a:prstDash val="solid"/>
          </a:ln>
        </p:spPr>
      </p:sp>
      <p:sp>
        <p:nvSpPr>
          <p:cNvPr id="17" name="Text 11"/>
          <p:cNvSpPr txBox="1"/>
          <p:nvPr/>
        </p:nvSpPr>
        <p:spPr>
          <a:xfrm>
            <a:off x="6638544" y="2866644"/>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Template Mapping and Callouts</a:t>
            </a:r>
            <a:endParaRPr lang="en-US" sz="975" dirty="0"/>
          </a:p>
        </p:txBody>
      </p:sp>
      <p:sp>
        <p:nvSpPr>
          <p:cNvPr id="18" name="Text 12"/>
          <p:cNvSpPr txBox="1"/>
          <p:nvPr/>
        </p:nvSpPr>
        <p:spPr>
          <a:xfrm>
            <a:off x="6829654" y="3409798"/>
            <a:ext cx="6382512" cy="210312"/>
          </a:xfrm>
          <a:prstGeom prst="rect">
            <a:avLst/>
          </a:prstGeom>
          <a:noFill/>
          <a:ln/>
        </p:spPr>
        <p:txBody>
          <a:bodyPr wrap="none" lIns="0" tIns="0" rIns="0" bIns="0" rtlCol="0" anchor="ctr"/>
          <a:lstStyle/>
          <a:p>
            <a:pPr algn="l" indent="0" marL="0">
              <a:buNone/>
            </a:pPr>
            <a:r>
              <a:rPr lang="en-US" sz="1050" b="1" dirty="0">
                <a:solidFill>
                  <a:srgbClr val="0E1A2B"/>
                </a:solidFill>
                <a:latin typeface="Inter" pitchFamily="34" charset="0"/>
                <a:ea typeface="Inter" pitchFamily="34" charset="-122"/>
                <a:cs typeface="Inter" pitchFamily="34" charset="-120"/>
              </a:rPr>
              <a:t>Template mapping:</a:t>
            </a:r>
            <a:pPr algn="l" indent="0" marL="0">
              <a:buNone/>
            </a:pPr>
            <a:r>
              <a:rPr lang="en-US" sz="1050" dirty="0">
                <a:solidFill>
                  <a:srgbClr val="2A3A55"/>
                </a:solidFill>
                <a:latin typeface="Inter" pitchFamily="34" charset="0"/>
                <a:ea typeface="Inter" pitchFamily="34" charset="-122"/>
                <a:cs typeface="Inter" pitchFamily="34" charset="-120"/>
              </a:rPr>
              <a:t> 1:1 form pairing with Reference Data in the reduced template.</a:t>
            </a:r>
            <a:endParaRPr lang="en-US" sz="1050" dirty="0"/>
          </a:p>
        </p:txBody>
      </p:sp>
      <p:sp>
        <p:nvSpPr>
          <p:cNvPr id="19" name="Text 13"/>
          <p:cNvSpPr txBox="1"/>
          <p:nvPr/>
        </p:nvSpPr>
        <p:spPr>
          <a:xfrm>
            <a:off x="7666330" y="3674059"/>
            <a:ext cx="4860036" cy="676656"/>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28 columns of controlled vocabulary - Status, RAG, Priority, Severity, Criticality Tier, Approval Status, Assurance Status, Hosting Model, Environment, Data Classification, Personal Data Flag, Risk Treatment, Maturity Level, Trend Direction.</a:t>
            </a:r>
            <a:endParaRPr lang="en-US" sz="1050" dirty="0"/>
          </a:p>
        </p:txBody>
      </p:sp>
      <p:sp>
        <p:nvSpPr>
          <p:cNvPr id="20" name="Shape 14"/>
          <p:cNvSpPr/>
          <p:nvPr/>
        </p:nvSpPr>
        <p:spPr>
          <a:xfrm>
            <a:off x="6829654" y="3674059"/>
            <a:ext cx="752551" cy="267005"/>
          </a:xfrm>
          <a:prstGeom prst="roundRect">
            <a:avLst>
              <a:gd name="adj" fmla="val 7192"/>
            </a:avLst>
          </a:prstGeom>
          <a:solidFill>
            <a:srgbClr val="B8E0DE"/>
          </a:solidFill>
          <a:ln w="12700">
            <a:solidFill>
              <a:srgbClr val="14A098"/>
            </a:solidFill>
            <a:prstDash val="solid"/>
          </a:ln>
        </p:spPr>
      </p:sp>
      <p:sp>
        <p:nvSpPr>
          <p:cNvPr id="21" name="Text 15"/>
          <p:cNvSpPr txBox="1"/>
          <p:nvPr/>
        </p:nvSpPr>
        <p:spPr>
          <a:xfrm>
            <a:off x="6829654" y="3674059"/>
            <a:ext cx="752551"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0E1A2B"/>
                </a:solidFill>
                <a:latin typeface="Inter" pitchFamily="34" charset="0"/>
                <a:ea typeface="Inter" pitchFamily="34" charset="-122"/>
                <a:cs typeface="Inter" pitchFamily="34" charset="-120"/>
              </a:rPr>
              <a:t>Callout</a:t>
            </a:r>
            <a:endParaRPr lang="en-US" sz="825" dirty="0"/>
          </a:p>
        </p:txBody>
      </p:sp>
      <p:sp>
        <p:nvSpPr>
          <p:cNvPr id="22" name="Shape 16"/>
          <p:cNvSpPr/>
          <p:nvPr/>
        </p:nvSpPr>
        <p:spPr>
          <a:xfrm>
            <a:off x="533095" y="4619549"/>
            <a:ext cx="5905195" cy="1904695"/>
          </a:xfrm>
          <a:prstGeom prst="rect">
            <a:avLst/>
          </a:prstGeom>
          <a:solidFill>
            <a:srgbClr val="FFFFFF"/>
          </a:solidFill>
          <a:ln w="12700">
            <a:solidFill>
              <a:srgbClr val="D5DDE6"/>
            </a:solidFill>
            <a:prstDash val="solid"/>
          </a:ln>
        </p:spPr>
      </p:sp>
      <p:sp>
        <p:nvSpPr>
          <p:cNvPr id="23" name="Text 17"/>
          <p:cNvSpPr txBox="1"/>
          <p:nvPr/>
        </p:nvSpPr>
        <p:spPr>
          <a:xfrm>
            <a:off x="543154" y="4629607"/>
            <a:ext cx="58869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Interview Risk Question</a:t>
            </a:r>
            <a:endParaRPr lang="en-US" sz="975" dirty="0"/>
          </a:p>
        </p:txBody>
      </p:sp>
      <p:sp>
        <p:nvSpPr>
          <p:cNvPr id="24" name="Text 18"/>
          <p:cNvSpPr txBox="1"/>
          <p:nvPr/>
        </p:nvSpPr>
        <p:spPr>
          <a:xfrm>
            <a:off x="1380744" y="5020056"/>
            <a:ext cx="5049317" cy="571500"/>
          </a:xfrm>
          <a:prstGeom prst="rect">
            <a:avLst/>
          </a:prstGeom>
          <a:noFill/>
          <a:ln/>
        </p:spPr>
        <p:txBody>
          <a:bodyPr wrap="none" lIns="0" tIns="0" rIns="0" bIns="0" rtlCol="0" anchor="ctr"/>
          <a:lstStyle/>
          <a:p>
            <a:pPr algn="l" indent="0" marL="0">
              <a:lnSpc>
                <a:spcPts val="1744"/>
              </a:lnSpc>
              <a:buNone/>
            </a:pPr>
            <a:r>
              <a:rPr lang="en-US" sz="1125" dirty="0">
                <a:solidFill>
                  <a:srgbClr val="2A3A55"/>
                </a:solidFill>
                <a:latin typeface="Inter" pitchFamily="34" charset="0"/>
                <a:ea typeface="Inter" pitchFamily="34" charset="-122"/>
                <a:cs typeface="Inter" pitchFamily="34" charset="-120"/>
              </a:rPr>
              <a:t>Who owns the vocabulary and how do you approve new terms?</a:t>
            </a:r>
            <a:endParaRPr lang="en-US" sz="1125" dirty="0"/>
          </a:p>
        </p:txBody>
      </p:sp>
      <p:sp>
        <p:nvSpPr>
          <p:cNvPr id="25" name="Shape 19"/>
          <p:cNvSpPr/>
          <p:nvPr/>
        </p:nvSpPr>
        <p:spPr>
          <a:xfrm>
            <a:off x="733349" y="5171846"/>
            <a:ext cx="590702" cy="267005"/>
          </a:xfrm>
          <a:prstGeom prst="roundRect">
            <a:avLst>
              <a:gd name="adj" fmla="val 7192"/>
            </a:avLst>
          </a:prstGeom>
          <a:solidFill>
            <a:srgbClr val="FBE3E3"/>
          </a:solidFill>
          <a:ln w="12700">
            <a:solidFill>
              <a:srgbClr val="9B2C2C"/>
            </a:solidFill>
            <a:prstDash val="solid"/>
          </a:ln>
        </p:spPr>
      </p:sp>
      <p:sp>
        <p:nvSpPr>
          <p:cNvPr id="26" name="Text 20"/>
          <p:cNvSpPr txBox="1"/>
          <p:nvPr/>
        </p:nvSpPr>
        <p:spPr>
          <a:xfrm>
            <a:off x="733349" y="5171846"/>
            <a:ext cx="590702"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9B2C2C"/>
                </a:solidFill>
                <a:latin typeface="Inter" pitchFamily="34" charset="0"/>
                <a:ea typeface="Inter" pitchFamily="34" charset="-122"/>
                <a:cs typeface="Inter" pitchFamily="34" charset="-120"/>
              </a:rPr>
              <a:t>Likely</a:t>
            </a:r>
            <a:endParaRPr lang="en-US" sz="825" dirty="0"/>
          </a:p>
        </p:txBody>
      </p:sp>
      <p:sp>
        <p:nvSpPr>
          <p:cNvPr id="27" name="Shape 21"/>
          <p:cNvSpPr/>
          <p:nvPr/>
        </p:nvSpPr>
        <p:spPr>
          <a:xfrm>
            <a:off x="6629400" y="4619549"/>
            <a:ext cx="6096305" cy="1904695"/>
          </a:xfrm>
          <a:prstGeom prst="rect">
            <a:avLst/>
          </a:prstGeom>
          <a:solidFill>
            <a:srgbClr val="FFFFFF"/>
          </a:solidFill>
          <a:ln w="12700">
            <a:solidFill>
              <a:srgbClr val="D5DDE6"/>
            </a:solidFill>
            <a:prstDash val="solid"/>
          </a:ln>
        </p:spPr>
      </p:sp>
      <p:sp>
        <p:nvSpPr>
          <p:cNvPr id="28" name="Text 22"/>
          <p:cNvSpPr txBox="1"/>
          <p:nvPr/>
        </p:nvSpPr>
        <p:spPr>
          <a:xfrm>
            <a:off x="6638544" y="4629607"/>
            <a:ext cx="6077102"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Most Important Callouts</a:t>
            </a:r>
            <a:endParaRPr lang="en-US" sz="975" dirty="0"/>
          </a:p>
        </p:txBody>
      </p:sp>
      <p:sp>
        <p:nvSpPr>
          <p:cNvPr id="29" name="Text 23"/>
          <p:cNvSpPr txBox="1"/>
          <p:nvPr/>
        </p:nvSpPr>
        <p:spPr>
          <a:xfrm>
            <a:off x="7947965" y="5171846"/>
            <a:ext cx="4578401" cy="267005"/>
          </a:xfrm>
          <a:prstGeom prst="rect">
            <a:avLst/>
          </a:prstGeom>
          <a:noFill/>
          <a:ln/>
        </p:spPr>
        <p:txBody>
          <a:bodyPr wrap="none" lIns="0" tIns="0" rIns="0" bIns="0" rtlCol="0" anchor="ctr"/>
          <a:lstStyle/>
          <a:p>
            <a:pPr algn="l" indent="0" marL="0">
              <a:buNone/>
            </a:pPr>
            <a:r>
              <a:rPr lang="en-US" sz="1050" dirty="0">
                <a:solidFill>
                  <a:srgbClr val="2A3A55"/>
                </a:solidFill>
                <a:latin typeface="Inter" pitchFamily="34" charset="0"/>
                <a:ea typeface="Inter" pitchFamily="34" charset="-122"/>
                <a:cs typeface="Inter" pitchFamily="34" charset="-120"/>
              </a:rPr>
              <a:t>AI Governance Office owns and last reviewed 02/05/2026.</a:t>
            </a:r>
            <a:endParaRPr lang="en-US" sz="1050" dirty="0"/>
          </a:p>
        </p:txBody>
      </p:sp>
      <p:sp>
        <p:nvSpPr>
          <p:cNvPr id="30" name="Text 24"/>
          <p:cNvSpPr txBox="1"/>
          <p:nvPr/>
        </p:nvSpPr>
        <p:spPr>
          <a:xfrm>
            <a:off x="6829654" y="5486400"/>
            <a:ext cx="5696712" cy="419710"/>
          </a:xfrm>
          <a:prstGeom prst="rect">
            <a:avLst/>
          </a:prstGeom>
          <a:noFill/>
          <a:ln/>
        </p:spPr>
        <p:txBody>
          <a:bodyPr wrap="square" lIns="0" tIns="0" rIns="0" bIns="0" rtlCol="0" anchor="ctr"/>
          <a:lstStyle/>
          <a:p>
            <a:pPr algn="l" indent="0" marL="0">
              <a:lnSpc>
                <a:spcPts val="1627"/>
              </a:lnSpc>
              <a:buNone/>
            </a:pPr>
            <a:r>
              <a:rPr lang="en-US" sz="1050" dirty="0">
                <a:solidFill>
                  <a:srgbClr val="2A3A55"/>
                </a:solidFill>
                <a:latin typeface="Inter" pitchFamily="34" charset="0"/>
                <a:ea typeface="Inter" pitchFamily="34" charset="-122"/>
                <a:cs typeface="Inter" pitchFamily="34" charset="-120"/>
              </a:rPr>
              <a:t>Data Validation tab-by-tab keys the join keys through one vocabulary - AUC, RSK, CTL all speak the same Severity.</a:t>
            </a:r>
            <a:endParaRPr lang="en-US" sz="1050" dirty="0"/>
          </a:p>
        </p:txBody>
      </p:sp>
      <p:sp>
        <p:nvSpPr>
          <p:cNvPr id="31" name="Shape 25"/>
          <p:cNvSpPr/>
          <p:nvPr/>
        </p:nvSpPr>
        <p:spPr>
          <a:xfrm>
            <a:off x="6829654" y="5171846"/>
            <a:ext cx="1028700" cy="267005"/>
          </a:xfrm>
          <a:prstGeom prst="roundRect">
            <a:avLst>
              <a:gd name="adj" fmla="val 7192"/>
            </a:avLst>
          </a:prstGeom>
          <a:solidFill>
            <a:srgbClr val="FCF1DF"/>
          </a:solidFill>
          <a:ln w="12700">
            <a:solidFill>
              <a:srgbClr val="B8711E"/>
            </a:solidFill>
            <a:prstDash val="solid"/>
          </a:ln>
        </p:spPr>
      </p:sp>
      <p:sp>
        <p:nvSpPr>
          <p:cNvPr id="32" name="Text 26"/>
          <p:cNvSpPr txBox="1"/>
          <p:nvPr/>
        </p:nvSpPr>
        <p:spPr>
          <a:xfrm>
            <a:off x="6829654" y="5171846"/>
            <a:ext cx="1028700" cy="267005"/>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lnSpc>
                <a:spcPts val="1279"/>
              </a:lnSpc>
              <a:buNone/>
            </a:pPr>
            <a:r>
              <a:rPr lang="en-US" sz="825" b="1" spc="99" kern="0" dirty="0">
                <a:solidFill>
                  <a:srgbClr val="B8711E"/>
                </a:solidFill>
                <a:latin typeface="Inter" pitchFamily="34" charset="0"/>
                <a:ea typeface="Inter" pitchFamily="34" charset="-122"/>
                <a:cs typeface="Inter" pitchFamily="34" charset="-120"/>
              </a:rPr>
              <a:t>GOVERNANCE</a:t>
            </a:r>
            <a:endParaRPr lang="en-US" sz="825" dirty="0"/>
          </a:p>
        </p:txBody>
      </p:sp>
      <p:sp>
        <p:nvSpPr>
          <p:cNvPr id="33" name="Shape 27"/>
          <p:cNvSpPr/>
          <p:nvPr/>
        </p:nvSpPr>
        <p:spPr>
          <a:xfrm>
            <a:off x="533095" y="6667805"/>
            <a:ext cx="12191695" cy="1904695"/>
          </a:xfrm>
          <a:prstGeom prst="rect">
            <a:avLst/>
          </a:prstGeom>
          <a:solidFill>
            <a:srgbClr val="FFFFFF"/>
          </a:solidFill>
          <a:ln w="12700">
            <a:solidFill>
              <a:srgbClr val="D5DDE6"/>
            </a:solidFill>
            <a:prstDash val="solid"/>
          </a:ln>
        </p:spPr>
      </p:sp>
      <p:sp>
        <p:nvSpPr>
          <p:cNvPr id="34" name="Text 28"/>
          <p:cNvSpPr txBox="1"/>
          <p:nvPr/>
        </p:nvSpPr>
        <p:spPr>
          <a:xfrm>
            <a:off x="543154" y="6676949"/>
            <a:ext cx="12173407" cy="391363"/>
          </a:xfrm>
          <a:prstGeom prst="rect">
            <a:avLst/>
          </a:prstGeom>
          <a:solidFill>
            <a:srgbClr val="0E1A2B"/>
          </a:solidFill>
          <a:ln>
            <a:solidFill>
              <a:srgbClr val="FFFFFF">
                <a:alpha val="0"/>
              </a:srgbClr>
            </a:solidFill>
          </a:ln>
        </p:spPr>
        <p:txBody>
          <a:bodyPr wrap="none" lIns="177800" tIns="114300" rIns="177800" bIns="114300" rtlCol="0" anchor="ctr"/>
          <a:lstStyle/>
          <a:p>
            <a:pPr algn="l" indent="0" marL="0">
              <a:buNone/>
            </a:pPr>
            <a:r>
              <a:rPr lang="en-US" sz="975" b="1" spc="156" kern="0" dirty="0">
                <a:solidFill>
                  <a:srgbClr val="FFFFFF"/>
                </a:solidFill>
                <a:latin typeface="Inter" pitchFamily="34" charset="0"/>
                <a:ea typeface="Inter" pitchFamily="34" charset="-122"/>
                <a:cs typeface="Inter" pitchFamily="34" charset="-120"/>
              </a:rPr>
              <a:t>Talking Points (3 strong sentences)</a:t>
            </a:r>
            <a:endParaRPr lang="en-US" sz="975" dirty="0"/>
          </a:p>
        </p:txBody>
      </p:sp>
      <p:sp>
        <p:nvSpPr>
          <p:cNvPr id="35" name="Text 29"/>
          <p:cNvSpPr txBox="1"/>
          <p:nvPr/>
        </p:nvSpPr>
        <p:spPr>
          <a:xfrm>
            <a:off x="733349" y="722010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FORM - Reference Data is owned by the AI Governance Office with a half-yearly review. The discipline that keeps join keys honest.</a:t>
            </a:r>
            <a:endParaRPr lang="en-US" sz="1088" dirty="0"/>
          </a:p>
        </p:txBody>
      </p:sp>
      <p:sp>
        <p:nvSpPr>
          <p:cNvPr id="36" name="Text 30"/>
          <p:cNvSpPr txBox="1"/>
          <p:nvPr/>
        </p:nvSpPr>
        <p:spPr>
          <a:xfrm>
            <a:off x="733349" y="7490765"/>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Without the form, Sev 1 means different things in different tabs. With it, validation enforces one vocabulary across the workbook.</a:t>
            </a:r>
            <a:endParaRPr lang="en-US" sz="1088" dirty="0"/>
          </a:p>
        </p:txBody>
      </p:sp>
      <p:sp>
        <p:nvSpPr>
          <p:cNvPr id="37" name="Text 31"/>
          <p:cNvSpPr txBox="1"/>
          <p:nvPr/>
        </p:nvSpPr>
        <p:spPr>
          <a:xfrm>
            <a:off x="733349" y="7762342"/>
            <a:ext cx="11792102" cy="219456"/>
          </a:xfrm>
          <a:prstGeom prst="rect">
            <a:avLst/>
          </a:prstGeom>
          <a:noFill/>
          <a:ln/>
        </p:spPr>
        <p:txBody>
          <a:bodyPr wrap="none" lIns="0" tIns="0" rIns="0" bIns="0" rtlCol="0" anchor="ctr"/>
          <a:lstStyle/>
          <a:p>
            <a:pPr algn="l" indent="0" marL="0">
              <a:buNone/>
            </a:pPr>
            <a:r>
              <a:rPr lang="en-US" sz="1088" dirty="0">
                <a:solidFill>
                  <a:srgbClr val="2A3A55"/>
                </a:solidFill>
                <a:latin typeface="Inter" pitchFamily="34" charset="0"/>
                <a:ea typeface="Inter" pitchFamily="34" charset="-122"/>
                <a:cs typeface="Inter" pitchFamily="34" charset="-120"/>
              </a:rPr>
              <a:t>New terms land here first, then into the form tabs - that pre-empts vocabulary drift before it reaches the regulator.</a:t>
            </a:r>
            <a:endParaRPr lang="en-US" sz="1088" dirty="0"/>
          </a:p>
        </p:txBody>
      </p:sp>
      <p:sp>
        <p:nvSpPr>
          <p:cNvPr id="38" name="Text 32"/>
          <p:cNvSpPr txBox="1"/>
          <p:nvPr/>
        </p:nvSpPr>
        <p:spPr>
          <a:xfrm>
            <a:off x="533095" y="8762695"/>
            <a:ext cx="12192610" cy="342900"/>
          </a:xfrm>
          <a:prstGeom prst="rect">
            <a:avLst/>
          </a:prstGeom>
          <a:solidFill>
            <a:srgbClr val="0E1A2B"/>
          </a:solidFill>
          <a:ln>
            <a:solidFill>
              <a:srgbClr val="FFFFFF">
                <a:alpha val="0"/>
              </a:srgbClr>
            </a:solidFill>
          </a:ln>
        </p:spPr>
        <p:txBody>
          <a:bodyPr wrap="none" lIns="152400" tIns="101600" rIns="152400" bIns="101600" rtlCol="0" anchor="ctr"/>
          <a:lstStyle/>
          <a:p>
            <a:pPr algn="l" indent="0" marL="0">
              <a:buNone/>
            </a:pPr>
            <a:r>
              <a:rPr lang="en-US" sz="900" b="1" spc="36" kern="0" dirty="0">
                <a:solidFill>
                  <a:srgbClr val="B8E0DE"/>
                </a:solidFill>
                <a:latin typeface="Inter" pitchFamily="34" charset="0"/>
                <a:ea typeface="Inter" pitchFamily="34" charset="-122"/>
                <a:cs typeface="Inter" pitchFamily="34" charset="-120"/>
              </a:rPr>
              <a:t>Template pairing:</a:t>
            </a:r>
            <a:pPr algn="l" indent="0" marL="0">
              <a:buNone/>
            </a:pPr>
            <a:r>
              <a:rPr lang="en-US" sz="900" spc="36" kern="0" dirty="0">
                <a:solidFill>
                  <a:srgbClr val="FFFFFF"/>
                </a:solidFill>
                <a:latin typeface="Inter" pitchFamily="34" charset="0"/>
                <a:ea typeface="Inter" pitchFamily="34" charset="-122"/>
                <a:cs typeface="Inter" pitchFamily="34" charset="-120"/>
              </a:rPr>
              <a:t> 1:1 form pairing with Reference Data in the reduced template.</a:t>
            </a:r>
            <a:endParaRPr lang="en-US" sz="900" dirty="0"/>
          </a:p>
        </p:txBody>
      </p:sp>
      <p:sp>
        <p:nvSpPr>
          <p:cNvPr id="39" name="Shape 33"/>
          <p:cNvSpPr/>
          <p:nvPr/>
        </p:nvSpPr>
        <p:spPr>
          <a:xfrm>
            <a:off x="533095" y="9334195"/>
            <a:ext cx="12191695" cy="657454"/>
          </a:xfrm>
          <a:prstGeom prst="rect">
            <a:avLst/>
          </a:prstGeom>
          <a:solidFill>
            <a:srgbClr val="F4F6FA"/>
          </a:solidFill>
          <a:ln/>
        </p:spPr>
      </p:sp>
      <p:sp>
        <p:nvSpPr>
          <p:cNvPr id="40" name="Shape 34"/>
          <p:cNvSpPr/>
          <p:nvPr/>
        </p:nvSpPr>
        <p:spPr>
          <a:xfrm>
            <a:off x="533095" y="9334195"/>
            <a:ext cx="38405" cy="657454"/>
          </a:xfrm>
          <a:prstGeom prst="rect">
            <a:avLst/>
          </a:prstGeom>
          <a:solidFill>
            <a:srgbClr val="C8A14A"/>
          </a:solidFill>
          <a:ln w="12700">
            <a:solidFill>
              <a:srgbClr val="C8A14A">
                <a:alpha val="0"/>
              </a:srgbClr>
            </a:solidFill>
            <a:prstDash val="solid"/>
          </a:ln>
        </p:spPr>
      </p:sp>
      <p:sp>
        <p:nvSpPr>
          <p:cNvPr id="41" name="Text 35"/>
          <p:cNvSpPr txBox="1"/>
          <p:nvPr/>
        </p:nvSpPr>
        <p:spPr>
          <a:xfrm>
            <a:off x="743407" y="9334195"/>
            <a:ext cx="11982298" cy="657454"/>
          </a:xfrm>
          <a:prstGeom prst="rect">
            <a:avLst/>
          </a:prstGeom>
          <a:solidFill>
            <a:srgbClr val="FFFFFF">
              <a:alpha val="0"/>
            </a:srgbClr>
          </a:solidFill>
          <a:ln>
            <a:solidFill>
              <a:srgbClr val="FFFFFF">
                <a:alpha val="0"/>
              </a:srgbClr>
            </a:solidFill>
          </a:ln>
        </p:spPr>
        <p:txBody>
          <a:bodyPr wrap="square" lIns="0" tIns="139700" rIns="177800" bIns="139700" rtlCol="0" anchor="ctr"/>
          <a:lstStyle/>
          <a:p>
            <a:pPr algn="l" indent="0" marL="0">
              <a:lnSpc>
                <a:spcPts val="1519"/>
              </a:lnSpc>
              <a:buNone/>
            </a:pPr>
            <a:r>
              <a:rPr lang="en-US" sz="800" b="1" dirty="0">
                <a:solidFill>
                  <a:srgbClr val="B8711E"/>
                </a:solidFill>
                <a:latin typeface="Inter" pitchFamily="34" charset="0"/>
                <a:ea typeface="Inter" pitchFamily="34" charset="-122"/>
                <a:cs typeface="Inter" pitchFamily="34" charset="-120"/>
              </a:rPr>
              <a:t>Speaker aid</a:t>
            </a:r>
            <a:pPr algn="l" indent="0" marL="0">
              <a:lnSpc>
                <a:spcPts val="1519"/>
              </a:lnSpc>
              <a:buNone/>
            </a:pPr>
            <a:r>
              <a:rPr lang="en-US" sz="1013" dirty="0">
                <a:solidFill>
                  <a:srgbClr val="2A3A55"/>
                </a:solidFill>
                <a:latin typeface="Inter" pitchFamily="34" charset="0"/>
                <a:ea typeface="Inter" pitchFamily="34" charset="-122"/>
                <a:cs typeface="Inter" pitchFamily="34" charset="-120"/>
              </a:rPr>
              <a:t>"FORM - Reference Data is owned by the AI Governance Office with a half-yearly review. New terms land here first - the discipline that keeps join keys honest across the workbook."</a:t>
            </a:r>
            <a:endParaRPr lang="en-US" sz="1013" dirty="0"/>
          </a:p>
        </p:txBody>
      </p:sp>
      <p:sp>
        <p:nvSpPr>
          <p:cNvPr id="42" name="Text 36"/>
          <p:cNvSpPr txBox="1"/>
          <p:nvPr/>
        </p:nvSpPr>
        <p:spPr>
          <a:xfrm>
            <a:off x="533095" y="171907"/>
            <a:ext cx="4026103" cy="152705"/>
          </a:xfrm>
          <a:prstGeom prst="rect">
            <a:avLst/>
          </a:prstGeom>
          <a:noFill/>
          <a:ln/>
        </p:spPr>
        <p:txBody>
          <a:bodyPr wrap="none" lIns="0" tIns="0" rIns="0" bIns="0" rtlCol="0" anchor="ctr"/>
          <a:lstStyle/>
          <a:p>
            <a:pPr algn="l" indent="0" marL="0">
              <a:buNone/>
            </a:pPr>
            <a:r>
              <a:rPr lang="en-US" sz="900" b="1" spc="198" kern="0" dirty="0">
                <a:solidFill>
                  <a:srgbClr val="B8E0DE"/>
                </a:solidFill>
                <a:latin typeface="Inter" pitchFamily="34" charset="0"/>
                <a:ea typeface="Inter" pitchFamily="34" charset="-122"/>
                <a:cs typeface="Inter" pitchFamily="34" charset="-120"/>
              </a:rPr>
              <a:t>Worksheet 57 / 57 - FORM - Reference Data</a:t>
            </a:r>
            <a:endParaRPr lang="en-US" sz="900" dirty="0"/>
          </a:p>
        </p:txBody>
      </p:sp>
      <p:sp>
        <p:nvSpPr>
          <p:cNvPr id="43" name="Text 37"/>
          <p:cNvSpPr txBox="1"/>
          <p:nvPr/>
        </p:nvSpPr>
        <p:spPr>
          <a:xfrm>
            <a:off x="533095" y="362102"/>
            <a:ext cx="7353605" cy="333756"/>
          </a:xfrm>
          <a:prstGeom prst="rect">
            <a:avLst/>
          </a:prstGeom>
          <a:noFill/>
          <a:ln/>
        </p:spPr>
        <p:txBody>
          <a:bodyPr wrap="none" lIns="0" tIns="0" rIns="0" bIns="0" rtlCol="0" anchor="ctr"/>
          <a:lstStyle/>
          <a:p>
            <a:pPr algn="l" indent="0" marL="0">
              <a:buNone/>
            </a:pPr>
            <a:r>
              <a:rPr lang="en-US" sz="1950" b="1" dirty="0">
                <a:solidFill>
                  <a:srgbClr val="FFFFFF"/>
                </a:solidFill>
                <a:latin typeface="Inter" pitchFamily="34" charset="0"/>
                <a:ea typeface="Inter" pitchFamily="34" charset="-122"/>
                <a:cs typeface="Inter" pitchFamily="34" charset="-120"/>
              </a:rPr>
              <a:t>FORM - Reference Data - Reusable Controlled Vocabulary</a:t>
            </a:r>
            <a:endParaRPr lang="en-US" sz="1950" dirty="0"/>
          </a:p>
        </p:txBody>
      </p:sp>
      <p:sp>
        <p:nvSpPr>
          <p:cNvPr id="44" name="Text 38"/>
          <p:cNvSpPr txBox="1"/>
          <p:nvPr/>
        </p:nvSpPr>
        <p:spPr>
          <a:xfrm>
            <a:off x="15959938" y="342900"/>
            <a:ext cx="1800454" cy="305410"/>
          </a:xfrm>
          <a:prstGeom prst="rect">
            <a:avLst/>
          </a:prstGeom>
          <a:noFill/>
          <a:ln/>
        </p:spPr>
        <p:txBody>
          <a:bodyPr wrap="square" lIns="0" tIns="0" rIns="0" bIns="0" rtlCol="0" anchor="t"/>
          <a:lstStyle/>
          <a:p>
            <a:pPr algn="r" indent="0" marL="0">
              <a:buNone/>
            </a:pPr>
            <a:r>
              <a:rPr lang="en-US" sz="900" b="1" dirty="0">
                <a:solidFill>
                  <a:srgbClr val="FFFFFF"/>
                </a:solidFill>
                <a:latin typeface="Inter" pitchFamily="34" charset="0"/>
                <a:ea typeface="Inter" pitchFamily="34" charset="-122"/>
                <a:cs typeface="Inter" pitchFamily="34" charset="-120"/>
              </a:rPr>
              <a:t>Workbook anchor</a:t>
            </a:r>
            <a:pPr algn="r" indent="0" marL="0">
              <a:buNone/>
            </a:pPr>
            <a:endParaRPr lang="en-US" sz="900" dirty="0"/>
          </a:p>
          <a:p>
            <a:pPr algn="r" indent="0" marL="0">
              <a:buNone/>
            </a:pPr>
            <a:r>
              <a:rPr lang="en-US" sz="900" dirty="0">
                <a:solidFill>
                  <a:srgbClr val="B8E0DE"/>
                </a:solidFill>
                <a:latin typeface="Inter" pitchFamily="34" charset="0"/>
                <a:ea typeface="Inter" pitchFamily="34" charset="-122"/>
                <a:cs typeface="Inter" pitchFamily="34" charset="-120"/>
              </a:rPr>
              <a:t>FORM tab 57 - Reference data form</a:t>
            </a:r>
            <a:endParaRPr lang="en-US" sz="900" dirty="0"/>
          </a:p>
        </p:txBody>
      </p:sp>
      <p:sp>
        <p:nvSpPr>
          <p:cNvPr id="45" name="Text 39"/>
          <p:cNvSpPr txBox="1"/>
          <p:nvPr/>
        </p:nvSpPr>
        <p:spPr>
          <a:xfrm>
            <a:off x="533095" y="1047902"/>
            <a:ext cx="3196742" cy="152705"/>
          </a:xfrm>
          <a:prstGeom prst="rect">
            <a:avLst/>
          </a:prstGeom>
          <a:noFill/>
          <a:ln/>
        </p:spPr>
        <p:txBody>
          <a:bodyPr wrap="none" lIns="0" tIns="0" rIns="0" bIns="0" rtlCol="0" anchor="ctr"/>
          <a:lstStyle/>
          <a:p>
            <a:pPr algn="l" indent="0" marL="0">
              <a:buNone/>
            </a:pPr>
            <a:r>
              <a:rPr lang="en-US" sz="900" b="1" dirty="0">
                <a:solidFill>
                  <a:srgbClr val="0E1A2B"/>
                </a:solidFill>
                <a:latin typeface="Inter" pitchFamily="34" charset="0"/>
                <a:ea typeface="Inter" pitchFamily="34" charset="-122"/>
                <a:cs typeface="Inter" pitchFamily="34" charset="-120"/>
              </a:rPr>
              <a:t>Owner:</a:t>
            </a:r>
            <a:pPr algn="l" indent="0" marL="0">
              <a:buNone/>
            </a:pPr>
            <a:r>
              <a:rPr lang="en-US" sz="900" dirty="0">
                <a:solidFill>
                  <a:srgbClr val="5B6B82"/>
                </a:solidFill>
                <a:latin typeface="Inter" pitchFamily="34" charset="0"/>
                <a:ea typeface="Inter" pitchFamily="34" charset="-122"/>
                <a:cs typeface="Inter" pitchFamily="34" charset="-120"/>
              </a:rPr>
              <a:t> AI Governance Office</a:t>
            </a:r>
            <a:pPr algn="l" indent="0" marL="0">
              <a:buNone/>
            </a:pPr>
            <a:r>
              <a:rPr lang="en-US" sz="900" b="1" dirty="0">
                <a:solidFill>
                  <a:srgbClr val="0E1A2B"/>
                </a:solidFill>
                <a:latin typeface="Inter" pitchFamily="34" charset="0"/>
                <a:ea typeface="Inter" pitchFamily="34" charset="-122"/>
                <a:cs typeface="Inter" pitchFamily="34" charset="-120"/>
              </a:rPr>
              <a:t>Type:</a:t>
            </a:r>
            <a:pPr algn="l" indent="0" marL="0">
              <a:buNone/>
            </a:pPr>
            <a:r>
              <a:rPr lang="en-US" sz="900" dirty="0">
                <a:solidFill>
                  <a:srgbClr val="5B6B82"/>
                </a:solidFill>
                <a:latin typeface="Inter" pitchFamily="34" charset="0"/>
                <a:ea typeface="Inter" pitchFamily="34" charset="-122"/>
                <a:cs typeface="Inter" pitchFamily="34" charset="-120"/>
              </a:rPr>
              <a:t> Form pairing</a:t>
            </a:r>
            <a:endParaRPr lang="en-US" sz="900" dirty="0"/>
          </a:p>
        </p:txBody>
      </p:sp>
      <p:sp>
        <p:nvSpPr>
          <p:cNvPr id="46" name="Text 40"/>
          <p:cNvSpPr txBox="1"/>
          <p:nvPr/>
        </p:nvSpPr>
        <p:spPr>
          <a:xfrm>
            <a:off x="533095" y="9915754"/>
            <a:ext cx="2349094" cy="143561"/>
          </a:xfrm>
          <a:prstGeom prst="rect">
            <a:avLst/>
          </a:prstGeom>
          <a:noFill/>
          <a:ln/>
        </p:spPr>
        <p:txBody>
          <a:bodyPr wrap="none" lIns="0" tIns="0" rIns="0" bIns="0" rtlCol="0" anchor="ctr"/>
          <a:lstStyle/>
          <a:p>
            <a:pPr algn="l" indent="0" marL="0">
              <a:buNone/>
            </a:pPr>
            <a:r>
              <a:rPr lang="en-US" sz="825" spc="149" kern="0" dirty="0">
                <a:solidFill>
                  <a:srgbClr val="5B6B82"/>
                </a:solidFill>
                <a:latin typeface="Inter" pitchFamily="34" charset="0"/>
                <a:ea typeface="Inter" pitchFamily="34" charset="-122"/>
                <a:cs typeface="Inter" pitchFamily="34" charset="-120"/>
              </a:rPr>
              <a:t>60 of 61 - Worksheet 57 / 57</a:t>
            </a:r>
            <a:endParaRPr lang="en-US" sz="825"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E1A2B"/>
        </a:solidFill>
      </p:bgPr>
    </p:bg>
    <p:spTree>
      <p:nvGrpSpPr>
        <p:cNvPr id="1" name=""/>
        <p:cNvGrpSpPr/>
        <p:nvPr/>
      </p:nvGrpSpPr>
      <p:grpSpPr/>
      <p:sp>
        <p:nvSpPr>
          <p:cNvPr id="2" name="Shape 0"/>
          <p:cNvSpPr/>
          <p:nvPr/>
        </p:nvSpPr>
        <p:spPr>
          <a:xfrm rot="2700000">
            <a:off x="13906195" y="1333195"/>
            <a:ext cx="3619195" cy="3619195"/>
          </a:xfrm>
          <a:prstGeom prst="rect">
            <a:avLst/>
          </a:prstGeom>
          <a:noFill/>
          <a:ln w="12700">
            <a:solidFill>
              <a:srgbClr val="14A098"/>
            </a:solidFill>
            <a:prstDash val="solid"/>
          </a:ln>
        </p:spPr>
      </p:sp>
      <p:sp>
        <p:nvSpPr>
          <p:cNvPr id="3" name="Shape 1"/>
          <p:cNvSpPr/>
          <p:nvPr/>
        </p:nvSpPr>
        <p:spPr>
          <a:xfrm rot="2700000">
            <a:off x="14002207" y="2190902"/>
            <a:ext cx="2667305" cy="2667305"/>
          </a:xfrm>
          <a:prstGeom prst="rect">
            <a:avLst/>
          </a:prstGeom>
          <a:noFill/>
          <a:ln w="12700">
            <a:solidFill>
              <a:srgbClr val="14A098"/>
            </a:solidFill>
            <a:prstDash val="solid"/>
          </a:ln>
        </p:spPr>
      </p:sp>
      <p:pic>
        <p:nvPicPr>
          <p:cNvPr id="4" name="Image 0" descr="gen-dedup-e56ab09213332e1aef1695c628c67ea9.png">    </p:cNvPr>
          <p:cNvPicPr>
            <a:picLocks noChangeAspect="1"/>
          </p:cNvPicPr>
          <p:nvPr/>
        </p:nvPicPr>
        <p:blipFill>
          <a:blip r:embed="rId2"/>
          <a:srcRect l="0" r="0" t="-420" b="-420"/>
          <a:stretch/>
        </p:blipFill>
        <p:spPr>
          <a:xfrm>
            <a:off x="761695" y="1904695"/>
            <a:ext cx="761695" cy="38405"/>
          </a:xfrm>
          <a:prstGeom prst="rect">
            <a:avLst/>
          </a:prstGeom>
        </p:spPr>
      </p:pic>
      <p:sp>
        <p:nvSpPr>
          <p:cNvPr id="5" name="Shape 2"/>
          <p:cNvSpPr/>
          <p:nvPr/>
        </p:nvSpPr>
        <p:spPr>
          <a:xfrm>
            <a:off x="761695" y="8382305"/>
            <a:ext cx="28346" cy="847649"/>
          </a:xfrm>
          <a:prstGeom prst="rect">
            <a:avLst/>
          </a:prstGeom>
          <a:solidFill>
            <a:srgbClr val="14A098"/>
          </a:solidFill>
          <a:ln w="12700">
            <a:solidFill>
              <a:srgbClr val="14A098">
                <a:alpha val="0"/>
              </a:srgbClr>
            </a:solidFill>
            <a:prstDash val="solid"/>
          </a:ln>
        </p:spPr>
      </p:sp>
      <p:sp>
        <p:nvSpPr>
          <p:cNvPr id="6" name="Text 3"/>
          <p:cNvSpPr txBox="1"/>
          <p:nvPr/>
        </p:nvSpPr>
        <p:spPr>
          <a:xfrm>
            <a:off x="1000354" y="8553298"/>
            <a:ext cx="13840358"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Thank you</a:t>
            </a:r>
            <a:pPr algn="l" indent="0" marL="0">
              <a:buNone/>
            </a:pPr>
            <a:r>
              <a:rPr lang="en-US" sz="1050" dirty="0">
                <a:solidFill>
                  <a:srgbClr val="FFFFFF"/>
                </a:solidFill>
                <a:latin typeface="Inter" pitchFamily="34" charset="0"/>
                <a:ea typeface="Inter" pitchFamily="34" charset="-122"/>
                <a:cs typeface="Inter" pitchFamily="34" charset="-120"/>
              </a:rPr>
              <a:t> - happy to walk any sheet in detail. The deck is the candidate's seat-side companion.</a:t>
            </a:r>
            <a:endParaRPr lang="en-US" sz="1050" dirty="0"/>
          </a:p>
        </p:txBody>
      </p:sp>
      <p:sp>
        <p:nvSpPr>
          <p:cNvPr id="7" name="Text 4"/>
          <p:cNvSpPr txBox="1"/>
          <p:nvPr/>
        </p:nvSpPr>
        <p:spPr>
          <a:xfrm>
            <a:off x="1000354" y="8843162"/>
            <a:ext cx="14526158" cy="219456"/>
          </a:xfrm>
          <a:prstGeom prst="rect">
            <a:avLst/>
          </a:prstGeom>
          <a:noFill/>
          <a:ln/>
        </p:spPr>
        <p:txBody>
          <a:bodyPr wrap="none" lIns="0" tIns="0" rIns="0" bIns="0" rtlCol="0" anchor="ctr"/>
          <a:lstStyle/>
          <a:p>
            <a:pPr algn="l" indent="0" marL="0">
              <a:buNone/>
            </a:pPr>
            <a:r>
              <a:rPr lang="en-US" sz="1050" b="1" dirty="0">
                <a:solidFill>
                  <a:srgbClr val="14A098"/>
                </a:solidFill>
                <a:latin typeface="Inter" pitchFamily="34" charset="0"/>
                <a:ea typeface="Inter" pitchFamily="34" charset="-122"/>
                <a:cs typeface="Inter" pitchFamily="34" charset="-120"/>
              </a:rPr>
              <a:t>Q1 2026 baseline:</a:t>
            </a:r>
            <a:pPr algn="l" indent="0" marL="0">
              <a:buNone/>
            </a:pPr>
            <a:r>
              <a:rPr lang="en-US" sz="1050" dirty="0">
                <a:solidFill>
                  <a:srgbClr val="B8E0DE"/>
                </a:solidFill>
                <a:latin typeface="Inter" pitchFamily="34" charset="0"/>
                <a:ea typeface="Inter" pitchFamily="34" charset="-122"/>
                <a:cs typeface="Inter" pitchFamily="34" charset="-120"/>
              </a:rPr>
              <a:t> 22 use cases approved | 17 quantified risks | 12 incidents with PIR closure | 13 KRIs tracked | 15 KPIs monthly | 16 roadmap items | 18 BC services | 20 vendors reviewed | 12 audit and management review items</a:t>
            </a:r>
            <a:endParaRPr lang="en-US" sz="1050" dirty="0"/>
          </a:p>
        </p:txBody>
      </p:sp>
      <p:sp>
        <p:nvSpPr>
          <p:cNvPr id="8" name="Text 5"/>
          <p:cNvSpPr txBox="1"/>
          <p:nvPr/>
        </p:nvSpPr>
        <p:spPr>
          <a:xfrm>
            <a:off x="761695" y="2018995"/>
            <a:ext cx="866851" cy="181051"/>
          </a:xfrm>
          <a:prstGeom prst="rect">
            <a:avLst/>
          </a:prstGeom>
          <a:noFill/>
          <a:ln/>
        </p:spPr>
        <p:txBody>
          <a:bodyPr wrap="none" lIns="0" tIns="0" rIns="0" bIns="0" rtlCol="0" anchor="ctr"/>
          <a:lstStyle/>
          <a:p>
            <a:pPr algn="l" indent="0" marL="0">
              <a:buNone/>
            </a:pPr>
            <a:r>
              <a:rPr lang="en-US" sz="1050" b="1" spc="336" kern="0" dirty="0">
                <a:solidFill>
                  <a:srgbClr val="14A098"/>
                </a:solidFill>
                <a:latin typeface="Inter" pitchFamily="34" charset="0"/>
                <a:ea typeface="Inter" pitchFamily="34" charset="-122"/>
                <a:cs typeface="Inter" pitchFamily="34" charset="-120"/>
              </a:rPr>
              <a:t>Closing</a:t>
            </a:r>
            <a:endParaRPr lang="en-US" sz="1050" dirty="0"/>
          </a:p>
        </p:txBody>
      </p:sp>
      <p:sp>
        <p:nvSpPr>
          <p:cNvPr id="9" name="Text 6"/>
          <p:cNvSpPr txBox="1"/>
          <p:nvPr/>
        </p:nvSpPr>
        <p:spPr>
          <a:xfrm>
            <a:off x="761695" y="2381098"/>
            <a:ext cx="15240305" cy="800100"/>
          </a:xfrm>
          <a:prstGeom prst="rect">
            <a:avLst/>
          </a:prstGeom>
          <a:noFill/>
          <a:ln/>
        </p:spPr>
        <p:txBody>
          <a:bodyPr wrap="none" lIns="0" tIns="0" rIns="0" bIns="0" rtlCol="0" anchor="ctr"/>
          <a:lstStyle/>
          <a:p>
            <a:pPr algn="l" indent="0" marL="0">
              <a:buNone/>
            </a:pPr>
            <a:r>
              <a:rPr lang="en-US" sz="6000" b="1" spc="-120" kern="0" dirty="0">
                <a:solidFill>
                  <a:srgbClr val="14A098"/>
                </a:solidFill>
                <a:latin typeface="Inter" pitchFamily="34" charset="0"/>
                <a:ea typeface="Inter" pitchFamily="34" charset="-122"/>
                <a:cs typeface="Inter" pitchFamily="34" charset="-120"/>
              </a:rPr>
              <a:t>Closing the Interview</a:t>
            </a:r>
            <a:endParaRPr lang="en-US" sz="6000" dirty="0"/>
          </a:p>
        </p:txBody>
      </p:sp>
      <p:sp>
        <p:nvSpPr>
          <p:cNvPr id="10" name="Text 7"/>
          <p:cNvSpPr txBox="1"/>
          <p:nvPr/>
        </p:nvSpPr>
        <p:spPr>
          <a:xfrm>
            <a:off x="761695" y="5112410"/>
            <a:ext cx="16193110" cy="2232050"/>
          </a:xfrm>
          <a:prstGeom prst="rect">
            <a:avLst/>
          </a:prstGeom>
          <a:noFill/>
          <a:ln/>
        </p:spPr>
        <p:txBody>
          <a:bodyPr wrap="square" lIns="0" tIns="0" rIns="0" bIns="0" rtlCol="0" anchor="t"/>
          <a:lstStyle/>
          <a:p>
            <a:pPr algn="l" indent="0" marL="0">
              <a:lnSpc>
                <a:spcPts val="2475"/>
              </a:lnSpc>
              <a:buNone/>
            </a:pPr>
            <a:r>
              <a:rPr lang="en-US" sz="1650" dirty="0">
                <a:solidFill>
                  <a:srgbClr val="B8E0DE"/>
                </a:solidFill>
                <a:latin typeface="Inter" pitchFamily="34" charset="0"/>
                <a:ea typeface="Inter" pitchFamily="34" charset="-122"/>
                <a:cs typeface="Inter" pitchFamily="34" charset="-120"/>
              </a:rPr>
              <a:t>Strategic thinking. Governance maturity. Delivery discipline. Commercial credibility. The four lenses I bring to every interview panel discussion.</a:t>
            </a:r>
            <a:pPr algn="l" indent="0" marL="0">
              <a:lnSpc>
                <a:spcPts val="2475"/>
              </a:lnSpc>
              <a:buNone/>
            </a:pPr>
            <a:endParaRPr lang="en-US" sz="1650" dirty="0"/>
          </a:p>
          <a:p>
            <a:pPr algn="l" indent="0" marL="0">
              <a:lnSpc>
                <a:spcPts val="2475"/>
              </a:lnSpc>
              <a:buNone/>
            </a:pPr>
            <a:endParaRPr lang="en-US" sz="1650" dirty="0"/>
          </a:p>
          <a:p>
            <a:pPr algn="l" indent="0" marL="0">
              <a:lnSpc>
                <a:spcPts val="2475"/>
              </a:lnSpc>
              <a:buNone/>
            </a:pPr>
            <a:r>
              <a:rPr lang="en-US" sz="1650" dirty="0">
                <a:solidFill>
                  <a:srgbClr val="B8E0DE"/>
                </a:solidFill>
                <a:latin typeface="Inter" pitchFamily="34" charset="0"/>
                <a:ea typeface="Inter" pitchFamily="34" charset="-122"/>
                <a:cs typeface="Inter" pitchFamily="34" charset="-120"/>
              </a:rPr>
              <a:t>This deck carries 57 worksheets in workbook order, plus an architecture slide, an interview framing slide and a closing slide - 61 in total. Each worksheet slide gives purpose, security relevance, template mapping, sections, callouts, interview risks, talking points and a speaker-aid line.</a:t>
            </a:r>
            <a:pPr algn="l" indent="0" marL="0">
              <a:lnSpc>
                <a:spcPts val="2475"/>
              </a:lnSpc>
              <a:buNone/>
            </a:pPr>
            <a:endParaRPr lang="en-US" sz="1650" dirty="0"/>
          </a:p>
          <a:p>
            <a:pPr algn="l" indent="0" marL="0">
              <a:lnSpc>
                <a:spcPts val="2475"/>
              </a:lnSpc>
              <a:buNone/>
            </a:pPr>
            <a:endParaRPr lang="en-US" sz="1650" dirty="0"/>
          </a:p>
          <a:p>
            <a:pPr algn="l" indent="0" marL="0">
              <a:lnSpc>
                <a:spcPts val="2475"/>
              </a:lnSpc>
              <a:buNone/>
            </a:pPr>
            <a:r>
              <a:rPr lang="en-US" sz="1650" dirty="0">
                <a:solidFill>
                  <a:srgbClr val="B8E0DE"/>
                </a:solidFill>
                <a:latin typeface="Inter" pitchFamily="34" charset="0"/>
                <a:ea typeface="Inter" pitchFamily="34" charset="-122"/>
                <a:cs typeface="Inter" pitchFamily="34" charset="-120"/>
              </a:rPr>
              <a:t>The reduced template workbook stays with me as the reusable skeleton. The populated workbook is the live instance. They share ID prefixes, header schemas and reference data. The derived sheets - dashboard, executive report, TOM, metrics calc guide - are authored narrative, not 1:1 form copies. That is the discipline.</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2026-08-06T20:30:56Z</dcterms:created>
  <dcterms:modified xsi:type="dcterms:W3CDTF">2026-08-06T20:30:56Z</dcterms:modified>
</cp:coreProperties>
</file>